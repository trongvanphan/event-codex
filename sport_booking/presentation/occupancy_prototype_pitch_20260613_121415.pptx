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jp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opportunity is not to discount every court-hour. It is to help the right flexible player discover and book the right underused court-hour before its value expires. [Pause]</a:t>
            </a:r>
          </a:p>
          <a:p>
            <a:endParaRPr lang="zh-CN" dirty="0"/>
          </a:p>
          <a:p>
            <a:r>
              <a:rPr lang="zh-CN" dirty="0"/>
              <a:t>The product vision is simple: protect peak pricing while converting viable off-peak and last-minute inventory into profitable occupancy.</a:t>
            </a:r>
          </a:p>
          <a:p>
            <a:endParaRPr lang="zh-CN" dirty="0"/>
          </a:p>
          <a:p>
            <a:r>
              <a:rPr lang="zh-CN" dirty="0"/>
              <a:t>Key points: (1) Profitable occupancy is the business outcome (2) Flexible demand already exists (3) Peak pricing remains protected</a:t>
            </a:r>
          </a:p>
          <a:p>
            <a:r>
              <a:rPr lang="zh-CN" dirty="0"/>
              <a:t>Duration: 1 minute</a:t>
            </a:r>
          </a:p>
          <a:p>
            <a:r>
              <a:rPr lang="zh-CN" dirty="0"/>
              <a:t>Flex: Keep the opening to the first paragraph when time is tight.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The reason this opportunity remains open is that both sides are operating through fragmented workflows.</a:t>
            </a:r>
          </a:p>
          <a:p>
            <a:endParaRPr lang="zh-CN" dirty="0"/>
          </a:p>
          <a:p>
            <a:r>
              <a:rPr lang="zh-CN" dirty="0"/>
              <a:t>Players search across chats, calls, screenshots, and personal contacts, then coordinate the group manually. Venues manage schedules through calls and spreadsheets, and post last-minute openings into channels with limited reach. The strategic implication is that booking intent and available inventory coexist, but there is no live handoff between them. [Pause]</a:t>
            </a:r>
          </a:p>
          <a:p>
            <a:endParaRPr lang="zh-CN" dirty="0"/>
          </a:p>
          <a:p>
            <a:r>
              <a:rPr lang="zh-CN" dirty="0"/>
              <a:t>Key points: (1) Player discovery is slow (2) Venue reach is narrow (3) The shared decision layer is missing</a:t>
            </a:r>
          </a:p>
          <a:p>
            <a:r>
              <a:rPr lang="zh-CN" dirty="0"/>
              <a:t>Duration: 1.25 minutes</a:t>
            </a:r>
          </a:p>
          <a:p>
            <a:r>
              <a:rPr lang="zh-CN" dirty="0"/>
              <a:t>Flex: Skip the individual workflow steps and state the bottom-line implication.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Fragmentation matters because matching a booking requires more than showing a discount.</a:t>
            </a:r>
          </a:p>
          <a:p>
            <a:endParaRPr lang="zh-CN" dirty="0"/>
          </a:p>
          <a:p>
            <a:r>
              <a:rPr lang="zh-CN" dirty="0"/>
              <a:t>The player is balancing time, location, quality, budget, and whether the group is ready. The venue is balancing expiring inventory, incomplete schedule data, and the risk that a promotion replaces a full-price booking. The core insight is to orchestrate incremental demand across these variables, not simply lower the price. [Scan Room]</a:t>
            </a:r>
          </a:p>
          <a:p>
            <a:endParaRPr lang="zh-CN" dirty="0"/>
          </a:p>
          <a:p>
            <a:r>
              <a:rPr lang="zh-CN" dirty="0"/>
              <a:t>Key points: (1) Matching is multi-variable (2) Venue incentives need guardrails (3) Orchestration is the missing capability</a:t>
            </a:r>
          </a:p>
          <a:p>
            <a:r>
              <a:rPr lang="zh-CN" dirty="0"/>
              <a:t>Duration: 1.25 minutes</a:t>
            </a:r>
          </a:p>
          <a:p>
            <a:r>
              <a:rPr lang="zh-CN" dirty="0"/>
              <a:t>Flex: Focus only on the center conclusion and one example from each side.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The synthetic baseline shows where this coordination layer can create value.</a:t>
            </a:r>
          </a:p>
          <a:p>
            <a:endParaRPr lang="zh-CN" dirty="0"/>
          </a:p>
          <a:p>
            <a:r>
              <a:rPr lang="zh-CN" dirty="0"/>
              <a:t>[Data] Across four weeks, 4,480 court-hours are available and 2,320 are booked, producing 51.79% total occupancy. [Benchmark] Off-peak occupancy is only 40%, leaving 1,920 of 3,200 hours unused, while peak occupancy is modeled at 80%. More importantly, weekend demand after 16:00 is already at 100%, so discounting those periods would give away revenue rather than create demand. [Pause]</a:t>
            </a:r>
          </a:p>
          <a:p>
            <a:endParaRPr lang="zh-CN" dirty="0"/>
          </a:p>
          <a:p>
            <a:r>
              <a:rPr lang="zh-CN" dirty="0"/>
              <a:t>The business case must therefore be measured through incremental occupied hours, revenue per available court-hour, and contribution after incentives.</a:t>
            </a:r>
          </a:p>
          <a:p>
            <a:endParaRPr lang="zh-CN" dirty="0"/>
          </a:p>
          <a:p>
            <a:r>
              <a:rPr lang="zh-CN" dirty="0"/>
              <a:t>Key points: (1) Most unused capacity is off-peak (2) Full peak periods must be protected (3) Contribution matters more than discounted booking volume</a:t>
            </a:r>
          </a:p>
          <a:p>
            <a:r>
              <a:rPr lang="zh-CN" dirty="0"/>
              <a:t>Duration: 1.5 minutes</a:t>
            </a:r>
          </a:p>
          <a:p>
            <a:r>
              <a:rPr lang="zh-CN" dirty="0"/>
              <a:t>Flex: Present only the 51.79% occupancy and 1,920 unused off-peak hours.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Capturing that unused capacity depends on understanding what players will actually trade.</a:t>
            </a:r>
          </a:p>
          <a:p>
            <a:endParaRPr lang="zh-CN" dirty="0"/>
          </a:p>
          <a:p>
            <a:r>
              <a:rPr lang="zh-CN" dirty="0"/>
              <a:t>The primary user is the group organizer, who values certainty, proximity, and time saved. A one-hour shift or a few extra travel minutes may be acceptable when the saving is meaningful, the venue quality remains credible, and the final price is explicit. The recommendation must make that exchange easy to explain to the rest of the group.</a:t>
            </a:r>
          </a:p>
          <a:p>
            <a:endParaRPr lang="zh-CN" dirty="0"/>
          </a:p>
          <a:p>
            <a:r>
              <a:rPr lang="zh-CN" dirty="0"/>
              <a:t>Venue owners need the same clarity through price floors, eligible periods, inventory caps, and campaign limits.</a:t>
            </a:r>
          </a:p>
          <a:p>
            <a:endParaRPr lang="zh-CN" dirty="0"/>
          </a:p>
          <a:p>
            <a:r>
              <a:rPr lang="zh-CN" dirty="0"/>
              <a:t>Key points: (1) Convenience often leads the decision (2) Savings can unlock schedule flexibility (3) Both players and owners need transparent controls</a:t>
            </a:r>
          </a:p>
          <a:p>
            <a:r>
              <a:rPr lang="zh-CN" dirty="0"/>
              <a:t>Duration: 1.25 minutes</a:t>
            </a:r>
          </a:p>
          <a:p>
            <a:r>
              <a:rPr lang="zh-CN" dirty="0"/>
              <a:t>Flex: Use the illustrative 18:00 versus 17:00 trade-off as the sole explanation.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The prototype isolates that behavioral question in a small, testable experience.</a:t>
            </a:r>
          </a:p>
          <a:p>
            <a:endParaRPr lang="zh-CN" dirty="0"/>
          </a:p>
          <a:p>
            <a:r>
              <a:rPr lang="zh-CN" dirty="0"/>
              <a:t>The guest sets a preferred time and flexibility, compares ranked options, and opens a clear explanation of why an alternative appeared. The test is intentionally mid-fidelity and hardcoded. Payment, authentication, invitations, owner analytics, and production machine learning are excluded because they do not answer the riskiest question: will transparent alternatives shift demand?</a:t>
            </a:r>
          </a:p>
          <a:p>
            <a:endParaRPr lang="zh-CN" dirty="0"/>
          </a:p>
          <a:p>
            <a:r>
              <a:rPr lang="zh-CN" dirty="0"/>
              <a:t>Key points: (1) Search captures real flexibility (2) Ranking makes alternatives comparable (3) Explanation tests trust and comprehension</a:t>
            </a:r>
          </a:p>
          <a:p>
            <a:r>
              <a:rPr lang="zh-CN" dirty="0"/>
              <a:t>Duration: 1.5 minutes</a:t>
            </a:r>
          </a:p>
          <a:p>
            <a:r>
              <a:rPr lang="zh-CN" dirty="0"/>
              <a:t>Flex: Walk through only the best-value result and the explanation screen.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The demo turns that hypothesis into a seven-step observable decision.</a:t>
            </a:r>
          </a:p>
          <a:p>
            <a:endParaRPr lang="zh-CN" dirty="0"/>
          </a:p>
          <a:p>
            <a:r>
              <a:rPr lang="zh-CN" dirty="0"/>
              <a:t>The player begins with an 18:00 preference, adds flexibility, reviews options, compares the trade-off, and sees why the 17:00 slot is recommended. The message is concrete: save 40,000 VND, start one hour earlier, and travel only eight minutes. We then capture the chosen option and the reason behind it.</a:t>
            </a:r>
          </a:p>
          <a:p>
            <a:endParaRPr lang="zh-CN" dirty="0"/>
          </a:p>
          <a:p>
            <a:r>
              <a:rPr lang="zh-CN" dirty="0"/>
              <a:t>The important output is not a click. It is whether the player understands the recommendation, trusts it, and accepts the occupancy-creating alternative. [Pause]</a:t>
            </a:r>
          </a:p>
          <a:p>
            <a:endParaRPr lang="zh-CN" dirty="0"/>
          </a:p>
          <a:p>
            <a:r>
              <a:rPr lang="zh-CN" dirty="0"/>
              <a:t>Key points: (1) The original preference remains visible (2) The alternative has an explicit rationale (3) The test captures decision quality</a:t>
            </a:r>
          </a:p>
          <a:p>
            <a:r>
              <a:rPr lang="zh-CN" dirty="0"/>
              <a:t>Duration: 1.5 minutes</a:t>
            </a:r>
          </a:p>
          <a:p>
            <a:r>
              <a:rPr lang="zh-CN" dirty="0"/>
              <a:t>Flex: Summarize steps one through four and spend time on understanding, choosing, and explaining.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If the prototype clears the behavioral bar, the next investment can remain controlled.</a:t>
            </a:r>
          </a:p>
          <a:p>
            <a:endParaRPr lang="zh-CN" dirty="0"/>
          </a:p>
          <a:p>
            <a:r>
              <a:rPr lang="zh-CN" dirty="0"/>
              <a:t>Success means at least 80% complete without help, median selection takes under 60 seconds, and at least 40% consider an alternative time, without repeated trust concerns. We test with 13 players and five venue owners or managers, then move to a pilot with five to ten venues in one dense neighborhood.</a:t>
            </a:r>
          </a:p>
          <a:p>
            <a:endParaRPr lang="zh-CN" dirty="0"/>
          </a:p>
          <a:p>
            <a:r>
              <a:rPr lang="zh-CN" dirty="0"/>
              <a:t>The decision requested today is to fund the clickable prototype and recruit participants. That lets us prove whether transparent, relevant alternatives convert player flexibility into profitable occupancy before building the full platform. [Scan Room]</a:t>
            </a:r>
          </a:p>
          <a:p>
            <a:endParaRPr lang="zh-CN" dirty="0"/>
          </a:p>
          <a:p>
            <a:r>
              <a:rPr lang="zh-CN" dirty="0"/>
              <a:t>Key points: (1) Clear behavioral success criteria (2) Small controlled pilot before scale (3) Investment follows validated incremental value</a:t>
            </a:r>
          </a:p>
          <a:p>
            <a:r>
              <a:rPr lang="zh-CN" dirty="0"/>
              <a:t>Duration: 1.5 minutes</a:t>
            </a:r>
          </a:p>
          <a:p>
            <a:r>
              <a:rPr lang="zh-CN" dirty="0"/>
              <a:t>Flex: Close directly with the decision request after stating the three quantitative criteria.</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12304A"/>
          </a:solidFill>
          <a:ln>
            <a:noFill/>
          </a:ln>
        </p:spPr>
      </p:sp>
      <p:sp>
        <p:nvSpPr>
          <p:cNvPr id="3" name="Rectangle 3"/>
          <p:cNvSpPr/>
          <p:nvPr/>
        </p:nvSpPr>
        <p:spPr>
          <a:xfrm>
            <a:off x="0" y="0"/>
            <a:ext cx="114300" cy="6858000"/>
          </a:xfrm>
          <a:prstGeom prst="rect">
            <a:avLst/>
          </a:prstGeom>
          <a:solidFill>
            <a:srgbClr val="B7E43C"/>
          </a:solidFill>
          <a:ln>
            <a:noFill/>
          </a:ln>
        </p:spPr>
      </p:sp>
      <p:grpSp>
        <p:nvGrpSpPr>
          <p:cNvPr id="8" name="Group 8"/>
          <p:cNvGrpSpPr/>
          <p:nvPr/>
        </p:nvGrpSpPr>
        <p:grpSpPr>
          <a:xfrm>
            <a:off x="7162800" y="342900"/>
            <a:ext cx="4686300" cy="6172200"/>
            <a:chOff x="7162800" y="342900"/>
            <a:chExt cx="4686300" cy="6172200"/>
          </a:xfrm>
        </p:grpSpPr>
        <p:sp>
          <p:nvSpPr>
            <p:cNvPr id="4" name="Rectangle 4"/>
            <p:cNvSpPr/>
            <p:nvPr/>
          </p:nvSpPr>
          <p:spPr>
            <a:xfrm>
              <a:off x="7162800" y="342900"/>
              <a:ext cx="4686300" cy="6172200"/>
            </a:xfrm>
            <a:prstGeom prst="rect">
              <a:avLst/>
            </a:prstGeom>
            <a:noFill/>
            <a:ln w="19050">
              <a:solidFill>
                <a:srgbClr val="FFFFFF">
                  <a:alpha val="8000"/>
                </a:srgbClr>
              </a:solidFill>
            </a:ln>
          </p:spPr>
        </p:sp>
        <p:sp>
          <p:nvSpPr>
            <p:cNvPr id="5" name="Line 5"/>
            <p:cNvSpPr/>
            <p:nvPr/>
          </p:nvSpPr>
          <p:spPr>
            <a:xfrm>
              <a:off x="9505950" y="342900"/>
              <a:ext cx="9525" cy="6172200"/>
            </a:xfrm>
            <a:custGeom>
              <a:avLst/>
              <a:gdLst/>
              <a:ahLst/>
              <a:cxnLst/>
              <a:rect l="l" t="t" r="r" b="b"/>
              <a:pathLst>
                <a:path w="9525" h="6172200">
                  <a:moveTo>
                    <a:pt x="0" y="0"/>
                  </a:moveTo>
                  <a:lnTo>
                    <a:pt x="0" y="6172200"/>
                  </a:lnTo>
                </a:path>
              </a:pathLst>
            </a:custGeom>
            <a:noFill/>
            <a:ln w="19050">
              <a:solidFill>
                <a:srgbClr val="FFFFFF">
                  <a:alpha val="8000"/>
                </a:srgbClr>
              </a:solidFill>
            </a:ln>
          </p:spPr>
        </p:sp>
        <p:sp>
          <p:nvSpPr>
            <p:cNvPr id="6" name="Line 6"/>
            <p:cNvSpPr/>
            <p:nvPr/>
          </p:nvSpPr>
          <p:spPr>
            <a:xfrm>
              <a:off x="7162800" y="3429000"/>
              <a:ext cx="4686300" cy="9525"/>
            </a:xfrm>
            <a:custGeom>
              <a:avLst/>
              <a:gdLst/>
              <a:ahLst/>
              <a:cxnLst/>
              <a:rect l="l" t="t" r="r" b="b"/>
              <a:pathLst>
                <a:path w="4686300" h="9525">
                  <a:moveTo>
                    <a:pt x="0" y="0"/>
                  </a:moveTo>
                  <a:lnTo>
                    <a:pt x="4686300" y="0"/>
                  </a:lnTo>
                </a:path>
              </a:pathLst>
            </a:custGeom>
            <a:noFill/>
            <a:ln w="19050">
              <a:solidFill>
                <a:srgbClr val="FFFFFF">
                  <a:alpha val="8000"/>
                </a:srgbClr>
              </a:solidFill>
            </a:ln>
          </p:spPr>
        </p:sp>
        <p:sp>
          <p:nvSpPr>
            <p:cNvPr id="7" name="Rectangle 7"/>
            <p:cNvSpPr/>
            <p:nvPr/>
          </p:nvSpPr>
          <p:spPr>
            <a:xfrm>
              <a:off x="8172450" y="1371600"/>
              <a:ext cx="2667000" cy="4114800"/>
            </a:xfrm>
            <a:prstGeom prst="rect">
              <a:avLst/>
            </a:prstGeom>
            <a:noFill/>
            <a:ln w="19050">
              <a:solidFill>
                <a:srgbClr val="FFFFFF">
                  <a:alpha val="8000"/>
                </a:srgbClr>
              </a:solidFill>
            </a:ln>
          </p:spPr>
        </p:sp>
      </p:grpSp>
      <p:sp>
        <p:nvSpPr>
          <p:cNvPr id="9" name="TextBox 9"/>
          <p:cNvSpPr txBox="1"/>
          <p:nvPr/>
        </p:nvSpPr>
        <p:spPr>
          <a:xfrm>
            <a:off x="596265" y="496252"/>
            <a:ext cx="2087728" cy="213360"/>
          </a:xfrm>
          <a:prstGeom prst="rect">
            <a:avLst/>
          </a:prstGeom>
          <a:noFill/>
          <a:ln>
            <a:noFill/>
          </a:ln>
        </p:spPr>
        <p:txBody>
          <a:bodyPr wrap="none" lIns="0" tIns="0" rIns="0" bIns="0" anchor="t" anchorCtr="0">
            <a:spAutoFit/>
          </a:bodyPr>
          <a:lstStyle/>
          <a:p>
            <a:pPr algn="l"/>
            <a:r>
              <a:rPr lang="zh-CN" sz="1050" b="1" dirty="0">
                <a:solidFill>
                  <a:srgbClr val="B7E43C"/>
                </a:solidFill>
                <a:latin typeface="Arial"/>
                <a:ea typeface="Microsoft YaHei"/>
                <a:cs typeface="Arial"/>
              </a:rPr>
              <a:t>ZSPORT • PROTOTYPE PITCH</a:t>
            </a:r>
          </a:p>
        </p:txBody>
      </p:sp>
      <p:grpSp>
        <p:nvGrpSpPr>
          <p:cNvPr id="14" name="Group 14"/>
          <p:cNvGrpSpPr/>
          <p:nvPr/>
        </p:nvGrpSpPr>
        <p:grpSpPr>
          <a:xfrm>
            <a:off x="550545" y="1536382"/>
            <a:ext cx="6134290" cy="2635568"/>
            <a:chOff x="550545" y="1536382"/>
            <a:chExt cx="6134290" cy="2635568"/>
          </a:xfrm>
        </p:grpSpPr>
        <p:sp>
          <p:nvSpPr>
            <p:cNvPr id="10" name="TextBox 10"/>
            <p:cNvSpPr txBox="1"/>
            <p:nvPr/>
          </p:nvSpPr>
          <p:spPr>
            <a:xfrm>
              <a:off x="550545" y="1536382"/>
              <a:ext cx="5537587" cy="944880"/>
            </a:xfrm>
            <a:prstGeom prst="rect">
              <a:avLst/>
            </a:prstGeom>
            <a:noFill/>
            <a:ln>
              <a:noFill/>
            </a:ln>
          </p:spPr>
          <p:txBody>
            <a:bodyPr wrap="none" lIns="0" tIns="0" rIns="0" bIns="0" anchor="t" anchorCtr="0">
              <a:spAutoFit/>
            </a:bodyPr>
            <a:lstStyle/>
            <a:p>
              <a:pPr algn="l"/>
              <a:r>
                <a:rPr lang="zh-CN" sz="4650" b="1" dirty="0">
                  <a:solidFill>
                    <a:srgbClr val="FFFFFF"/>
                  </a:solidFill>
                  <a:latin typeface="Arial"/>
                  <a:ea typeface="Microsoft YaHei"/>
                  <a:cs typeface="Arial"/>
                </a:rPr>
                <a:t>Fill Every Viable</a:t>
              </a:r>
            </a:p>
          </p:txBody>
        </p:sp>
        <p:sp>
          <p:nvSpPr>
            <p:cNvPr id="11" name="TextBox 11"/>
            <p:cNvSpPr txBox="1"/>
            <p:nvPr/>
          </p:nvSpPr>
          <p:spPr>
            <a:xfrm>
              <a:off x="550545" y="2203132"/>
              <a:ext cx="4040100" cy="944880"/>
            </a:xfrm>
            <a:prstGeom prst="rect">
              <a:avLst/>
            </a:prstGeom>
            <a:noFill/>
            <a:ln>
              <a:noFill/>
            </a:ln>
          </p:spPr>
          <p:txBody>
            <a:bodyPr wrap="none" lIns="0" tIns="0" rIns="0" bIns="0" anchor="t" anchorCtr="0">
              <a:spAutoFit/>
            </a:bodyPr>
            <a:lstStyle/>
            <a:p>
              <a:pPr algn="l"/>
              <a:r>
                <a:rPr lang="zh-CN" sz="4650" b="1" dirty="0">
                  <a:solidFill>
                    <a:srgbClr val="FFFFFF"/>
                  </a:solidFill>
                  <a:latin typeface="Arial"/>
                  <a:ea typeface="Microsoft YaHei"/>
                  <a:cs typeface="Arial"/>
                </a:rPr>
                <a:t>Court-Hour</a:t>
              </a:r>
            </a:p>
          </p:txBody>
        </p:sp>
        <p:sp>
          <p:nvSpPr>
            <p:cNvPr id="12" name="TextBox 12"/>
            <p:cNvSpPr txBox="1"/>
            <p:nvPr/>
          </p:nvSpPr>
          <p:spPr>
            <a:xfrm>
              <a:off x="605790" y="3501390"/>
              <a:ext cx="6079045" cy="365760"/>
            </a:xfrm>
            <a:prstGeom prst="rect">
              <a:avLst/>
            </a:prstGeom>
            <a:noFill/>
            <a:ln>
              <a:noFill/>
            </a:ln>
          </p:spPr>
          <p:txBody>
            <a:bodyPr wrap="none" lIns="0" tIns="0" rIns="0" bIns="0" anchor="t" anchorCtr="0">
              <a:spAutoFit/>
            </a:bodyPr>
            <a:lstStyle/>
            <a:p>
              <a:pPr algn="l"/>
              <a:r>
                <a:rPr lang="zh-CN" sz="1800" dirty="0">
                  <a:solidFill>
                    <a:srgbClr val="DCE6E1"/>
                  </a:solidFill>
                  <a:latin typeface="Calibri"/>
                  <a:ea typeface="Microsoft YaHei"/>
                  <a:cs typeface="Calibri"/>
                </a:rPr>
                <a:t>Match flexible players with off-peak inventory</a:t>
              </a:r>
            </a:p>
          </p:txBody>
        </p:sp>
        <p:sp>
          <p:nvSpPr>
            <p:cNvPr id="13" name="TextBox 13"/>
            <p:cNvSpPr txBox="1"/>
            <p:nvPr/>
          </p:nvSpPr>
          <p:spPr>
            <a:xfrm>
              <a:off x="605790" y="3806190"/>
              <a:ext cx="3266122" cy="365760"/>
            </a:xfrm>
            <a:prstGeom prst="rect">
              <a:avLst/>
            </a:prstGeom>
            <a:noFill/>
            <a:ln>
              <a:noFill/>
            </a:ln>
          </p:spPr>
          <p:txBody>
            <a:bodyPr wrap="none" lIns="0" tIns="0" rIns="0" bIns="0" anchor="t" anchorCtr="0">
              <a:spAutoFit/>
            </a:bodyPr>
            <a:lstStyle/>
            <a:p>
              <a:pPr algn="l"/>
              <a:r>
                <a:rPr lang="zh-CN" sz="1800" dirty="0">
                  <a:solidFill>
                    <a:srgbClr val="DCE6E1"/>
                  </a:solidFill>
                  <a:latin typeface="Calibri"/>
                  <a:ea typeface="Microsoft YaHei"/>
                  <a:cs typeface="Calibri"/>
                </a:rPr>
                <a:t>before its value expires.</a:t>
              </a:r>
            </a:p>
          </p:txBody>
        </p:sp>
      </p:grpSp>
      <p:grpSp>
        <p:nvGrpSpPr>
          <p:cNvPr id="22" name="Group 22"/>
          <p:cNvGrpSpPr/>
          <p:nvPr/>
        </p:nvGrpSpPr>
        <p:grpSpPr>
          <a:xfrm>
            <a:off x="609600" y="4686300"/>
            <a:ext cx="5826300" cy="990600"/>
            <a:chOff x="609600" y="4686300"/>
            <a:chExt cx="5826300" cy="990600"/>
          </a:xfrm>
        </p:grpSpPr>
        <p:sp>
          <p:nvSpPr>
            <p:cNvPr id="15" name="Freeform 15"/>
            <p:cNvSpPr/>
            <p:nvPr/>
          </p:nvSpPr>
          <p:spPr>
            <a:xfrm>
              <a:off x="609600" y="4686300"/>
              <a:ext cx="5467350" cy="990600"/>
            </a:xfrm>
            <a:custGeom>
              <a:avLst/>
              <a:gdLst/>
              <a:ahLst/>
              <a:cxnLst/>
              <a:rect l="l" t="t" r="r" b="b"/>
              <a:pathLst>
                <a:path w="5467350" h="990600">
                  <a:moveTo>
                    <a:pt x="114300" y="0"/>
                  </a:moveTo>
                  <a:lnTo>
                    <a:pt x="5353050" y="0"/>
                  </a:lnTo>
                  <a:cubicBezTo>
                    <a:pt x="5416176" y="0"/>
                    <a:pt x="5467350" y="51174"/>
                    <a:pt x="5467350" y="114300"/>
                  </a:cubicBezTo>
                  <a:lnTo>
                    <a:pt x="5467350" y="876300"/>
                  </a:lnTo>
                  <a:cubicBezTo>
                    <a:pt x="5467350" y="939426"/>
                    <a:pt x="5416176" y="990600"/>
                    <a:pt x="5353050" y="990600"/>
                  </a:cubicBezTo>
                  <a:lnTo>
                    <a:pt x="114300" y="990600"/>
                  </a:lnTo>
                  <a:cubicBezTo>
                    <a:pt x="51174" y="990600"/>
                    <a:pt x="0" y="939426"/>
                    <a:pt x="0" y="876300"/>
                  </a:cubicBezTo>
                  <a:lnTo>
                    <a:pt x="0" y="114300"/>
                  </a:lnTo>
                  <a:cubicBezTo>
                    <a:pt x="0" y="51174"/>
                    <a:pt x="51174" y="0"/>
                    <a:pt x="114300" y="0"/>
                  </a:cubicBezTo>
                  <a:close/>
                </a:path>
              </a:pathLst>
            </a:custGeom>
            <a:solidFill>
              <a:srgbClr val="FFFFFF">
                <a:alpha val="8000"/>
              </a:srgbClr>
            </a:solidFill>
            <a:ln w="9525">
              <a:solidFill>
                <a:srgbClr val="FFFFFF">
                  <a:alpha val="14000"/>
                </a:srgbClr>
              </a:solidFill>
            </a:ln>
          </p:spPr>
        </p:sp>
        <p:grpSp>
          <p:nvGrpSpPr>
            <p:cNvPr id="19" name="Group 19"/>
            <p:cNvGrpSpPr/>
            <p:nvPr/>
          </p:nvGrpSpPr>
          <p:grpSpPr>
            <a:xfrm>
              <a:off x="838200" y="4953000"/>
              <a:ext cx="419100" cy="419100"/>
              <a:chOff x="838200" y="4953000"/>
              <a:chExt cx="419100" cy="419100"/>
            </a:xfrm>
          </p:grpSpPr>
          <p:sp>
            <p:nvSpPr>
              <p:cNvPr id="16" name="Freeform 16"/>
              <p:cNvSpPr/>
              <p:nvPr/>
            </p:nvSpPr>
            <p:spPr>
              <a:xfrm>
                <a:off x="838200" y="4953000"/>
                <a:ext cx="419100" cy="419100"/>
              </a:xfrm>
              <a:custGeom>
                <a:avLst/>
                <a:gdLst/>
                <a:ahLst/>
                <a:cxnLst/>
                <a:rect l="l" t="t" r="r" b="b"/>
                <a:pathLst>
                  <a:path w="419100" h="419100">
                    <a:moveTo>
                      <a:pt x="213983" y="52449"/>
                    </a:moveTo>
                    <a:cubicBezTo>
                      <a:pt x="212510" y="52408"/>
                      <a:pt x="211033" y="52388"/>
                      <a:pt x="209550" y="52388"/>
                    </a:cubicBezTo>
                    <a:cubicBezTo>
                      <a:pt x="122752" y="52388"/>
                      <a:pt x="52388" y="122752"/>
                      <a:pt x="52388" y="209550"/>
                    </a:cubicBezTo>
                    <a:cubicBezTo>
                      <a:pt x="52388" y="296348"/>
                      <a:pt x="122752" y="366712"/>
                      <a:pt x="209550" y="366712"/>
                    </a:cubicBezTo>
                    <a:cubicBezTo>
                      <a:pt x="296348" y="366712"/>
                      <a:pt x="366712" y="296348"/>
                      <a:pt x="366712" y="209550"/>
                    </a:cubicBezTo>
                    <a:cubicBezTo>
                      <a:pt x="366712" y="208067"/>
                      <a:pt x="366692" y="206590"/>
                      <a:pt x="366652" y="205117"/>
                    </a:cubicBezTo>
                    <a:lnTo>
                      <a:pt x="412924" y="158845"/>
                    </a:lnTo>
                    <a:cubicBezTo>
                      <a:pt x="416957" y="175081"/>
                      <a:pt x="419100" y="192065"/>
                      <a:pt x="419100" y="209550"/>
                    </a:cubicBezTo>
                    <a:cubicBezTo>
                      <a:pt x="419100" y="325282"/>
                      <a:pt x="325282" y="419100"/>
                      <a:pt x="209550" y="419100"/>
                    </a:cubicBezTo>
                    <a:cubicBezTo>
                      <a:pt x="93819" y="419100"/>
                      <a:pt x="0" y="325282"/>
                      <a:pt x="0" y="209550"/>
                    </a:cubicBezTo>
                    <a:cubicBezTo>
                      <a:pt x="0" y="93819"/>
                      <a:pt x="93819" y="0"/>
                      <a:pt x="209550" y="0"/>
                    </a:cubicBezTo>
                    <a:cubicBezTo>
                      <a:pt x="227035" y="0"/>
                      <a:pt x="244019" y="2141"/>
                      <a:pt x="260255" y="6176"/>
                    </a:cubicBezTo>
                    <a:lnTo>
                      <a:pt x="213983" y="52449"/>
                    </a:lnTo>
                    <a:close/>
                  </a:path>
                </a:pathLst>
              </a:custGeom>
              <a:solidFill>
                <a:srgbClr val="B7E43C"/>
              </a:solidFill>
              <a:ln>
                <a:noFill/>
              </a:ln>
            </p:spPr>
          </p:sp>
          <p:sp>
            <p:nvSpPr>
              <p:cNvPr id="17" name="Freeform 17"/>
              <p:cNvSpPr/>
              <p:nvPr/>
            </p:nvSpPr>
            <p:spPr>
              <a:xfrm>
                <a:off x="942975" y="5061075"/>
                <a:ext cx="206250" cy="206250"/>
              </a:xfrm>
              <a:custGeom>
                <a:avLst/>
                <a:gdLst/>
                <a:ahLst/>
                <a:cxnLst/>
                <a:rect l="l" t="t" r="r" b="b"/>
                <a:pathLst>
                  <a:path w="206250" h="206250">
                    <a:moveTo>
                      <a:pt x="0" y="101474"/>
                    </a:moveTo>
                    <a:cubicBezTo>
                      <a:pt x="0" y="52653"/>
                      <a:pt x="33391" y="11631"/>
                      <a:pt x="78581" y="0"/>
                    </a:cubicBezTo>
                    <a:lnTo>
                      <a:pt x="78581" y="56095"/>
                    </a:lnTo>
                    <a:cubicBezTo>
                      <a:pt x="62923" y="65153"/>
                      <a:pt x="52388" y="82083"/>
                      <a:pt x="52388" y="101474"/>
                    </a:cubicBezTo>
                    <a:cubicBezTo>
                      <a:pt x="52388" y="130407"/>
                      <a:pt x="75842" y="153862"/>
                      <a:pt x="104775" y="153862"/>
                    </a:cubicBezTo>
                    <a:cubicBezTo>
                      <a:pt x="124166" y="153862"/>
                      <a:pt x="141096" y="143326"/>
                      <a:pt x="150154" y="127668"/>
                    </a:cubicBezTo>
                    <a:lnTo>
                      <a:pt x="206250" y="127668"/>
                    </a:lnTo>
                    <a:cubicBezTo>
                      <a:pt x="194617" y="172858"/>
                      <a:pt x="153596" y="206250"/>
                      <a:pt x="104775" y="206250"/>
                    </a:cubicBezTo>
                    <a:cubicBezTo>
                      <a:pt x="46909" y="206250"/>
                      <a:pt x="0" y="159340"/>
                      <a:pt x="0" y="101474"/>
                    </a:cubicBezTo>
                    <a:close/>
                  </a:path>
                </a:pathLst>
              </a:custGeom>
              <a:solidFill>
                <a:srgbClr val="B7E43C"/>
              </a:solidFill>
              <a:ln>
                <a:noFill/>
              </a:ln>
            </p:spPr>
          </p:sp>
          <p:sp>
            <p:nvSpPr>
              <p:cNvPr id="18" name="Freeform 18"/>
              <p:cNvSpPr/>
              <p:nvPr/>
            </p:nvSpPr>
            <p:spPr>
              <a:xfrm>
                <a:off x="1042325" y="4953000"/>
                <a:ext cx="214975" cy="214975"/>
              </a:xfrm>
              <a:custGeom>
                <a:avLst/>
                <a:gdLst/>
                <a:ahLst/>
                <a:cxnLst/>
                <a:rect l="l" t="t" r="r" b="b"/>
                <a:pathLst>
                  <a:path w="214975" h="214975">
                    <a:moveTo>
                      <a:pt x="162587" y="52388"/>
                    </a:moveTo>
                    <a:lnTo>
                      <a:pt x="136394" y="0"/>
                    </a:lnTo>
                    <a:lnTo>
                      <a:pt x="57812" y="78581"/>
                    </a:lnTo>
                    <a:lnTo>
                      <a:pt x="57812" y="120119"/>
                    </a:lnTo>
                    <a:lnTo>
                      <a:pt x="0" y="177931"/>
                    </a:lnTo>
                    <a:lnTo>
                      <a:pt x="37044" y="214975"/>
                    </a:lnTo>
                    <a:lnTo>
                      <a:pt x="94856" y="157162"/>
                    </a:lnTo>
                    <a:lnTo>
                      <a:pt x="136394" y="157162"/>
                    </a:lnTo>
                    <a:lnTo>
                      <a:pt x="214975" y="78581"/>
                    </a:lnTo>
                    <a:lnTo>
                      <a:pt x="162587" y="52388"/>
                    </a:lnTo>
                    <a:close/>
                  </a:path>
                </a:pathLst>
              </a:custGeom>
              <a:solidFill>
                <a:srgbClr val="B7E43C"/>
              </a:solidFill>
              <a:ln>
                <a:noFill/>
              </a:ln>
            </p:spPr>
          </p:sp>
        </p:grpSp>
        <p:sp>
          <p:nvSpPr>
            <p:cNvPr id="20" name="TextBox 20"/>
            <p:cNvSpPr txBox="1"/>
            <p:nvPr/>
          </p:nvSpPr>
          <p:spPr>
            <a:xfrm>
              <a:off x="1430655" y="4978718"/>
              <a:ext cx="4060943"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The opportunity is profitable occupancy</a:t>
              </a:r>
            </a:p>
          </p:txBody>
        </p:sp>
        <p:sp>
          <p:nvSpPr>
            <p:cNvPr id="21" name="TextBox 21"/>
            <p:cNvSpPr txBox="1"/>
            <p:nvPr/>
          </p:nvSpPr>
          <p:spPr>
            <a:xfrm>
              <a:off x="1431608" y="5272564"/>
              <a:ext cx="5004292" cy="259080"/>
            </a:xfrm>
            <a:prstGeom prst="rect">
              <a:avLst/>
            </a:prstGeom>
            <a:noFill/>
            <a:ln>
              <a:noFill/>
            </a:ln>
          </p:spPr>
          <p:txBody>
            <a:bodyPr wrap="none" lIns="0" tIns="0" rIns="0" bIns="0" anchor="t" anchorCtr="0">
              <a:spAutoFit/>
            </a:bodyPr>
            <a:lstStyle/>
            <a:p>
              <a:pPr algn="l"/>
              <a:r>
                <a:rPr lang="zh-CN" sz="1275" dirty="0">
                  <a:solidFill>
                    <a:srgbClr val="C8D5D0"/>
                  </a:solidFill>
                  <a:latin typeface="Calibri"/>
                  <a:ea typeface="Microsoft YaHei"/>
                  <a:cs typeface="Calibri"/>
                </a:rPr>
                <a:t>Redirect demand without weakening peak-hour pricing.</a:t>
              </a:r>
            </a:p>
          </p:txBody>
        </p:sp>
      </p:grpSp>
      <p:grpSp>
        <p:nvGrpSpPr>
          <p:cNvPr id="64" name="Group 64"/>
          <p:cNvGrpSpPr/>
          <p:nvPr/>
        </p:nvGrpSpPr>
        <p:grpSpPr>
          <a:xfrm>
            <a:off x="6858000" y="990600"/>
            <a:ext cx="4686300" cy="4876800"/>
            <a:chOff x="6858000" y="990600"/>
            <a:chExt cx="4686300" cy="4876800"/>
          </a:xfrm>
          <a:effectLst>
            <a:outerShdw blurRad="228600" dist="66675" dir="10799508" algn="tl" rotWithShape="0">
              <a:srgbClr val="000000">
                <a:alpha val="22000"/>
              </a:srgbClr>
            </a:outerShdw>
          </a:effectLst>
        </p:grpSpPr>
        <p:sp>
          <p:nvSpPr>
            <p:cNvPr id="23" name="Freeform 23"/>
            <p:cNvSpPr/>
            <p:nvPr/>
          </p:nvSpPr>
          <p:spPr>
            <a:xfrm>
              <a:off x="6858000" y="990600"/>
              <a:ext cx="4686300" cy="4876800"/>
            </a:xfrm>
            <a:custGeom>
              <a:avLst/>
              <a:gdLst/>
              <a:ahLst/>
              <a:cxnLst/>
              <a:rect l="l" t="t" r="r" b="b"/>
              <a:pathLst>
                <a:path w="4686300" h="4876800">
                  <a:moveTo>
                    <a:pt x="171450" y="0"/>
                  </a:moveTo>
                  <a:lnTo>
                    <a:pt x="4514850" y="0"/>
                  </a:lnTo>
                  <a:cubicBezTo>
                    <a:pt x="4609539" y="0"/>
                    <a:pt x="4686300" y="76761"/>
                    <a:pt x="4686300" y="171450"/>
                  </a:cubicBezTo>
                  <a:lnTo>
                    <a:pt x="4686300" y="4705350"/>
                  </a:lnTo>
                  <a:cubicBezTo>
                    <a:pt x="4686300" y="4800039"/>
                    <a:pt x="4609539" y="4876800"/>
                    <a:pt x="4514850" y="4876800"/>
                  </a:cubicBezTo>
                  <a:lnTo>
                    <a:pt x="171450" y="4876800"/>
                  </a:lnTo>
                  <a:cubicBezTo>
                    <a:pt x="76761" y="4876800"/>
                    <a:pt x="0" y="4800039"/>
                    <a:pt x="0" y="4705350"/>
                  </a:cubicBezTo>
                  <a:lnTo>
                    <a:pt x="0" y="171450"/>
                  </a:lnTo>
                  <a:cubicBezTo>
                    <a:pt x="0" y="76761"/>
                    <a:pt x="76761" y="0"/>
                    <a:pt x="171450" y="0"/>
                  </a:cubicBezTo>
                  <a:close/>
                </a:path>
              </a:pathLst>
            </a:custGeom>
            <a:solidFill>
              <a:srgbClr val="F6F8F7"/>
            </a:solidFill>
            <a:ln>
              <a:noFill/>
            </a:ln>
            <a:effectLst>
              <a:outerShdw blurRad="228600" dist="66675" dir="10799508" algn="tl" rotWithShape="0">
                <a:srgbClr val="000000">
                  <a:alpha val="22000"/>
                </a:srgbClr>
              </a:outerShdw>
            </a:effectLst>
          </p:spPr>
        </p:sp>
        <p:sp>
          <p:nvSpPr>
            <p:cNvPr id="24" name="TextBox 24"/>
            <p:cNvSpPr txBox="1"/>
            <p:nvPr/>
          </p:nvSpPr>
          <p:spPr>
            <a:xfrm>
              <a:off x="7183755" y="1263968"/>
              <a:ext cx="2870544" cy="274320"/>
            </a:xfrm>
            <a:prstGeom prst="rect">
              <a:avLst/>
            </a:prstGeom>
            <a:noFill/>
            <a:ln>
              <a:noFill/>
            </a:ln>
            <a:effectLst>
              <a:outerShdw blurRad="228600" dist="66675" dir="10799508" algn="tl" rotWithShape="0">
                <a:srgbClr val="000000">
                  <a:alpha val="22000"/>
                </a:srgbClr>
              </a:outerShdw>
            </a:effectLst>
          </p:spPr>
          <p:txBody>
            <a:bodyPr wrap="none" lIns="0" tIns="0" rIns="0" bIns="0" anchor="t" anchorCtr="0">
              <a:spAutoFit/>
            </a:bodyPr>
            <a:lstStyle/>
            <a:p>
              <a:pPr algn="l"/>
              <a:r>
                <a:rPr lang="zh-CN" sz="1350" b="1" dirty="0">
                  <a:solidFill>
                    <a:srgbClr val="17212B"/>
                  </a:solidFill>
                  <a:latin typeface="Arial"/>
                  <a:ea typeface="Microsoft YaHei"/>
                  <a:cs typeface="Arial"/>
                </a:rPr>
                <a:t>Tomorrow • Court inventory</a:t>
              </a:r>
            </a:p>
          </p:txBody>
        </p:sp>
        <p:sp>
          <p:nvSpPr>
            <p:cNvPr id="25" name="TextBox 25"/>
            <p:cNvSpPr txBox="1"/>
            <p:nvPr/>
          </p:nvSpPr>
          <p:spPr>
            <a:xfrm>
              <a:off x="10291191" y="1296352"/>
              <a:ext cx="885444" cy="213360"/>
            </a:xfrm>
            <a:prstGeom prst="rect">
              <a:avLst/>
            </a:prstGeom>
            <a:noFill/>
            <a:ln>
              <a:noFill/>
            </a:ln>
            <a:effectLst>
              <a:outerShdw blurRad="228600" dist="66675" dir="10799508" algn="tl" rotWithShape="0">
                <a:srgbClr val="000000">
                  <a:alpha val="22000"/>
                </a:srgbClr>
              </a:outerShdw>
            </a:effectLst>
          </p:spPr>
          <p:txBody>
            <a:bodyPr wrap="none" lIns="0" tIns="0" rIns="0" bIns="0" anchor="t" anchorCtr="0">
              <a:spAutoFit/>
            </a:bodyPr>
            <a:lstStyle/>
            <a:p>
              <a:pPr algn="r"/>
              <a:r>
                <a:rPr lang="zh-CN" sz="1050" dirty="0">
                  <a:solidFill>
                    <a:srgbClr val="5E6B75"/>
                  </a:solidFill>
                  <a:latin typeface="Calibri"/>
                  <a:ea typeface="Microsoft YaHei"/>
                  <a:cs typeface="Calibri"/>
                </a:rPr>
                <a:t>Illustrative</a:t>
              </a:r>
            </a:p>
          </p:txBody>
        </p:sp>
        <p:grpSp>
          <p:nvGrpSpPr>
            <p:cNvPr id="35" name="Group 35"/>
            <p:cNvGrpSpPr/>
            <p:nvPr/>
          </p:nvGrpSpPr>
          <p:grpSpPr>
            <a:xfrm>
              <a:off x="6911221" y="1704499"/>
              <a:ext cx="4349329" cy="3131820"/>
              <a:chOff x="6911221" y="1704499"/>
              <a:chExt cx="4349329" cy="3131820"/>
            </a:xfrm>
          </p:grpSpPr>
          <p:sp>
            <p:nvSpPr>
              <p:cNvPr id="26" name="TextBox 26"/>
              <p:cNvSpPr txBox="1"/>
              <p:nvPr/>
            </p:nvSpPr>
            <p:spPr>
              <a:xfrm>
                <a:off x="7597700" y="1704499"/>
                <a:ext cx="501801" cy="198120"/>
              </a:xfrm>
              <a:prstGeom prst="rect">
                <a:avLst/>
              </a:prstGeom>
              <a:noFill/>
              <a:ln>
                <a:noFill/>
              </a:ln>
              <a:effectLst>
                <a:outerShdw blurRad="228600" dist="66675" dir="10799508" algn="tl" rotWithShape="0">
                  <a:srgbClr val="000000">
                    <a:alpha val="22000"/>
                  </a:srgbClr>
                </a:outerShdw>
              </a:effectLst>
            </p:spPr>
            <p:txBody>
              <a:bodyPr wrap="none" lIns="0" tIns="0" rIns="0" bIns="0" anchor="t" anchorCtr="0">
                <a:spAutoFit/>
              </a:bodyPr>
              <a:lstStyle/>
              <a:p>
                <a:pPr algn="ctr"/>
                <a:r>
                  <a:rPr lang="zh-CN" sz="975" dirty="0">
                    <a:solidFill>
                      <a:srgbClr val="5E6B75"/>
                    </a:solidFill>
                    <a:latin typeface="Calibri"/>
                    <a:ea typeface="Microsoft YaHei"/>
                    <a:cs typeface="Calibri"/>
                  </a:rPr>
                  <a:t>Court 1</a:t>
                </a:r>
              </a:p>
            </p:txBody>
          </p:sp>
          <p:sp>
            <p:nvSpPr>
              <p:cNvPr id="27" name="TextBox 27"/>
              <p:cNvSpPr txBox="1"/>
              <p:nvPr/>
            </p:nvSpPr>
            <p:spPr>
              <a:xfrm>
                <a:off x="8627650" y="1704499"/>
                <a:ext cx="537400" cy="198120"/>
              </a:xfrm>
              <a:prstGeom prst="rect">
                <a:avLst/>
              </a:prstGeom>
              <a:noFill/>
              <a:ln>
                <a:noFill/>
              </a:ln>
              <a:effectLst>
                <a:outerShdw blurRad="228600" dist="66675" dir="10799508" algn="tl" rotWithShape="0">
                  <a:srgbClr val="000000">
                    <a:alpha val="22000"/>
                  </a:srgbClr>
                </a:outerShdw>
              </a:effectLst>
            </p:spPr>
            <p:txBody>
              <a:bodyPr wrap="none" lIns="0" tIns="0" rIns="0" bIns="0" anchor="t" anchorCtr="0">
                <a:spAutoFit/>
              </a:bodyPr>
              <a:lstStyle/>
              <a:p>
                <a:pPr algn="ctr"/>
                <a:r>
                  <a:rPr lang="zh-CN" sz="975" dirty="0">
                    <a:solidFill>
                      <a:srgbClr val="5E6B75"/>
                    </a:solidFill>
                    <a:latin typeface="Calibri"/>
                    <a:ea typeface="Microsoft YaHei"/>
                    <a:cs typeface="Calibri"/>
                  </a:rPr>
                  <a:t>Court 2</a:t>
                </a:r>
              </a:p>
            </p:txBody>
          </p:sp>
          <p:sp>
            <p:nvSpPr>
              <p:cNvPr id="28" name="TextBox 28"/>
              <p:cNvSpPr txBox="1"/>
              <p:nvPr/>
            </p:nvSpPr>
            <p:spPr>
              <a:xfrm>
                <a:off x="9675400" y="1704499"/>
                <a:ext cx="537400" cy="198120"/>
              </a:xfrm>
              <a:prstGeom prst="rect">
                <a:avLst/>
              </a:prstGeom>
              <a:noFill/>
              <a:ln>
                <a:noFill/>
              </a:ln>
              <a:effectLst>
                <a:outerShdw blurRad="228600" dist="66675" dir="10799508" algn="tl" rotWithShape="0">
                  <a:srgbClr val="000000">
                    <a:alpha val="22000"/>
                  </a:srgbClr>
                </a:outerShdw>
              </a:effectLst>
            </p:spPr>
            <p:txBody>
              <a:bodyPr wrap="none" lIns="0" tIns="0" rIns="0" bIns="0" anchor="t" anchorCtr="0">
                <a:spAutoFit/>
              </a:bodyPr>
              <a:lstStyle/>
              <a:p>
                <a:pPr algn="ctr"/>
                <a:r>
                  <a:rPr lang="zh-CN" sz="975" dirty="0">
                    <a:solidFill>
                      <a:srgbClr val="5E6B75"/>
                    </a:solidFill>
                    <a:latin typeface="Calibri"/>
                    <a:ea typeface="Microsoft YaHei"/>
                    <a:cs typeface="Calibri"/>
                  </a:rPr>
                  <a:t>Court 3</a:t>
                </a:r>
              </a:p>
            </p:txBody>
          </p:sp>
          <p:sp>
            <p:nvSpPr>
              <p:cNvPr id="29" name="TextBox 29"/>
              <p:cNvSpPr txBox="1"/>
              <p:nvPr/>
            </p:nvSpPr>
            <p:spPr>
              <a:xfrm>
                <a:off x="10723150" y="1704499"/>
                <a:ext cx="537400" cy="198120"/>
              </a:xfrm>
              <a:prstGeom prst="rect">
                <a:avLst/>
              </a:prstGeom>
              <a:noFill/>
              <a:ln>
                <a:noFill/>
              </a:ln>
              <a:effectLst>
                <a:outerShdw blurRad="228600" dist="66675" dir="10799508" algn="tl" rotWithShape="0">
                  <a:srgbClr val="000000">
                    <a:alpha val="22000"/>
                  </a:srgbClr>
                </a:outerShdw>
              </a:effectLst>
            </p:spPr>
            <p:txBody>
              <a:bodyPr wrap="none" lIns="0" tIns="0" rIns="0" bIns="0" anchor="t" anchorCtr="0">
                <a:spAutoFit/>
              </a:bodyPr>
              <a:lstStyle/>
              <a:p>
                <a:pPr algn="ctr"/>
                <a:r>
                  <a:rPr lang="zh-CN" sz="975" dirty="0">
                    <a:solidFill>
                      <a:srgbClr val="5E6B75"/>
                    </a:solidFill>
                    <a:latin typeface="Calibri"/>
                    <a:ea typeface="Microsoft YaHei"/>
                    <a:cs typeface="Calibri"/>
                  </a:rPr>
                  <a:t>Court 4</a:t>
                </a:r>
              </a:p>
            </p:txBody>
          </p:sp>
          <p:sp>
            <p:nvSpPr>
              <p:cNvPr id="30" name="TextBox 30"/>
              <p:cNvSpPr txBox="1"/>
              <p:nvPr/>
            </p:nvSpPr>
            <p:spPr>
              <a:xfrm>
                <a:off x="6911221" y="2123599"/>
                <a:ext cx="416362" cy="198120"/>
              </a:xfrm>
              <a:prstGeom prst="rect">
                <a:avLst/>
              </a:prstGeom>
              <a:noFill/>
              <a:ln>
                <a:noFill/>
              </a:ln>
              <a:effectLst>
                <a:outerShdw blurRad="228600" dist="66675" dir="10799508" algn="tl" rotWithShape="0">
                  <a:srgbClr val="000000">
                    <a:alpha val="22000"/>
                  </a:srgbClr>
                </a:outerShdw>
              </a:effectLst>
            </p:spPr>
            <p:txBody>
              <a:bodyPr wrap="none" lIns="0" tIns="0" rIns="0" bIns="0" anchor="t" anchorCtr="0">
                <a:spAutoFit/>
              </a:bodyPr>
              <a:lstStyle/>
              <a:p>
                <a:pPr algn="r"/>
                <a:r>
                  <a:rPr lang="zh-CN" sz="975" dirty="0">
                    <a:solidFill>
                      <a:srgbClr val="5E6B75"/>
                    </a:solidFill>
                    <a:latin typeface="Calibri"/>
                    <a:ea typeface="Microsoft YaHei"/>
                    <a:cs typeface="Calibri"/>
                  </a:rPr>
                  <a:t>09:00</a:t>
                </a:r>
              </a:p>
            </p:txBody>
          </p:sp>
          <p:sp>
            <p:nvSpPr>
              <p:cNvPr id="31" name="TextBox 31"/>
              <p:cNvSpPr txBox="1"/>
              <p:nvPr/>
            </p:nvSpPr>
            <p:spPr>
              <a:xfrm>
                <a:off x="6946821" y="2752249"/>
                <a:ext cx="380762" cy="198120"/>
              </a:xfrm>
              <a:prstGeom prst="rect">
                <a:avLst/>
              </a:prstGeom>
              <a:noFill/>
              <a:ln>
                <a:noFill/>
              </a:ln>
              <a:effectLst>
                <a:outerShdw blurRad="228600" dist="66675" dir="10799508" algn="tl" rotWithShape="0">
                  <a:srgbClr val="000000">
                    <a:alpha val="22000"/>
                  </a:srgbClr>
                </a:outerShdw>
              </a:effectLst>
            </p:spPr>
            <p:txBody>
              <a:bodyPr wrap="none" lIns="0" tIns="0" rIns="0" bIns="0" anchor="t" anchorCtr="0">
                <a:spAutoFit/>
              </a:bodyPr>
              <a:lstStyle/>
              <a:p>
                <a:pPr algn="r"/>
                <a:r>
                  <a:rPr lang="zh-CN" sz="975" dirty="0">
                    <a:solidFill>
                      <a:srgbClr val="5E6B75"/>
                    </a:solidFill>
                    <a:latin typeface="Calibri"/>
                    <a:ea typeface="Microsoft YaHei"/>
                    <a:cs typeface="Calibri"/>
                  </a:rPr>
                  <a:t>14:00</a:t>
                </a:r>
              </a:p>
            </p:txBody>
          </p:sp>
          <p:sp>
            <p:nvSpPr>
              <p:cNvPr id="32" name="TextBox 32"/>
              <p:cNvSpPr txBox="1"/>
              <p:nvPr/>
            </p:nvSpPr>
            <p:spPr>
              <a:xfrm>
                <a:off x="6946821" y="3380899"/>
                <a:ext cx="380762" cy="198120"/>
              </a:xfrm>
              <a:prstGeom prst="rect">
                <a:avLst/>
              </a:prstGeom>
              <a:noFill/>
              <a:ln>
                <a:noFill/>
              </a:ln>
              <a:effectLst>
                <a:outerShdw blurRad="228600" dist="66675" dir="10799508" algn="tl" rotWithShape="0">
                  <a:srgbClr val="000000">
                    <a:alpha val="22000"/>
                  </a:srgbClr>
                </a:outerShdw>
              </a:effectLst>
            </p:spPr>
            <p:txBody>
              <a:bodyPr wrap="none" lIns="0" tIns="0" rIns="0" bIns="0" anchor="t" anchorCtr="0">
                <a:spAutoFit/>
              </a:bodyPr>
              <a:lstStyle/>
              <a:p>
                <a:pPr algn="r"/>
                <a:r>
                  <a:rPr lang="zh-CN" sz="975" dirty="0">
                    <a:solidFill>
                      <a:srgbClr val="5E6B75"/>
                    </a:solidFill>
                    <a:latin typeface="Calibri"/>
                    <a:ea typeface="Microsoft YaHei"/>
                    <a:cs typeface="Calibri"/>
                  </a:rPr>
                  <a:t>17:00</a:t>
                </a:r>
              </a:p>
            </p:txBody>
          </p:sp>
          <p:sp>
            <p:nvSpPr>
              <p:cNvPr id="33" name="TextBox 33"/>
              <p:cNvSpPr txBox="1"/>
              <p:nvPr/>
            </p:nvSpPr>
            <p:spPr>
              <a:xfrm>
                <a:off x="6946821" y="4009549"/>
                <a:ext cx="380762" cy="198120"/>
              </a:xfrm>
              <a:prstGeom prst="rect">
                <a:avLst/>
              </a:prstGeom>
              <a:noFill/>
              <a:ln>
                <a:noFill/>
              </a:ln>
              <a:effectLst>
                <a:outerShdw blurRad="228600" dist="66675" dir="10799508" algn="tl" rotWithShape="0">
                  <a:srgbClr val="000000">
                    <a:alpha val="22000"/>
                  </a:srgbClr>
                </a:outerShdw>
              </a:effectLst>
            </p:spPr>
            <p:txBody>
              <a:bodyPr wrap="none" lIns="0" tIns="0" rIns="0" bIns="0" anchor="t" anchorCtr="0">
                <a:spAutoFit/>
              </a:bodyPr>
              <a:lstStyle/>
              <a:p>
                <a:pPr algn="r"/>
                <a:r>
                  <a:rPr lang="zh-CN" sz="975" dirty="0">
                    <a:solidFill>
                      <a:srgbClr val="5E6B75"/>
                    </a:solidFill>
                    <a:latin typeface="Calibri"/>
                    <a:ea typeface="Microsoft YaHei"/>
                    <a:cs typeface="Calibri"/>
                  </a:rPr>
                  <a:t>18:00</a:t>
                </a:r>
              </a:p>
            </p:txBody>
          </p:sp>
          <p:sp>
            <p:nvSpPr>
              <p:cNvPr id="34" name="TextBox 34"/>
              <p:cNvSpPr txBox="1"/>
              <p:nvPr/>
            </p:nvSpPr>
            <p:spPr>
              <a:xfrm>
                <a:off x="6911221" y="4638199"/>
                <a:ext cx="416362" cy="198120"/>
              </a:xfrm>
              <a:prstGeom prst="rect">
                <a:avLst/>
              </a:prstGeom>
              <a:noFill/>
              <a:ln>
                <a:noFill/>
              </a:ln>
              <a:effectLst>
                <a:outerShdw blurRad="228600" dist="66675" dir="10799508" algn="tl" rotWithShape="0">
                  <a:srgbClr val="000000">
                    <a:alpha val="22000"/>
                  </a:srgbClr>
                </a:outerShdw>
              </a:effectLst>
            </p:spPr>
            <p:txBody>
              <a:bodyPr wrap="none" lIns="0" tIns="0" rIns="0" bIns="0" anchor="t" anchorCtr="0">
                <a:spAutoFit/>
              </a:bodyPr>
              <a:lstStyle/>
              <a:p>
                <a:pPr algn="r"/>
                <a:r>
                  <a:rPr lang="zh-CN" sz="975" dirty="0">
                    <a:solidFill>
                      <a:srgbClr val="5E6B75"/>
                    </a:solidFill>
                    <a:latin typeface="Calibri"/>
                    <a:ea typeface="Microsoft YaHei"/>
                    <a:cs typeface="Calibri"/>
                  </a:rPr>
                  <a:t>20:00</a:t>
                </a:r>
              </a:p>
            </p:txBody>
          </p:sp>
        </p:grpSp>
        <p:grpSp>
          <p:nvGrpSpPr>
            <p:cNvPr id="56" name="Group 56"/>
            <p:cNvGrpSpPr/>
            <p:nvPr/>
          </p:nvGrpSpPr>
          <p:grpSpPr>
            <a:xfrm>
              <a:off x="7505700" y="1962150"/>
              <a:ext cx="3810000" cy="2971800"/>
              <a:chOff x="7505700" y="1962150"/>
              <a:chExt cx="3810000" cy="2971800"/>
            </a:xfrm>
          </p:grpSpPr>
          <p:sp>
            <p:nvSpPr>
              <p:cNvPr id="36" name="Freeform 36"/>
              <p:cNvSpPr/>
              <p:nvPr/>
            </p:nvSpPr>
            <p:spPr>
              <a:xfrm>
                <a:off x="7505700" y="1962150"/>
                <a:ext cx="971550" cy="457200"/>
              </a:xfrm>
              <a:custGeom>
                <a:avLst/>
                <a:gdLst/>
                <a:ahLst/>
                <a:cxnLst/>
                <a:rect l="l" t="t" r="r" b="b"/>
                <a:pathLst>
                  <a:path w="971550" h="457200">
                    <a:moveTo>
                      <a:pt x="66675" y="0"/>
                    </a:moveTo>
                    <a:lnTo>
                      <a:pt x="904875" y="0"/>
                    </a:lnTo>
                    <a:cubicBezTo>
                      <a:pt x="941699" y="0"/>
                      <a:pt x="971550" y="29851"/>
                      <a:pt x="971550" y="66675"/>
                    </a:cubicBezTo>
                    <a:lnTo>
                      <a:pt x="971550" y="390525"/>
                    </a:lnTo>
                    <a:cubicBezTo>
                      <a:pt x="971550" y="427349"/>
                      <a:pt x="941699" y="457200"/>
                      <a:pt x="904875" y="457200"/>
                    </a:cubicBezTo>
                    <a:lnTo>
                      <a:pt x="66675" y="457200"/>
                    </a:lnTo>
                    <a:cubicBezTo>
                      <a:pt x="29851" y="457200"/>
                      <a:pt x="0" y="427349"/>
                      <a:pt x="0" y="390525"/>
                    </a:cubicBezTo>
                    <a:lnTo>
                      <a:pt x="0" y="66675"/>
                    </a:lnTo>
                    <a:cubicBezTo>
                      <a:pt x="0" y="29851"/>
                      <a:pt x="29851" y="0"/>
                      <a:pt x="66675" y="0"/>
                    </a:cubicBezTo>
                    <a:close/>
                  </a:path>
                </a:pathLst>
              </a:custGeom>
              <a:solidFill>
                <a:srgbClr val="EAF0ED"/>
              </a:solidFill>
              <a:ln>
                <a:noFill/>
              </a:ln>
              <a:effectLst>
                <a:outerShdw blurRad="228600" dist="66675" dir="10799508" algn="tl" rotWithShape="0">
                  <a:srgbClr val="000000">
                    <a:alpha val="22000"/>
                  </a:srgbClr>
                </a:outerShdw>
              </a:effectLst>
            </p:spPr>
          </p:sp>
          <p:sp>
            <p:nvSpPr>
              <p:cNvPr id="37" name="Freeform 37"/>
              <p:cNvSpPr/>
              <p:nvPr/>
            </p:nvSpPr>
            <p:spPr>
              <a:xfrm>
                <a:off x="8553450" y="1962150"/>
                <a:ext cx="971550" cy="457200"/>
              </a:xfrm>
              <a:custGeom>
                <a:avLst/>
                <a:gdLst/>
                <a:ahLst/>
                <a:cxnLst/>
                <a:rect l="l" t="t" r="r" b="b"/>
                <a:pathLst>
                  <a:path w="971550" h="457200">
                    <a:moveTo>
                      <a:pt x="66675" y="0"/>
                    </a:moveTo>
                    <a:lnTo>
                      <a:pt x="904875" y="0"/>
                    </a:lnTo>
                    <a:cubicBezTo>
                      <a:pt x="941699" y="0"/>
                      <a:pt x="971550" y="29851"/>
                      <a:pt x="971550" y="66675"/>
                    </a:cubicBezTo>
                    <a:lnTo>
                      <a:pt x="971550" y="390525"/>
                    </a:lnTo>
                    <a:cubicBezTo>
                      <a:pt x="971550" y="427349"/>
                      <a:pt x="941699" y="457200"/>
                      <a:pt x="904875" y="457200"/>
                    </a:cubicBezTo>
                    <a:lnTo>
                      <a:pt x="66675" y="457200"/>
                    </a:lnTo>
                    <a:cubicBezTo>
                      <a:pt x="29851" y="457200"/>
                      <a:pt x="0" y="427349"/>
                      <a:pt x="0" y="390525"/>
                    </a:cubicBezTo>
                    <a:lnTo>
                      <a:pt x="0" y="66675"/>
                    </a:lnTo>
                    <a:cubicBezTo>
                      <a:pt x="0" y="29851"/>
                      <a:pt x="29851" y="0"/>
                      <a:pt x="66675" y="0"/>
                    </a:cubicBezTo>
                    <a:close/>
                  </a:path>
                </a:pathLst>
              </a:custGeom>
              <a:solidFill>
                <a:srgbClr val="17A673"/>
              </a:solidFill>
              <a:ln>
                <a:noFill/>
              </a:ln>
              <a:effectLst>
                <a:outerShdw blurRad="228600" dist="66675" dir="10799508" algn="tl" rotWithShape="0">
                  <a:srgbClr val="000000">
                    <a:alpha val="22000"/>
                  </a:srgbClr>
                </a:outerShdw>
              </a:effectLst>
            </p:spPr>
          </p:sp>
          <p:sp>
            <p:nvSpPr>
              <p:cNvPr id="38" name="Freeform 38"/>
              <p:cNvSpPr/>
              <p:nvPr/>
            </p:nvSpPr>
            <p:spPr>
              <a:xfrm>
                <a:off x="9601200" y="1962150"/>
                <a:ext cx="971550" cy="457200"/>
              </a:xfrm>
              <a:custGeom>
                <a:avLst/>
                <a:gdLst/>
                <a:ahLst/>
                <a:cxnLst/>
                <a:rect l="l" t="t" r="r" b="b"/>
                <a:pathLst>
                  <a:path w="971550" h="457200">
                    <a:moveTo>
                      <a:pt x="66675" y="0"/>
                    </a:moveTo>
                    <a:lnTo>
                      <a:pt x="904875" y="0"/>
                    </a:lnTo>
                    <a:cubicBezTo>
                      <a:pt x="941699" y="0"/>
                      <a:pt x="971550" y="29851"/>
                      <a:pt x="971550" y="66675"/>
                    </a:cubicBezTo>
                    <a:lnTo>
                      <a:pt x="971550" y="390525"/>
                    </a:lnTo>
                    <a:cubicBezTo>
                      <a:pt x="971550" y="427349"/>
                      <a:pt x="941699" y="457200"/>
                      <a:pt x="904875" y="457200"/>
                    </a:cubicBezTo>
                    <a:lnTo>
                      <a:pt x="66675" y="457200"/>
                    </a:lnTo>
                    <a:cubicBezTo>
                      <a:pt x="29851" y="457200"/>
                      <a:pt x="0" y="427349"/>
                      <a:pt x="0" y="390525"/>
                    </a:cubicBezTo>
                    <a:lnTo>
                      <a:pt x="0" y="66675"/>
                    </a:lnTo>
                    <a:cubicBezTo>
                      <a:pt x="0" y="29851"/>
                      <a:pt x="29851" y="0"/>
                      <a:pt x="66675" y="0"/>
                    </a:cubicBezTo>
                    <a:close/>
                  </a:path>
                </a:pathLst>
              </a:custGeom>
              <a:solidFill>
                <a:srgbClr val="EAF0ED"/>
              </a:solidFill>
              <a:ln>
                <a:noFill/>
              </a:ln>
              <a:effectLst>
                <a:outerShdw blurRad="228600" dist="66675" dir="10799508" algn="tl" rotWithShape="0">
                  <a:srgbClr val="000000">
                    <a:alpha val="22000"/>
                  </a:srgbClr>
                </a:outerShdw>
              </a:effectLst>
            </p:spPr>
          </p:sp>
          <p:sp>
            <p:nvSpPr>
              <p:cNvPr id="39" name="Freeform 39"/>
              <p:cNvSpPr/>
              <p:nvPr/>
            </p:nvSpPr>
            <p:spPr>
              <a:xfrm>
                <a:off x="10648950" y="1962150"/>
                <a:ext cx="666750" cy="457200"/>
              </a:xfrm>
              <a:custGeom>
                <a:avLst/>
                <a:gdLst/>
                <a:ahLst/>
                <a:cxnLst/>
                <a:rect l="l" t="t" r="r" b="b"/>
                <a:pathLst>
                  <a:path w="666750" h="457200">
                    <a:moveTo>
                      <a:pt x="66675" y="0"/>
                    </a:moveTo>
                    <a:lnTo>
                      <a:pt x="600075" y="0"/>
                    </a:lnTo>
                    <a:cubicBezTo>
                      <a:pt x="636899" y="0"/>
                      <a:pt x="666750" y="29851"/>
                      <a:pt x="666750" y="66675"/>
                    </a:cubicBezTo>
                    <a:lnTo>
                      <a:pt x="666750" y="390525"/>
                    </a:lnTo>
                    <a:cubicBezTo>
                      <a:pt x="666750" y="427349"/>
                      <a:pt x="636899" y="457200"/>
                      <a:pt x="600075" y="457200"/>
                    </a:cubicBezTo>
                    <a:lnTo>
                      <a:pt x="66675" y="457200"/>
                    </a:lnTo>
                    <a:cubicBezTo>
                      <a:pt x="29851" y="457200"/>
                      <a:pt x="0" y="427349"/>
                      <a:pt x="0" y="390525"/>
                    </a:cubicBezTo>
                    <a:lnTo>
                      <a:pt x="0" y="66675"/>
                    </a:lnTo>
                    <a:cubicBezTo>
                      <a:pt x="0" y="29851"/>
                      <a:pt x="29851" y="0"/>
                      <a:pt x="66675" y="0"/>
                    </a:cubicBezTo>
                    <a:close/>
                  </a:path>
                </a:pathLst>
              </a:custGeom>
              <a:solidFill>
                <a:srgbClr val="EAF0ED"/>
              </a:solidFill>
              <a:ln>
                <a:noFill/>
              </a:ln>
              <a:effectLst>
                <a:outerShdw blurRad="228600" dist="66675" dir="10799508" algn="tl" rotWithShape="0">
                  <a:srgbClr val="000000">
                    <a:alpha val="22000"/>
                  </a:srgbClr>
                </a:outerShdw>
              </a:effectLst>
            </p:spPr>
          </p:sp>
          <p:sp>
            <p:nvSpPr>
              <p:cNvPr id="40" name="Freeform 40"/>
              <p:cNvSpPr/>
              <p:nvPr/>
            </p:nvSpPr>
            <p:spPr>
              <a:xfrm>
                <a:off x="7505700" y="2590800"/>
                <a:ext cx="971550" cy="457200"/>
              </a:xfrm>
              <a:custGeom>
                <a:avLst/>
                <a:gdLst/>
                <a:ahLst/>
                <a:cxnLst/>
                <a:rect l="l" t="t" r="r" b="b"/>
                <a:pathLst>
                  <a:path w="971550" h="457200">
                    <a:moveTo>
                      <a:pt x="66675" y="0"/>
                    </a:moveTo>
                    <a:lnTo>
                      <a:pt x="904875" y="0"/>
                    </a:lnTo>
                    <a:cubicBezTo>
                      <a:pt x="941699" y="0"/>
                      <a:pt x="971550" y="29851"/>
                      <a:pt x="971550" y="66675"/>
                    </a:cubicBezTo>
                    <a:lnTo>
                      <a:pt x="971550" y="390525"/>
                    </a:lnTo>
                    <a:cubicBezTo>
                      <a:pt x="971550" y="427349"/>
                      <a:pt x="941699" y="457200"/>
                      <a:pt x="904875" y="457200"/>
                    </a:cubicBezTo>
                    <a:lnTo>
                      <a:pt x="66675" y="457200"/>
                    </a:lnTo>
                    <a:cubicBezTo>
                      <a:pt x="29851" y="457200"/>
                      <a:pt x="0" y="427349"/>
                      <a:pt x="0" y="390525"/>
                    </a:cubicBezTo>
                    <a:lnTo>
                      <a:pt x="0" y="66675"/>
                    </a:lnTo>
                    <a:cubicBezTo>
                      <a:pt x="0" y="29851"/>
                      <a:pt x="29851" y="0"/>
                      <a:pt x="66675" y="0"/>
                    </a:cubicBezTo>
                    <a:close/>
                  </a:path>
                </a:pathLst>
              </a:custGeom>
              <a:solidFill>
                <a:srgbClr val="EAF0ED"/>
              </a:solidFill>
              <a:ln>
                <a:noFill/>
              </a:ln>
              <a:effectLst>
                <a:outerShdw blurRad="228600" dist="66675" dir="10799508" algn="tl" rotWithShape="0">
                  <a:srgbClr val="000000">
                    <a:alpha val="22000"/>
                  </a:srgbClr>
                </a:outerShdw>
              </a:effectLst>
            </p:spPr>
          </p:sp>
          <p:sp>
            <p:nvSpPr>
              <p:cNvPr id="41" name="Freeform 41"/>
              <p:cNvSpPr/>
              <p:nvPr/>
            </p:nvSpPr>
            <p:spPr>
              <a:xfrm>
                <a:off x="8553450" y="2590800"/>
                <a:ext cx="971550" cy="457200"/>
              </a:xfrm>
              <a:custGeom>
                <a:avLst/>
                <a:gdLst/>
                <a:ahLst/>
                <a:cxnLst/>
                <a:rect l="l" t="t" r="r" b="b"/>
                <a:pathLst>
                  <a:path w="971550" h="457200">
                    <a:moveTo>
                      <a:pt x="66675" y="0"/>
                    </a:moveTo>
                    <a:lnTo>
                      <a:pt x="904875" y="0"/>
                    </a:lnTo>
                    <a:cubicBezTo>
                      <a:pt x="941699" y="0"/>
                      <a:pt x="971550" y="29851"/>
                      <a:pt x="971550" y="66675"/>
                    </a:cubicBezTo>
                    <a:lnTo>
                      <a:pt x="971550" y="390525"/>
                    </a:lnTo>
                    <a:cubicBezTo>
                      <a:pt x="971550" y="427349"/>
                      <a:pt x="941699" y="457200"/>
                      <a:pt x="904875" y="457200"/>
                    </a:cubicBezTo>
                    <a:lnTo>
                      <a:pt x="66675" y="457200"/>
                    </a:lnTo>
                    <a:cubicBezTo>
                      <a:pt x="29851" y="457200"/>
                      <a:pt x="0" y="427349"/>
                      <a:pt x="0" y="390525"/>
                    </a:cubicBezTo>
                    <a:lnTo>
                      <a:pt x="0" y="66675"/>
                    </a:lnTo>
                    <a:cubicBezTo>
                      <a:pt x="0" y="29851"/>
                      <a:pt x="29851" y="0"/>
                      <a:pt x="66675" y="0"/>
                    </a:cubicBezTo>
                    <a:close/>
                  </a:path>
                </a:pathLst>
              </a:custGeom>
              <a:solidFill>
                <a:srgbClr val="EAF0ED"/>
              </a:solidFill>
              <a:ln>
                <a:noFill/>
              </a:ln>
              <a:effectLst>
                <a:outerShdw blurRad="228600" dist="66675" dir="10799508" algn="tl" rotWithShape="0">
                  <a:srgbClr val="000000">
                    <a:alpha val="22000"/>
                  </a:srgbClr>
                </a:outerShdw>
              </a:effectLst>
            </p:spPr>
          </p:sp>
          <p:sp>
            <p:nvSpPr>
              <p:cNvPr id="42" name="Freeform 42"/>
              <p:cNvSpPr/>
              <p:nvPr/>
            </p:nvSpPr>
            <p:spPr>
              <a:xfrm>
                <a:off x="9601200" y="2590800"/>
                <a:ext cx="971550" cy="457200"/>
              </a:xfrm>
              <a:custGeom>
                <a:avLst/>
                <a:gdLst/>
                <a:ahLst/>
                <a:cxnLst/>
                <a:rect l="l" t="t" r="r" b="b"/>
                <a:pathLst>
                  <a:path w="971550" h="457200">
                    <a:moveTo>
                      <a:pt x="66675" y="0"/>
                    </a:moveTo>
                    <a:lnTo>
                      <a:pt x="904875" y="0"/>
                    </a:lnTo>
                    <a:cubicBezTo>
                      <a:pt x="941699" y="0"/>
                      <a:pt x="971550" y="29851"/>
                      <a:pt x="971550" y="66675"/>
                    </a:cubicBezTo>
                    <a:lnTo>
                      <a:pt x="971550" y="390525"/>
                    </a:lnTo>
                    <a:cubicBezTo>
                      <a:pt x="971550" y="427349"/>
                      <a:pt x="941699" y="457200"/>
                      <a:pt x="904875" y="457200"/>
                    </a:cubicBezTo>
                    <a:lnTo>
                      <a:pt x="66675" y="457200"/>
                    </a:lnTo>
                    <a:cubicBezTo>
                      <a:pt x="29851" y="457200"/>
                      <a:pt x="0" y="427349"/>
                      <a:pt x="0" y="390525"/>
                    </a:cubicBezTo>
                    <a:lnTo>
                      <a:pt x="0" y="66675"/>
                    </a:lnTo>
                    <a:cubicBezTo>
                      <a:pt x="0" y="29851"/>
                      <a:pt x="29851" y="0"/>
                      <a:pt x="66675" y="0"/>
                    </a:cubicBezTo>
                    <a:close/>
                  </a:path>
                </a:pathLst>
              </a:custGeom>
              <a:solidFill>
                <a:srgbClr val="17A673"/>
              </a:solidFill>
              <a:ln>
                <a:noFill/>
              </a:ln>
              <a:effectLst>
                <a:outerShdw blurRad="228600" dist="66675" dir="10799508" algn="tl" rotWithShape="0">
                  <a:srgbClr val="000000">
                    <a:alpha val="22000"/>
                  </a:srgbClr>
                </a:outerShdw>
              </a:effectLst>
            </p:spPr>
          </p:sp>
          <p:sp>
            <p:nvSpPr>
              <p:cNvPr id="43" name="Freeform 43"/>
              <p:cNvSpPr/>
              <p:nvPr/>
            </p:nvSpPr>
            <p:spPr>
              <a:xfrm>
                <a:off x="10648950" y="2590800"/>
                <a:ext cx="666750" cy="457200"/>
              </a:xfrm>
              <a:custGeom>
                <a:avLst/>
                <a:gdLst/>
                <a:ahLst/>
                <a:cxnLst/>
                <a:rect l="l" t="t" r="r" b="b"/>
                <a:pathLst>
                  <a:path w="666750" h="457200">
                    <a:moveTo>
                      <a:pt x="66675" y="0"/>
                    </a:moveTo>
                    <a:lnTo>
                      <a:pt x="600075" y="0"/>
                    </a:lnTo>
                    <a:cubicBezTo>
                      <a:pt x="636899" y="0"/>
                      <a:pt x="666750" y="29851"/>
                      <a:pt x="666750" y="66675"/>
                    </a:cubicBezTo>
                    <a:lnTo>
                      <a:pt x="666750" y="390525"/>
                    </a:lnTo>
                    <a:cubicBezTo>
                      <a:pt x="666750" y="427349"/>
                      <a:pt x="636899" y="457200"/>
                      <a:pt x="600075" y="457200"/>
                    </a:cubicBezTo>
                    <a:lnTo>
                      <a:pt x="66675" y="457200"/>
                    </a:lnTo>
                    <a:cubicBezTo>
                      <a:pt x="29851" y="457200"/>
                      <a:pt x="0" y="427349"/>
                      <a:pt x="0" y="390525"/>
                    </a:cubicBezTo>
                    <a:lnTo>
                      <a:pt x="0" y="66675"/>
                    </a:lnTo>
                    <a:cubicBezTo>
                      <a:pt x="0" y="29851"/>
                      <a:pt x="29851" y="0"/>
                      <a:pt x="66675" y="0"/>
                    </a:cubicBezTo>
                    <a:close/>
                  </a:path>
                </a:pathLst>
              </a:custGeom>
              <a:solidFill>
                <a:srgbClr val="EAF0ED"/>
              </a:solidFill>
              <a:ln>
                <a:noFill/>
              </a:ln>
              <a:effectLst>
                <a:outerShdw blurRad="228600" dist="66675" dir="10799508" algn="tl" rotWithShape="0">
                  <a:srgbClr val="000000">
                    <a:alpha val="22000"/>
                  </a:srgbClr>
                </a:outerShdw>
              </a:effectLst>
            </p:spPr>
          </p:sp>
          <p:sp>
            <p:nvSpPr>
              <p:cNvPr id="44" name="Freeform 44"/>
              <p:cNvSpPr/>
              <p:nvPr/>
            </p:nvSpPr>
            <p:spPr>
              <a:xfrm>
                <a:off x="7505700" y="3219450"/>
                <a:ext cx="971550" cy="457200"/>
              </a:xfrm>
              <a:custGeom>
                <a:avLst/>
                <a:gdLst/>
                <a:ahLst/>
                <a:cxnLst/>
                <a:rect l="l" t="t" r="r" b="b"/>
                <a:pathLst>
                  <a:path w="971550" h="457200">
                    <a:moveTo>
                      <a:pt x="66675" y="0"/>
                    </a:moveTo>
                    <a:lnTo>
                      <a:pt x="904875" y="0"/>
                    </a:lnTo>
                    <a:cubicBezTo>
                      <a:pt x="941699" y="0"/>
                      <a:pt x="971550" y="29851"/>
                      <a:pt x="971550" y="66675"/>
                    </a:cubicBezTo>
                    <a:lnTo>
                      <a:pt x="971550" y="390525"/>
                    </a:lnTo>
                    <a:cubicBezTo>
                      <a:pt x="971550" y="427349"/>
                      <a:pt x="941699" y="457200"/>
                      <a:pt x="904875" y="457200"/>
                    </a:cubicBezTo>
                    <a:lnTo>
                      <a:pt x="66675" y="457200"/>
                    </a:lnTo>
                    <a:cubicBezTo>
                      <a:pt x="29851" y="457200"/>
                      <a:pt x="0" y="427349"/>
                      <a:pt x="0" y="390525"/>
                    </a:cubicBezTo>
                    <a:lnTo>
                      <a:pt x="0" y="66675"/>
                    </a:lnTo>
                    <a:cubicBezTo>
                      <a:pt x="0" y="29851"/>
                      <a:pt x="29851" y="0"/>
                      <a:pt x="66675" y="0"/>
                    </a:cubicBezTo>
                    <a:close/>
                  </a:path>
                </a:pathLst>
              </a:custGeom>
              <a:solidFill>
                <a:srgbClr val="B7E43C"/>
              </a:solidFill>
              <a:ln>
                <a:noFill/>
              </a:ln>
              <a:effectLst>
                <a:outerShdw blurRad="228600" dist="66675" dir="10799508" algn="tl" rotWithShape="0">
                  <a:srgbClr val="000000">
                    <a:alpha val="22000"/>
                  </a:srgbClr>
                </a:outerShdw>
              </a:effectLst>
            </p:spPr>
          </p:sp>
          <p:sp>
            <p:nvSpPr>
              <p:cNvPr id="45" name="Freeform 45"/>
              <p:cNvSpPr/>
              <p:nvPr/>
            </p:nvSpPr>
            <p:spPr>
              <a:xfrm>
                <a:off x="8553450" y="3219450"/>
                <a:ext cx="971550" cy="457200"/>
              </a:xfrm>
              <a:custGeom>
                <a:avLst/>
                <a:gdLst/>
                <a:ahLst/>
                <a:cxnLst/>
                <a:rect l="l" t="t" r="r" b="b"/>
                <a:pathLst>
                  <a:path w="971550" h="457200">
                    <a:moveTo>
                      <a:pt x="66675" y="0"/>
                    </a:moveTo>
                    <a:lnTo>
                      <a:pt x="904875" y="0"/>
                    </a:lnTo>
                    <a:cubicBezTo>
                      <a:pt x="941699" y="0"/>
                      <a:pt x="971550" y="29851"/>
                      <a:pt x="971550" y="66675"/>
                    </a:cubicBezTo>
                    <a:lnTo>
                      <a:pt x="971550" y="390525"/>
                    </a:lnTo>
                    <a:cubicBezTo>
                      <a:pt x="971550" y="427349"/>
                      <a:pt x="941699" y="457200"/>
                      <a:pt x="904875" y="457200"/>
                    </a:cubicBezTo>
                    <a:lnTo>
                      <a:pt x="66675" y="457200"/>
                    </a:lnTo>
                    <a:cubicBezTo>
                      <a:pt x="29851" y="457200"/>
                      <a:pt x="0" y="427349"/>
                      <a:pt x="0" y="390525"/>
                    </a:cubicBezTo>
                    <a:lnTo>
                      <a:pt x="0" y="66675"/>
                    </a:lnTo>
                    <a:cubicBezTo>
                      <a:pt x="0" y="29851"/>
                      <a:pt x="29851" y="0"/>
                      <a:pt x="66675" y="0"/>
                    </a:cubicBezTo>
                    <a:close/>
                  </a:path>
                </a:pathLst>
              </a:custGeom>
              <a:solidFill>
                <a:srgbClr val="B7E43C"/>
              </a:solidFill>
              <a:ln>
                <a:noFill/>
              </a:ln>
              <a:effectLst>
                <a:outerShdw blurRad="228600" dist="66675" dir="10799508" algn="tl" rotWithShape="0">
                  <a:srgbClr val="000000">
                    <a:alpha val="22000"/>
                  </a:srgbClr>
                </a:outerShdw>
              </a:effectLst>
            </p:spPr>
          </p:sp>
          <p:sp>
            <p:nvSpPr>
              <p:cNvPr id="46" name="Freeform 46"/>
              <p:cNvSpPr/>
              <p:nvPr/>
            </p:nvSpPr>
            <p:spPr>
              <a:xfrm>
                <a:off x="9601200" y="3219450"/>
                <a:ext cx="971550" cy="457200"/>
              </a:xfrm>
              <a:custGeom>
                <a:avLst/>
                <a:gdLst/>
                <a:ahLst/>
                <a:cxnLst/>
                <a:rect l="l" t="t" r="r" b="b"/>
                <a:pathLst>
                  <a:path w="971550" h="457200">
                    <a:moveTo>
                      <a:pt x="66675" y="0"/>
                    </a:moveTo>
                    <a:lnTo>
                      <a:pt x="904875" y="0"/>
                    </a:lnTo>
                    <a:cubicBezTo>
                      <a:pt x="941699" y="0"/>
                      <a:pt x="971550" y="29851"/>
                      <a:pt x="971550" y="66675"/>
                    </a:cubicBezTo>
                    <a:lnTo>
                      <a:pt x="971550" y="390525"/>
                    </a:lnTo>
                    <a:cubicBezTo>
                      <a:pt x="971550" y="427349"/>
                      <a:pt x="941699" y="457200"/>
                      <a:pt x="904875" y="457200"/>
                    </a:cubicBezTo>
                    <a:lnTo>
                      <a:pt x="66675" y="457200"/>
                    </a:lnTo>
                    <a:cubicBezTo>
                      <a:pt x="29851" y="457200"/>
                      <a:pt x="0" y="427349"/>
                      <a:pt x="0" y="390525"/>
                    </a:cubicBezTo>
                    <a:lnTo>
                      <a:pt x="0" y="66675"/>
                    </a:lnTo>
                    <a:cubicBezTo>
                      <a:pt x="0" y="29851"/>
                      <a:pt x="29851" y="0"/>
                      <a:pt x="66675" y="0"/>
                    </a:cubicBezTo>
                    <a:close/>
                  </a:path>
                </a:pathLst>
              </a:custGeom>
              <a:solidFill>
                <a:srgbClr val="EAF0ED"/>
              </a:solidFill>
              <a:ln>
                <a:noFill/>
              </a:ln>
              <a:effectLst>
                <a:outerShdw blurRad="228600" dist="66675" dir="10799508" algn="tl" rotWithShape="0">
                  <a:srgbClr val="000000">
                    <a:alpha val="22000"/>
                  </a:srgbClr>
                </a:outerShdw>
              </a:effectLst>
            </p:spPr>
          </p:sp>
          <p:sp>
            <p:nvSpPr>
              <p:cNvPr id="47" name="Freeform 47"/>
              <p:cNvSpPr/>
              <p:nvPr/>
            </p:nvSpPr>
            <p:spPr>
              <a:xfrm>
                <a:off x="10648950" y="3219450"/>
                <a:ext cx="666750" cy="457200"/>
              </a:xfrm>
              <a:custGeom>
                <a:avLst/>
                <a:gdLst/>
                <a:ahLst/>
                <a:cxnLst/>
                <a:rect l="l" t="t" r="r" b="b"/>
                <a:pathLst>
                  <a:path w="666750" h="457200">
                    <a:moveTo>
                      <a:pt x="66675" y="0"/>
                    </a:moveTo>
                    <a:lnTo>
                      <a:pt x="600075" y="0"/>
                    </a:lnTo>
                    <a:cubicBezTo>
                      <a:pt x="636899" y="0"/>
                      <a:pt x="666750" y="29851"/>
                      <a:pt x="666750" y="66675"/>
                    </a:cubicBezTo>
                    <a:lnTo>
                      <a:pt x="666750" y="390525"/>
                    </a:lnTo>
                    <a:cubicBezTo>
                      <a:pt x="666750" y="427349"/>
                      <a:pt x="636899" y="457200"/>
                      <a:pt x="600075" y="457200"/>
                    </a:cubicBezTo>
                    <a:lnTo>
                      <a:pt x="66675" y="457200"/>
                    </a:lnTo>
                    <a:cubicBezTo>
                      <a:pt x="29851" y="457200"/>
                      <a:pt x="0" y="427349"/>
                      <a:pt x="0" y="390525"/>
                    </a:cubicBezTo>
                    <a:lnTo>
                      <a:pt x="0" y="66675"/>
                    </a:lnTo>
                    <a:cubicBezTo>
                      <a:pt x="0" y="29851"/>
                      <a:pt x="29851" y="0"/>
                      <a:pt x="66675" y="0"/>
                    </a:cubicBezTo>
                    <a:close/>
                  </a:path>
                </a:pathLst>
              </a:custGeom>
              <a:solidFill>
                <a:srgbClr val="B7E43C"/>
              </a:solidFill>
              <a:ln>
                <a:noFill/>
              </a:ln>
              <a:effectLst>
                <a:outerShdw blurRad="228600" dist="66675" dir="10799508" algn="tl" rotWithShape="0">
                  <a:srgbClr val="000000">
                    <a:alpha val="22000"/>
                  </a:srgbClr>
                </a:outerShdw>
              </a:effectLst>
            </p:spPr>
          </p:sp>
          <p:sp>
            <p:nvSpPr>
              <p:cNvPr id="48" name="Freeform 48"/>
              <p:cNvSpPr/>
              <p:nvPr/>
            </p:nvSpPr>
            <p:spPr>
              <a:xfrm>
                <a:off x="7505700" y="3848100"/>
                <a:ext cx="971550" cy="457200"/>
              </a:xfrm>
              <a:custGeom>
                <a:avLst/>
                <a:gdLst/>
                <a:ahLst/>
                <a:cxnLst/>
                <a:rect l="l" t="t" r="r" b="b"/>
                <a:pathLst>
                  <a:path w="971550" h="457200">
                    <a:moveTo>
                      <a:pt x="66675" y="0"/>
                    </a:moveTo>
                    <a:lnTo>
                      <a:pt x="904875" y="0"/>
                    </a:lnTo>
                    <a:cubicBezTo>
                      <a:pt x="941699" y="0"/>
                      <a:pt x="971550" y="29851"/>
                      <a:pt x="971550" y="66675"/>
                    </a:cubicBezTo>
                    <a:lnTo>
                      <a:pt x="971550" y="390525"/>
                    </a:lnTo>
                    <a:cubicBezTo>
                      <a:pt x="971550" y="427349"/>
                      <a:pt x="941699" y="457200"/>
                      <a:pt x="904875" y="457200"/>
                    </a:cubicBezTo>
                    <a:lnTo>
                      <a:pt x="66675" y="457200"/>
                    </a:lnTo>
                    <a:cubicBezTo>
                      <a:pt x="29851" y="457200"/>
                      <a:pt x="0" y="427349"/>
                      <a:pt x="0" y="390525"/>
                    </a:cubicBezTo>
                    <a:lnTo>
                      <a:pt x="0" y="66675"/>
                    </a:lnTo>
                    <a:cubicBezTo>
                      <a:pt x="0" y="29851"/>
                      <a:pt x="29851" y="0"/>
                      <a:pt x="66675" y="0"/>
                    </a:cubicBezTo>
                    <a:close/>
                  </a:path>
                </a:pathLst>
              </a:custGeom>
              <a:solidFill>
                <a:srgbClr val="12304A"/>
              </a:solidFill>
              <a:ln>
                <a:noFill/>
              </a:ln>
              <a:effectLst>
                <a:outerShdw blurRad="228600" dist="66675" dir="10799508" algn="tl" rotWithShape="0">
                  <a:srgbClr val="000000">
                    <a:alpha val="22000"/>
                  </a:srgbClr>
                </a:outerShdw>
              </a:effectLst>
            </p:spPr>
          </p:sp>
          <p:sp>
            <p:nvSpPr>
              <p:cNvPr id="49" name="Freeform 49"/>
              <p:cNvSpPr/>
              <p:nvPr/>
            </p:nvSpPr>
            <p:spPr>
              <a:xfrm>
                <a:off x="8553450" y="3848100"/>
                <a:ext cx="971550" cy="457200"/>
              </a:xfrm>
              <a:custGeom>
                <a:avLst/>
                <a:gdLst/>
                <a:ahLst/>
                <a:cxnLst/>
                <a:rect l="l" t="t" r="r" b="b"/>
                <a:pathLst>
                  <a:path w="971550" h="457200">
                    <a:moveTo>
                      <a:pt x="66675" y="0"/>
                    </a:moveTo>
                    <a:lnTo>
                      <a:pt x="904875" y="0"/>
                    </a:lnTo>
                    <a:cubicBezTo>
                      <a:pt x="941699" y="0"/>
                      <a:pt x="971550" y="29851"/>
                      <a:pt x="971550" y="66675"/>
                    </a:cubicBezTo>
                    <a:lnTo>
                      <a:pt x="971550" y="390525"/>
                    </a:lnTo>
                    <a:cubicBezTo>
                      <a:pt x="971550" y="427349"/>
                      <a:pt x="941699" y="457200"/>
                      <a:pt x="904875" y="457200"/>
                    </a:cubicBezTo>
                    <a:lnTo>
                      <a:pt x="66675" y="457200"/>
                    </a:lnTo>
                    <a:cubicBezTo>
                      <a:pt x="29851" y="457200"/>
                      <a:pt x="0" y="427349"/>
                      <a:pt x="0" y="390525"/>
                    </a:cubicBezTo>
                    <a:lnTo>
                      <a:pt x="0" y="66675"/>
                    </a:lnTo>
                    <a:cubicBezTo>
                      <a:pt x="0" y="29851"/>
                      <a:pt x="29851" y="0"/>
                      <a:pt x="66675" y="0"/>
                    </a:cubicBezTo>
                    <a:close/>
                  </a:path>
                </a:pathLst>
              </a:custGeom>
              <a:solidFill>
                <a:srgbClr val="12304A"/>
              </a:solidFill>
              <a:ln>
                <a:noFill/>
              </a:ln>
              <a:effectLst>
                <a:outerShdw blurRad="228600" dist="66675" dir="10799508" algn="tl" rotWithShape="0">
                  <a:srgbClr val="000000">
                    <a:alpha val="22000"/>
                  </a:srgbClr>
                </a:outerShdw>
              </a:effectLst>
            </p:spPr>
          </p:sp>
          <p:sp>
            <p:nvSpPr>
              <p:cNvPr id="50" name="Freeform 50"/>
              <p:cNvSpPr/>
              <p:nvPr/>
            </p:nvSpPr>
            <p:spPr>
              <a:xfrm>
                <a:off x="9601200" y="3848100"/>
                <a:ext cx="971550" cy="457200"/>
              </a:xfrm>
              <a:custGeom>
                <a:avLst/>
                <a:gdLst/>
                <a:ahLst/>
                <a:cxnLst/>
                <a:rect l="l" t="t" r="r" b="b"/>
                <a:pathLst>
                  <a:path w="971550" h="457200">
                    <a:moveTo>
                      <a:pt x="66675" y="0"/>
                    </a:moveTo>
                    <a:lnTo>
                      <a:pt x="904875" y="0"/>
                    </a:lnTo>
                    <a:cubicBezTo>
                      <a:pt x="941699" y="0"/>
                      <a:pt x="971550" y="29851"/>
                      <a:pt x="971550" y="66675"/>
                    </a:cubicBezTo>
                    <a:lnTo>
                      <a:pt x="971550" y="390525"/>
                    </a:lnTo>
                    <a:cubicBezTo>
                      <a:pt x="971550" y="427349"/>
                      <a:pt x="941699" y="457200"/>
                      <a:pt x="904875" y="457200"/>
                    </a:cubicBezTo>
                    <a:lnTo>
                      <a:pt x="66675" y="457200"/>
                    </a:lnTo>
                    <a:cubicBezTo>
                      <a:pt x="29851" y="457200"/>
                      <a:pt x="0" y="427349"/>
                      <a:pt x="0" y="390525"/>
                    </a:cubicBezTo>
                    <a:lnTo>
                      <a:pt x="0" y="66675"/>
                    </a:lnTo>
                    <a:cubicBezTo>
                      <a:pt x="0" y="29851"/>
                      <a:pt x="29851" y="0"/>
                      <a:pt x="66675" y="0"/>
                    </a:cubicBezTo>
                    <a:close/>
                  </a:path>
                </a:pathLst>
              </a:custGeom>
              <a:solidFill>
                <a:srgbClr val="12304A"/>
              </a:solidFill>
              <a:ln>
                <a:noFill/>
              </a:ln>
              <a:effectLst>
                <a:outerShdw blurRad="228600" dist="66675" dir="10799508" algn="tl" rotWithShape="0">
                  <a:srgbClr val="000000">
                    <a:alpha val="22000"/>
                  </a:srgbClr>
                </a:outerShdw>
              </a:effectLst>
            </p:spPr>
          </p:sp>
          <p:sp>
            <p:nvSpPr>
              <p:cNvPr id="51" name="Freeform 51"/>
              <p:cNvSpPr/>
              <p:nvPr/>
            </p:nvSpPr>
            <p:spPr>
              <a:xfrm>
                <a:off x="10648950" y="3848100"/>
                <a:ext cx="666750" cy="457200"/>
              </a:xfrm>
              <a:custGeom>
                <a:avLst/>
                <a:gdLst/>
                <a:ahLst/>
                <a:cxnLst/>
                <a:rect l="l" t="t" r="r" b="b"/>
                <a:pathLst>
                  <a:path w="666750" h="457200">
                    <a:moveTo>
                      <a:pt x="66675" y="0"/>
                    </a:moveTo>
                    <a:lnTo>
                      <a:pt x="600075" y="0"/>
                    </a:lnTo>
                    <a:cubicBezTo>
                      <a:pt x="636899" y="0"/>
                      <a:pt x="666750" y="29851"/>
                      <a:pt x="666750" y="66675"/>
                    </a:cubicBezTo>
                    <a:lnTo>
                      <a:pt x="666750" y="390525"/>
                    </a:lnTo>
                    <a:cubicBezTo>
                      <a:pt x="666750" y="427349"/>
                      <a:pt x="636899" y="457200"/>
                      <a:pt x="600075" y="457200"/>
                    </a:cubicBezTo>
                    <a:lnTo>
                      <a:pt x="66675" y="457200"/>
                    </a:lnTo>
                    <a:cubicBezTo>
                      <a:pt x="29851" y="457200"/>
                      <a:pt x="0" y="427349"/>
                      <a:pt x="0" y="390525"/>
                    </a:cubicBezTo>
                    <a:lnTo>
                      <a:pt x="0" y="66675"/>
                    </a:lnTo>
                    <a:cubicBezTo>
                      <a:pt x="0" y="29851"/>
                      <a:pt x="29851" y="0"/>
                      <a:pt x="66675" y="0"/>
                    </a:cubicBezTo>
                    <a:close/>
                  </a:path>
                </a:pathLst>
              </a:custGeom>
              <a:solidFill>
                <a:srgbClr val="12304A"/>
              </a:solidFill>
              <a:ln>
                <a:noFill/>
              </a:ln>
              <a:effectLst>
                <a:outerShdw blurRad="228600" dist="66675" dir="10799508" algn="tl" rotWithShape="0">
                  <a:srgbClr val="000000">
                    <a:alpha val="22000"/>
                  </a:srgbClr>
                </a:outerShdw>
              </a:effectLst>
            </p:spPr>
          </p:sp>
          <p:sp>
            <p:nvSpPr>
              <p:cNvPr id="52" name="Freeform 52"/>
              <p:cNvSpPr/>
              <p:nvPr/>
            </p:nvSpPr>
            <p:spPr>
              <a:xfrm>
                <a:off x="7505700" y="4476750"/>
                <a:ext cx="971550" cy="457200"/>
              </a:xfrm>
              <a:custGeom>
                <a:avLst/>
                <a:gdLst/>
                <a:ahLst/>
                <a:cxnLst/>
                <a:rect l="l" t="t" r="r" b="b"/>
                <a:pathLst>
                  <a:path w="971550" h="457200">
                    <a:moveTo>
                      <a:pt x="66675" y="0"/>
                    </a:moveTo>
                    <a:lnTo>
                      <a:pt x="904875" y="0"/>
                    </a:lnTo>
                    <a:cubicBezTo>
                      <a:pt x="941699" y="0"/>
                      <a:pt x="971550" y="29851"/>
                      <a:pt x="971550" y="66675"/>
                    </a:cubicBezTo>
                    <a:lnTo>
                      <a:pt x="971550" y="390525"/>
                    </a:lnTo>
                    <a:cubicBezTo>
                      <a:pt x="971550" y="427349"/>
                      <a:pt x="941699" y="457200"/>
                      <a:pt x="904875" y="457200"/>
                    </a:cubicBezTo>
                    <a:lnTo>
                      <a:pt x="66675" y="457200"/>
                    </a:lnTo>
                    <a:cubicBezTo>
                      <a:pt x="29851" y="457200"/>
                      <a:pt x="0" y="427349"/>
                      <a:pt x="0" y="390525"/>
                    </a:cubicBezTo>
                    <a:lnTo>
                      <a:pt x="0" y="66675"/>
                    </a:lnTo>
                    <a:cubicBezTo>
                      <a:pt x="0" y="29851"/>
                      <a:pt x="29851" y="0"/>
                      <a:pt x="66675" y="0"/>
                    </a:cubicBezTo>
                    <a:close/>
                  </a:path>
                </a:pathLst>
              </a:custGeom>
              <a:solidFill>
                <a:srgbClr val="12304A"/>
              </a:solidFill>
              <a:ln>
                <a:noFill/>
              </a:ln>
              <a:effectLst>
                <a:outerShdw blurRad="228600" dist="66675" dir="10799508" algn="tl" rotWithShape="0">
                  <a:srgbClr val="000000">
                    <a:alpha val="22000"/>
                  </a:srgbClr>
                </a:outerShdw>
              </a:effectLst>
            </p:spPr>
          </p:sp>
          <p:sp>
            <p:nvSpPr>
              <p:cNvPr id="53" name="Freeform 53"/>
              <p:cNvSpPr/>
              <p:nvPr/>
            </p:nvSpPr>
            <p:spPr>
              <a:xfrm>
                <a:off x="8553450" y="4476750"/>
                <a:ext cx="971550" cy="457200"/>
              </a:xfrm>
              <a:custGeom>
                <a:avLst/>
                <a:gdLst/>
                <a:ahLst/>
                <a:cxnLst/>
                <a:rect l="l" t="t" r="r" b="b"/>
                <a:pathLst>
                  <a:path w="971550" h="457200">
                    <a:moveTo>
                      <a:pt x="66675" y="0"/>
                    </a:moveTo>
                    <a:lnTo>
                      <a:pt x="904875" y="0"/>
                    </a:lnTo>
                    <a:cubicBezTo>
                      <a:pt x="941699" y="0"/>
                      <a:pt x="971550" y="29851"/>
                      <a:pt x="971550" y="66675"/>
                    </a:cubicBezTo>
                    <a:lnTo>
                      <a:pt x="971550" y="390525"/>
                    </a:lnTo>
                    <a:cubicBezTo>
                      <a:pt x="971550" y="427349"/>
                      <a:pt x="941699" y="457200"/>
                      <a:pt x="904875" y="457200"/>
                    </a:cubicBezTo>
                    <a:lnTo>
                      <a:pt x="66675" y="457200"/>
                    </a:lnTo>
                    <a:cubicBezTo>
                      <a:pt x="29851" y="457200"/>
                      <a:pt x="0" y="427349"/>
                      <a:pt x="0" y="390525"/>
                    </a:cubicBezTo>
                    <a:lnTo>
                      <a:pt x="0" y="66675"/>
                    </a:lnTo>
                    <a:cubicBezTo>
                      <a:pt x="0" y="29851"/>
                      <a:pt x="29851" y="0"/>
                      <a:pt x="66675" y="0"/>
                    </a:cubicBezTo>
                    <a:close/>
                  </a:path>
                </a:pathLst>
              </a:custGeom>
              <a:solidFill>
                <a:srgbClr val="12304A"/>
              </a:solidFill>
              <a:ln>
                <a:noFill/>
              </a:ln>
              <a:effectLst>
                <a:outerShdw blurRad="228600" dist="66675" dir="10799508" algn="tl" rotWithShape="0">
                  <a:srgbClr val="000000">
                    <a:alpha val="22000"/>
                  </a:srgbClr>
                </a:outerShdw>
              </a:effectLst>
            </p:spPr>
          </p:sp>
          <p:sp>
            <p:nvSpPr>
              <p:cNvPr id="54" name="Freeform 54"/>
              <p:cNvSpPr/>
              <p:nvPr/>
            </p:nvSpPr>
            <p:spPr>
              <a:xfrm>
                <a:off x="9601200" y="4476750"/>
                <a:ext cx="971550" cy="457200"/>
              </a:xfrm>
              <a:custGeom>
                <a:avLst/>
                <a:gdLst/>
                <a:ahLst/>
                <a:cxnLst/>
                <a:rect l="l" t="t" r="r" b="b"/>
                <a:pathLst>
                  <a:path w="971550" h="457200">
                    <a:moveTo>
                      <a:pt x="66675" y="0"/>
                    </a:moveTo>
                    <a:lnTo>
                      <a:pt x="904875" y="0"/>
                    </a:lnTo>
                    <a:cubicBezTo>
                      <a:pt x="941699" y="0"/>
                      <a:pt x="971550" y="29851"/>
                      <a:pt x="971550" y="66675"/>
                    </a:cubicBezTo>
                    <a:lnTo>
                      <a:pt x="971550" y="390525"/>
                    </a:lnTo>
                    <a:cubicBezTo>
                      <a:pt x="971550" y="427349"/>
                      <a:pt x="941699" y="457200"/>
                      <a:pt x="904875" y="457200"/>
                    </a:cubicBezTo>
                    <a:lnTo>
                      <a:pt x="66675" y="457200"/>
                    </a:lnTo>
                    <a:cubicBezTo>
                      <a:pt x="29851" y="457200"/>
                      <a:pt x="0" y="427349"/>
                      <a:pt x="0" y="390525"/>
                    </a:cubicBezTo>
                    <a:lnTo>
                      <a:pt x="0" y="66675"/>
                    </a:lnTo>
                    <a:cubicBezTo>
                      <a:pt x="0" y="29851"/>
                      <a:pt x="29851" y="0"/>
                      <a:pt x="66675" y="0"/>
                    </a:cubicBezTo>
                    <a:close/>
                  </a:path>
                </a:pathLst>
              </a:custGeom>
              <a:solidFill>
                <a:srgbClr val="12304A"/>
              </a:solidFill>
              <a:ln>
                <a:noFill/>
              </a:ln>
              <a:effectLst>
                <a:outerShdw blurRad="228600" dist="66675" dir="10799508" algn="tl" rotWithShape="0">
                  <a:srgbClr val="000000">
                    <a:alpha val="22000"/>
                  </a:srgbClr>
                </a:outerShdw>
              </a:effectLst>
            </p:spPr>
          </p:sp>
          <p:sp>
            <p:nvSpPr>
              <p:cNvPr id="55" name="Freeform 55"/>
              <p:cNvSpPr/>
              <p:nvPr/>
            </p:nvSpPr>
            <p:spPr>
              <a:xfrm>
                <a:off x="10648950" y="4476750"/>
                <a:ext cx="666750" cy="457200"/>
              </a:xfrm>
              <a:custGeom>
                <a:avLst/>
                <a:gdLst/>
                <a:ahLst/>
                <a:cxnLst/>
                <a:rect l="l" t="t" r="r" b="b"/>
                <a:pathLst>
                  <a:path w="666750" h="457200">
                    <a:moveTo>
                      <a:pt x="66675" y="0"/>
                    </a:moveTo>
                    <a:lnTo>
                      <a:pt x="600075" y="0"/>
                    </a:lnTo>
                    <a:cubicBezTo>
                      <a:pt x="636899" y="0"/>
                      <a:pt x="666750" y="29851"/>
                      <a:pt x="666750" y="66675"/>
                    </a:cubicBezTo>
                    <a:lnTo>
                      <a:pt x="666750" y="390525"/>
                    </a:lnTo>
                    <a:cubicBezTo>
                      <a:pt x="666750" y="427349"/>
                      <a:pt x="636899" y="457200"/>
                      <a:pt x="600075" y="457200"/>
                    </a:cubicBezTo>
                    <a:lnTo>
                      <a:pt x="66675" y="457200"/>
                    </a:lnTo>
                    <a:cubicBezTo>
                      <a:pt x="29851" y="457200"/>
                      <a:pt x="0" y="427349"/>
                      <a:pt x="0" y="390525"/>
                    </a:cubicBezTo>
                    <a:lnTo>
                      <a:pt x="0" y="66675"/>
                    </a:lnTo>
                    <a:cubicBezTo>
                      <a:pt x="0" y="29851"/>
                      <a:pt x="29851" y="0"/>
                      <a:pt x="66675" y="0"/>
                    </a:cubicBezTo>
                    <a:close/>
                  </a:path>
                </a:pathLst>
              </a:custGeom>
              <a:solidFill>
                <a:srgbClr val="12304A"/>
              </a:solidFill>
              <a:ln>
                <a:noFill/>
              </a:ln>
              <a:effectLst>
                <a:outerShdw blurRad="228600" dist="66675" dir="10799508" algn="tl" rotWithShape="0">
                  <a:srgbClr val="000000">
                    <a:alpha val="22000"/>
                  </a:srgbClr>
                </a:outerShdw>
              </a:effectLst>
            </p:spPr>
          </p:sp>
        </p:grpSp>
        <p:grpSp>
          <p:nvGrpSpPr>
            <p:cNvPr id="63" name="Group 63"/>
            <p:cNvGrpSpPr/>
            <p:nvPr/>
          </p:nvGrpSpPr>
          <p:grpSpPr>
            <a:xfrm>
              <a:off x="7505700" y="5257800"/>
              <a:ext cx="3434477" cy="207169"/>
              <a:chOff x="7505700" y="5257800"/>
              <a:chExt cx="3434477" cy="207169"/>
            </a:xfrm>
          </p:grpSpPr>
          <p:sp>
            <p:nvSpPr>
              <p:cNvPr id="57" name="Freeform 57"/>
              <p:cNvSpPr/>
              <p:nvPr/>
            </p:nvSpPr>
            <p:spPr>
              <a:xfrm>
                <a:off x="7505700" y="5257800"/>
                <a:ext cx="133350" cy="133350"/>
              </a:xfrm>
              <a:custGeom>
                <a:avLst/>
                <a:gdLst/>
                <a:ahLst/>
                <a:cxnLst/>
                <a:rect l="l" t="t" r="r" b="b"/>
                <a:pathLst>
                  <a:path w="133350" h="133350">
                    <a:moveTo>
                      <a:pt x="28575" y="0"/>
                    </a:moveTo>
                    <a:lnTo>
                      <a:pt x="104775" y="0"/>
                    </a:lnTo>
                    <a:cubicBezTo>
                      <a:pt x="120557" y="0"/>
                      <a:pt x="133350" y="12793"/>
                      <a:pt x="133350" y="28575"/>
                    </a:cubicBezTo>
                    <a:lnTo>
                      <a:pt x="133350" y="104775"/>
                    </a:lnTo>
                    <a:cubicBezTo>
                      <a:pt x="133350" y="120557"/>
                      <a:pt x="120557" y="133350"/>
                      <a:pt x="104775" y="133350"/>
                    </a:cubicBezTo>
                    <a:lnTo>
                      <a:pt x="28575" y="133350"/>
                    </a:lnTo>
                    <a:cubicBezTo>
                      <a:pt x="12793" y="133350"/>
                      <a:pt x="0" y="120557"/>
                      <a:pt x="0" y="104775"/>
                    </a:cubicBezTo>
                    <a:lnTo>
                      <a:pt x="0" y="28575"/>
                    </a:lnTo>
                    <a:cubicBezTo>
                      <a:pt x="0" y="12793"/>
                      <a:pt x="12793" y="0"/>
                      <a:pt x="28575" y="0"/>
                    </a:cubicBezTo>
                    <a:close/>
                  </a:path>
                </a:pathLst>
              </a:custGeom>
              <a:solidFill>
                <a:srgbClr val="12304A"/>
              </a:solidFill>
              <a:ln>
                <a:noFill/>
              </a:ln>
              <a:effectLst>
                <a:outerShdw blurRad="228600" dist="66675" dir="10799508" algn="tl" rotWithShape="0">
                  <a:srgbClr val="000000">
                    <a:alpha val="22000"/>
                  </a:srgbClr>
                </a:outerShdw>
              </a:effectLst>
            </p:spPr>
          </p:sp>
          <p:sp>
            <p:nvSpPr>
              <p:cNvPr id="58" name="TextBox 58"/>
              <p:cNvSpPr txBox="1"/>
              <p:nvPr/>
            </p:nvSpPr>
            <p:spPr>
              <a:xfrm>
                <a:off x="7721918" y="5266849"/>
                <a:ext cx="1085636" cy="198120"/>
              </a:xfrm>
              <a:prstGeom prst="rect">
                <a:avLst/>
              </a:prstGeom>
              <a:noFill/>
              <a:ln>
                <a:noFill/>
              </a:ln>
              <a:effectLst>
                <a:outerShdw blurRad="228600" dist="66675" dir="10799508" algn="tl" rotWithShape="0">
                  <a:srgbClr val="000000">
                    <a:alpha val="22000"/>
                  </a:srgbClr>
                </a:outerShdw>
              </a:effectLst>
            </p:spPr>
            <p:txBody>
              <a:bodyPr wrap="none" lIns="0" tIns="0" rIns="0" bIns="0" anchor="t" anchorCtr="0">
                <a:spAutoFit/>
              </a:bodyPr>
              <a:lstStyle/>
              <a:p>
                <a:pPr algn="l"/>
                <a:r>
                  <a:rPr lang="zh-CN" sz="975" dirty="0">
                    <a:solidFill>
                      <a:srgbClr val="5E6B75"/>
                    </a:solidFill>
                    <a:latin typeface="Calibri"/>
                    <a:ea typeface="Microsoft YaHei"/>
                    <a:cs typeface="Calibri"/>
                  </a:rPr>
                  <a:t>Protected peak</a:t>
                </a:r>
              </a:p>
            </p:txBody>
          </p:sp>
          <p:sp>
            <p:nvSpPr>
              <p:cNvPr id="59" name="Freeform 59"/>
              <p:cNvSpPr/>
              <p:nvPr/>
            </p:nvSpPr>
            <p:spPr>
              <a:xfrm>
                <a:off x="8839200" y="5257800"/>
                <a:ext cx="133350" cy="133350"/>
              </a:xfrm>
              <a:custGeom>
                <a:avLst/>
                <a:gdLst/>
                <a:ahLst/>
                <a:cxnLst/>
                <a:rect l="l" t="t" r="r" b="b"/>
                <a:pathLst>
                  <a:path w="133350" h="133350">
                    <a:moveTo>
                      <a:pt x="28575" y="0"/>
                    </a:moveTo>
                    <a:lnTo>
                      <a:pt x="104775" y="0"/>
                    </a:lnTo>
                    <a:cubicBezTo>
                      <a:pt x="120557" y="0"/>
                      <a:pt x="133350" y="12793"/>
                      <a:pt x="133350" y="28575"/>
                    </a:cubicBezTo>
                    <a:lnTo>
                      <a:pt x="133350" y="104775"/>
                    </a:lnTo>
                    <a:cubicBezTo>
                      <a:pt x="133350" y="120557"/>
                      <a:pt x="120557" y="133350"/>
                      <a:pt x="104775" y="133350"/>
                    </a:cubicBezTo>
                    <a:lnTo>
                      <a:pt x="28575" y="133350"/>
                    </a:lnTo>
                    <a:cubicBezTo>
                      <a:pt x="12793" y="133350"/>
                      <a:pt x="0" y="120557"/>
                      <a:pt x="0" y="104775"/>
                    </a:cubicBezTo>
                    <a:lnTo>
                      <a:pt x="0" y="28575"/>
                    </a:lnTo>
                    <a:cubicBezTo>
                      <a:pt x="0" y="12793"/>
                      <a:pt x="12793" y="0"/>
                      <a:pt x="28575" y="0"/>
                    </a:cubicBezTo>
                    <a:close/>
                  </a:path>
                </a:pathLst>
              </a:custGeom>
              <a:solidFill>
                <a:srgbClr val="B7E43C"/>
              </a:solidFill>
              <a:ln>
                <a:noFill/>
              </a:ln>
              <a:effectLst>
                <a:outerShdw blurRad="228600" dist="66675" dir="10799508" algn="tl" rotWithShape="0">
                  <a:srgbClr val="000000">
                    <a:alpha val="22000"/>
                  </a:srgbClr>
                </a:outerShdw>
              </a:effectLst>
            </p:spPr>
          </p:sp>
          <p:sp>
            <p:nvSpPr>
              <p:cNvPr id="60" name="TextBox 60"/>
              <p:cNvSpPr txBox="1"/>
              <p:nvPr/>
            </p:nvSpPr>
            <p:spPr>
              <a:xfrm>
                <a:off x="9055418" y="5266849"/>
                <a:ext cx="843558" cy="198120"/>
              </a:xfrm>
              <a:prstGeom prst="rect">
                <a:avLst/>
              </a:prstGeom>
              <a:noFill/>
              <a:ln>
                <a:noFill/>
              </a:ln>
              <a:effectLst>
                <a:outerShdw blurRad="228600" dist="66675" dir="10799508" algn="tl" rotWithShape="0">
                  <a:srgbClr val="000000">
                    <a:alpha val="22000"/>
                  </a:srgbClr>
                </a:outerShdw>
              </a:effectLst>
            </p:spPr>
            <p:txBody>
              <a:bodyPr wrap="none" lIns="0" tIns="0" rIns="0" bIns="0" anchor="t" anchorCtr="0">
                <a:spAutoFit/>
              </a:bodyPr>
              <a:lstStyle/>
              <a:p>
                <a:pPr algn="l"/>
                <a:r>
                  <a:rPr lang="zh-CN" sz="975" dirty="0">
                    <a:solidFill>
                      <a:srgbClr val="5E6B75"/>
                    </a:solidFill>
                    <a:latin typeface="Calibri"/>
                    <a:ea typeface="Microsoft YaHei"/>
                    <a:cs typeface="Calibri"/>
                  </a:rPr>
                  <a:t>New booking</a:t>
                </a:r>
              </a:p>
            </p:txBody>
          </p:sp>
          <p:sp>
            <p:nvSpPr>
              <p:cNvPr id="61" name="Freeform 61"/>
              <p:cNvSpPr/>
              <p:nvPr/>
            </p:nvSpPr>
            <p:spPr>
              <a:xfrm>
                <a:off x="10058400" y="5257800"/>
                <a:ext cx="133350" cy="133350"/>
              </a:xfrm>
              <a:custGeom>
                <a:avLst/>
                <a:gdLst/>
                <a:ahLst/>
                <a:cxnLst/>
                <a:rect l="l" t="t" r="r" b="b"/>
                <a:pathLst>
                  <a:path w="133350" h="133350">
                    <a:moveTo>
                      <a:pt x="28575" y="0"/>
                    </a:moveTo>
                    <a:lnTo>
                      <a:pt x="104775" y="0"/>
                    </a:lnTo>
                    <a:cubicBezTo>
                      <a:pt x="120557" y="0"/>
                      <a:pt x="133350" y="12793"/>
                      <a:pt x="133350" y="28575"/>
                    </a:cubicBezTo>
                    <a:lnTo>
                      <a:pt x="133350" y="104775"/>
                    </a:lnTo>
                    <a:cubicBezTo>
                      <a:pt x="133350" y="120557"/>
                      <a:pt x="120557" y="133350"/>
                      <a:pt x="104775" y="133350"/>
                    </a:cubicBezTo>
                    <a:lnTo>
                      <a:pt x="28575" y="133350"/>
                    </a:lnTo>
                    <a:cubicBezTo>
                      <a:pt x="12793" y="133350"/>
                      <a:pt x="0" y="120557"/>
                      <a:pt x="0" y="104775"/>
                    </a:cubicBezTo>
                    <a:lnTo>
                      <a:pt x="0" y="28575"/>
                    </a:lnTo>
                    <a:cubicBezTo>
                      <a:pt x="0" y="12793"/>
                      <a:pt x="12793" y="0"/>
                      <a:pt x="28575" y="0"/>
                    </a:cubicBezTo>
                    <a:close/>
                  </a:path>
                </a:pathLst>
              </a:custGeom>
              <a:solidFill>
                <a:srgbClr val="EAF0ED"/>
              </a:solidFill>
              <a:ln>
                <a:noFill/>
              </a:ln>
              <a:effectLst>
                <a:outerShdw blurRad="228600" dist="66675" dir="10799508" algn="tl" rotWithShape="0">
                  <a:srgbClr val="000000">
                    <a:alpha val="22000"/>
                  </a:srgbClr>
                </a:outerShdw>
              </a:effectLst>
            </p:spPr>
          </p:sp>
          <p:sp>
            <p:nvSpPr>
              <p:cNvPr id="62" name="TextBox 62"/>
              <p:cNvSpPr txBox="1"/>
              <p:nvPr/>
            </p:nvSpPr>
            <p:spPr>
              <a:xfrm>
                <a:off x="10274618" y="5266849"/>
                <a:ext cx="665559" cy="198120"/>
              </a:xfrm>
              <a:prstGeom prst="rect">
                <a:avLst/>
              </a:prstGeom>
              <a:noFill/>
              <a:ln>
                <a:noFill/>
              </a:ln>
              <a:effectLst>
                <a:outerShdw blurRad="228600" dist="66675" dir="10799508" algn="tl" rotWithShape="0">
                  <a:srgbClr val="000000">
                    <a:alpha val="22000"/>
                  </a:srgbClr>
                </a:outerShdw>
              </a:effectLst>
            </p:spPr>
            <p:txBody>
              <a:bodyPr wrap="none" lIns="0" tIns="0" rIns="0" bIns="0" anchor="t" anchorCtr="0">
                <a:spAutoFit/>
              </a:bodyPr>
              <a:lstStyle/>
              <a:p>
                <a:pPr algn="l"/>
                <a:r>
                  <a:rPr lang="zh-CN" sz="975" dirty="0">
                    <a:solidFill>
                      <a:srgbClr val="5E6B75"/>
                    </a:solidFill>
                    <a:latin typeface="Calibri"/>
                    <a:ea typeface="Microsoft YaHei"/>
                    <a:cs typeface="Calibri"/>
                  </a:rPr>
                  <a:t>Still open</a:t>
                </a:r>
              </a:p>
            </p:txBody>
          </p:sp>
        </p:grpSp>
      </p:grpSp>
      <p:grpSp>
        <p:nvGrpSpPr>
          <p:cNvPr id="67" name="Group 67"/>
          <p:cNvGrpSpPr/>
          <p:nvPr/>
        </p:nvGrpSpPr>
        <p:grpSpPr>
          <a:xfrm>
            <a:off x="598170" y="6417945"/>
            <a:ext cx="10995660" cy="182880"/>
            <a:chOff x="598170" y="6417945"/>
            <a:chExt cx="10995660" cy="182880"/>
          </a:xfrm>
        </p:grpSpPr>
        <p:sp>
          <p:nvSpPr>
            <p:cNvPr id="65" name="TextBox 65"/>
            <p:cNvSpPr txBox="1"/>
            <p:nvPr/>
          </p:nvSpPr>
          <p:spPr>
            <a:xfrm>
              <a:off x="598170" y="6417945"/>
              <a:ext cx="2822638" cy="182880"/>
            </a:xfrm>
            <a:prstGeom prst="rect">
              <a:avLst/>
            </a:prstGeom>
            <a:noFill/>
            <a:ln>
              <a:noFill/>
            </a:ln>
          </p:spPr>
          <p:txBody>
            <a:bodyPr wrap="none" lIns="0" tIns="0" rIns="0" bIns="0" anchor="t" anchorCtr="0">
              <a:spAutoFit/>
            </a:bodyPr>
            <a:lstStyle/>
            <a:p>
              <a:pPr algn="l"/>
              <a:r>
                <a:rPr lang="zh-CN" sz="900" dirty="0">
                  <a:solidFill>
                    <a:srgbClr val="9FB0A9"/>
                  </a:solidFill>
                  <a:latin typeface="Calibri"/>
                  <a:ea typeface="Microsoft YaHei"/>
                  <a:cs typeface="Calibri"/>
                </a:rPr>
                <a:t>Occupancy prototype validation • June 2026</a:t>
              </a:r>
            </a:p>
          </p:txBody>
        </p:sp>
        <p:sp>
          <p:nvSpPr>
            <p:cNvPr id="66" name="TextBox 66"/>
            <p:cNvSpPr txBox="1"/>
            <p:nvPr/>
          </p:nvSpPr>
          <p:spPr>
            <a:xfrm>
              <a:off x="11459242" y="6417945"/>
              <a:ext cx="134588" cy="182880"/>
            </a:xfrm>
            <a:prstGeom prst="rect">
              <a:avLst/>
            </a:prstGeom>
            <a:noFill/>
            <a:ln>
              <a:noFill/>
            </a:ln>
          </p:spPr>
          <p:txBody>
            <a:bodyPr wrap="none" lIns="0" tIns="0" rIns="0" bIns="0" anchor="t" anchorCtr="0">
              <a:spAutoFit/>
            </a:bodyPr>
            <a:lstStyle/>
            <a:p>
              <a:pPr algn="r"/>
              <a:r>
                <a:rPr lang="zh-CN" sz="900" dirty="0">
                  <a:solidFill>
                    <a:srgbClr val="9FB0A9"/>
                  </a:solidFill>
                  <a:latin typeface="Arial"/>
                  <a:ea typeface="Microsoft YaHei"/>
                  <a:cs typeface="Arial"/>
                </a:rPr>
                <a:t>01</a:t>
              </a:r>
            </a:p>
          </p:txBody>
        </p:sp>
      </p:grpSp>
    </p:spTree>
  </p:cSld>
  <p:clrMapOvr>
    <a:masterClrMapping/>
  </p:clrMapOvr>
  <p:transition 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8F7"/>
          </a:solidFill>
          <a:ln>
            <a:noFill/>
          </a:ln>
        </p:spPr>
      </p:sp>
      <p:sp>
        <p:nvSpPr>
          <p:cNvPr id="3" name="Rectangle 3"/>
          <p:cNvSpPr/>
          <p:nvPr/>
        </p:nvSpPr>
        <p:spPr>
          <a:xfrm>
            <a:off x="0" y="0"/>
            <a:ext cx="12192000" cy="66675"/>
          </a:xfrm>
          <a:prstGeom prst="rect">
            <a:avLst/>
          </a:prstGeom>
          <a:solidFill>
            <a:srgbClr val="17A673"/>
          </a:solidFill>
          <a:ln>
            <a:noFill/>
          </a:ln>
        </p:spPr>
      </p:sp>
      <p:grpSp>
        <p:nvGrpSpPr>
          <p:cNvPr id="7" name="Group 7"/>
          <p:cNvGrpSpPr/>
          <p:nvPr/>
        </p:nvGrpSpPr>
        <p:grpSpPr>
          <a:xfrm>
            <a:off x="501015" y="248602"/>
            <a:ext cx="11157585" cy="894398"/>
            <a:chOff x="501015" y="248602"/>
            <a:chExt cx="11157585" cy="894398"/>
          </a:xfrm>
        </p:grpSpPr>
        <p:sp>
          <p:nvSpPr>
            <p:cNvPr id="4" name="TextBox 4"/>
            <p:cNvSpPr txBox="1"/>
            <p:nvPr/>
          </p:nvSpPr>
          <p:spPr>
            <a:xfrm>
              <a:off x="501015" y="248602"/>
              <a:ext cx="10134279" cy="518160"/>
            </a:xfrm>
            <a:prstGeom prst="rect">
              <a:avLst/>
            </a:prstGeom>
            <a:noFill/>
            <a:ln>
              <a:noFill/>
            </a:ln>
          </p:spPr>
          <p:txBody>
            <a:bodyPr wrap="none" lIns="0" tIns="0" rIns="0" bIns="0" anchor="t" anchorCtr="0">
              <a:spAutoFit/>
            </a:bodyPr>
            <a:lstStyle/>
            <a:p>
              <a:pPr algn="l"/>
              <a:r>
                <a:rPr lang="zh-CN" sz="2550" b="1" dirty="0">
                  <a:solidFill>
                    <a:srgbClr val="12304A"/>
                  </a:solidFill>
                  <a:latin typeface="Arial"/>
                  <a:ea typeface="Microsoft YaHei"/>
                  <a:cs typeface="Arial"/>
                </a:rPr>
                <a:t>Players Are Searching While Courts Are Sitting Empty</a:t>
              </a:r>
            </a:p>
          </p:txBody>
        </p:sp>
        <p:sp>
          <p:nvSpPr>
            <p:cNvPr id="5" name="Freeform 5"/>
            <p:cNvSpPr/>
            <p:nvPr/>
          </p:nvSpPr>
          <p:spPr>
            <a:xfrm>
              <a:off x="533400" y="723900"/>
              <a:ext cx="11125200" cy="419100"/>
            </a:xfrm>
            <a:custGeom>
              <a:avLst/>
              <a:gdLst/>
              <a:ahLst/>
              <a:cxnLst/>
              <a:rect l="l" t="t" r="r" b="b"/>
              <a:pathLst>
                <a:path w="11125200" h="419100">
                  <a:moveTo>
                    <a:pt x="66675" y="0"/>
                  </a:moveTo>
                  <a:lnTo>
                    <a:pt x="11058525" y="0"/>
                  </a:lnTo>
                  <a:cubicBezTo>
                    <a:pt x="11095349" y="0"/>
                    <a:pt x="11125200" y="29851"/>
                    <a:pt x="11125200" y="66675"/>
                  </a:cubicBezTo>
                  <a:lnTo>
                    <a:pt x="11125200" y="352425"/>
                  </a:lnTo>
                  <a:cubicBezTo>
                    <a:pt x="11125200" y="389249"/>
                    <a:pt x="11095349" y="419100"/>
                    <a:pt x="11058525" y="419100"/>
                  </a:cubicBezTo>
                  <a:lnTo>
                    <a:pt x="66675" y="419100"/>
                  </a:lnTo>
                  <a:cubicBezTo>
                    <a:pt x="29851" y="419100"/>
                    <a:pt x="0" y="389249"/>
                    <a:pt x="0" y="352425"/>
                  </a:cubicBezTo>
                  <a:lnTo>
                    <a:pt x="0" y="66675"/>
                  </a:lnTo>
                  <a:cubicBezTo>
                    <a:pt x="0" y="29851"/>
                    <a:pt x="29851" y="0"/>
                    <a:pt x="66675" y="0"/>
                  </a:cubicBezTo>
                  <a:close/>
                </a:path>
              </a:pathLst>
            </a:custGeom>
            <a:solidFill>
              <a:srgbClr val="12304A"/>
            </a:solidFill>
            <a:ln>
              <a:noFill/>
            </a:ln>
          </p:spPr>
        </p:sp>
        <p:sp>
          <p:nvSpPr>
            <p:cNvPr id="6" name="TextBox 6"/>
            <p:cNvSpPr txBox="1"/>
            <p:nvPr/>
          </p:nvSpPr>
          <p:spPr>
            <a:xfrm>
              <a:off x="706755" y="844868"/>
              <a:ext cx="7342303"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Calibri"/>
                  <a:ea typeface="Microsoft YaHei"/>
                  <a:cs typeface="Calibri"/>
                </a:rPr>
                <a:t>Both sides have intent, but no shared live decision layer connects them.</a:t>
              </a:r>
            </a:p>
          </p:txBody>
        </p:sp>
      </p:grpSp>
      <p:grpSp>
        <p:nvGrpSpPr>
          <p:cNvPr id="39" name="Group 39"/>
          <p:cNvGrpSpPr/>
          <p:nvPr/>
        </p:nvGrpSpPr>
        <p:grpSpPr>
          <a:xfrm>
            <a:off x="533400" y="1428750"/>
            <a:ext cx="5388102" cy="4514850"/>
            <a:chOff x="533400" y="1428750"/>
            <a:chExt cx="5388102" cy="4514850"/>
          </a:xfrm>
          <a:effectLst>
            <a:outerShdw blurRad="171450" dist="47625" dir="10799312" algn="tl" rotWithShape="0">
              <a:srgbClr val="12304A">
                <a:alpha val="12000"/>
              </a:srgbClr>
            </a:outerShdw>
          </a:effectLst>
        </p:grpSpPr>
        <p:sp>
          <p:nvSpPr>
            <p:cNvPr id="8" name="Freeform 8"/>
            <p:cNvSpPr/>
            <p:nvPr/>
          </p:nvSpPr>
          <p:spPr>
            <a:xfrm>
              <a:off x="533400" y="1428750"/>
              <a:ext cx="4762500" cy="4514850"/>
            </a:xfrm>
            <a:custGeom>
              <a:avLst/>
              <a:gdLst/>
              <a:ahLst/>
              <a:cxnLst/>
              <a:rect l="l" t="t" r="r" b="b"/>
              <a:pathLst>
                <a:path w="4762500" h="4514850">
                  <a:moveTo>
                    <a:pt x="152400" y="0"/>
                  </a:moveTo>
                  <a:lnTo>
                    <a:pt x="4610100" y="0"/>
                  </a:lnTo>
                  <a:cubicBezTo>
                    <a:pt x="4694268" y="0"/>
                    <a:pt x="4762500" y="68232"/>
                    <a:pt x="4762500" y="152400"/>
                  </a:cubicBezTo>
                  <a:lnTo>
                    <a:pt x="4762500" y="4362450"/>
                  </a:lnTo>
                  <a:cubicBezTo>
                    <a:pt x="4762500" y="4446618"/>
                    <a:pt x="4694268" y="4514850"/>
                    <a:pt x="4610100" y="4514850"/>
                  </a:cubicBezTo>
                  <a:lnTo>
                    <a:pt x="152400" y="4514850"/>
                  </a:lnTo>
                  <a:cubicBezTo>
                    <a:pt x="68232" y="4514850"/>
                    <a:pt x="0" y="4446618"/>
                    <a:pt x="0" y="4362450"/>
                  </a:cubicBezTo>
                  <a:lnTo>
                    <a:pt x="0" y="152400"/>
                  </a:lnTo>
                  <a:cubicBezTo>
                    <a:pt x="0" y="68232"/>
                    <a:pt x="68232" y="0"/>
                    <a:pt x="152400" y="0"/>
                  </a:cubicBezTo>
                  <a:close/>
                </a:path>
              </a:pathLst>
            </a:custGeom>
            <a:solidFill>
              <a:srgbClr val="FFFFFF"/>
            </a:solidFill>
            <a:ln>
              <a:noFill/>
            </a:ln>
            <a:effectLst>
              <a:outerShdw blurRad="171450" dist="47625" dir="10799312" algn="tl" rotWithShape="0">
                <a:srgbClr val="12304A">
                  <a:alpha val="12000"/>
                </a:srgbClr>
              </a:outerShdw>
            </a:effectLst>
          </p:spPr>
        </p:sp>
        <p:sp>
          <p:nvSpPr>
            <p:cNvPr id="9" name="Freeform 9"/>
            <p:cNvSpPr/>
            <p:nvPr/>
          </p:nvSpPr>
          <p:spPr>
            <a:xfrm>
              <a:off x="533400" y="1428750"/>
              <a:ext cx="4762500" cy="685800"/>
            </a:xfrm>
            <a:custGeom>
              <a:avLst/>
              <a:gdLst/>
              <a:ahLst/>
              <a:cxnLst/>
              <a:rect l="l" t="t" r="r" b="b"/>
              <a:pathLst>
                <a:path w="4762500" h="685800">
                  <a:moveTo>
                    <a:pt x="152400" y="0"/>
                  </a:moveTo>
                  <a:lnTo>
                    <a:pt x="4610100" y="0"/>
                  </a:lnTo>
                  <a:cubicBezTo>
                    <a:pt x="4694268" y="0"/>
                    <a:pt x="4762500" y="68232"/>
                    <a:pt x="4762500" y="152400"/>
                  </a:cubicBezTo>
                  <a:lnTo>
                    <a:pt x="4762500" y="533400"/>
                  </a:lnTo>
                  <a:cubicBezTo>
                    <a:pt x="4762500" y="617568"/>
                    <a:pt x="4694268" y="685800"/>
                    <a:pt x="4610100" y="685800"/>
                  </a:cubicBezTo>
                  <a:lnTo>
                    <a:pt x="152400" y="685800"/>
                  </a:lnTo>
                  <a:cubicBezTo>
                    <a:pt x="68232" y="685800"/>
                    <a:pt x="0" y="617568"/>
                    <a:pt x="0" y="533400"/>
                  </a:cubicBezTo>
                  <a:lnTo>
                    <a:pt x="0" y="152400"/>
                  </a:lnTo>
                  <a:cubicBezTo>
                    <a:pt x="0" y="68232"/>
                    <a:pt x="68232" y="0"/>
                    <a:pt x="152400" y="0"/>
                  </a:cubicBezTo>
                  <a:close/>
                </a:path>
              </a:pathLst>
            </a:custGeom>
            <a:solidFill>
              <a:srgbClr val="EAF0ED"/>
            </a:solidFill>
            <a:ln>
              <a:noFill/>
            </a:ln>
            <a:effectLst>
              <a:outerShdw blurRad="171450" dist="47625" dir="10799312" algn="tl" rotWithShape="0">
                <a:srgbClr val="12304A">
                  <a:alpha val="12000"/>
                </a:srgbClr>
              </a:outerShdw>
            </a:effectLst>
          </p:spPr>
        </p:sp>
        <p:sp>
          <p:nvSpPr>
            <p:cNvPr id="10" name="Rectangle 10"/>
            <p:cNvSpPr/>
            <p:nvPr/>
          </p:nvSpPr>
          <p:spPr>
            <a:xfrm>
              <a:off x="533400" y="1962150"/>
              <a:ext cx="4762500" cy="152400"/>
            </a:xfrm>
            <a:prstGeom prst="rect">
              <a:avLst/>
            </a:prstGeom>
            <a:solidFill>
              <a:srgbClr val="EAF0ED"/>
            </a:solidFill>
            <a:ln>
              <a:noFill/>
            </a:ln>
            <a:effectLst>
              <a:outerShdw blurRad="171450" dist="47625" dir="10799312" algn="tl" rotWithShape="0">
                <a:srgbClr val="12304A">
                  <a:alpha val="12000"/>
                </a:srgbClr>
              </a:outerShdw>
            </a:effectLst>
          </p:spPr>
        </p:sp>
        <p:grpSp>
          <p:nvGrpSpPr>
            <p:cNvPr id="15" name="Group 15"/>
            <p:cNvGrpSpPr/>
            <p:nvPr/>
          </p:nvGrpSpPr>
          <p:grpSpPr>
            <a:xfrm>
              <a:off x="800100" y="1621631"/>
              <a:ext cx="342900" cy="300038"/>
              <a:chOff x="800100" y="1621631"/>
              <a:chExt cx="342900" cy="300038"/>
            </a:xfrm>
          </p:grpSpPr>
          <p:sp>
            <p:nvSpPr>
              <p:cNvPr id="11" name="Freeform 11"/>
              <p:cNvSpPr/>
              <p:nvPr/>
            </p:nvSpPr>
            <p:spPr>
              <a:xfrm>
                <a:off x="864394" y="1621631"/>
                <a:ext cx="107156" cy="107156"/>
              </a:xfrm>
              <a:custGeom>
                <a:avLst/>
                <a:gdLst/>
                <a:ahLst/>
                <a:cxnLst/>
                <a:rect l="l" t="t" r="r" b="b"/>
                <a:pathLst>
                  <a:path w="107156" h="107156">
                    <a:moveTo>
                      <a:pt x="107156" y="53578"/>
                    </a:moveTo>
                    <a:cubicBezTo>
                      <a:pt x="107156" y="83168"/>
                      <a:pt x="83168" y="107156"/>
                      <a:pt x="53578" y="107156"/>
                    </a:cubicBezTo>
                    <a:cubicBezTo>
                      <a:pt x="23988" y="107156"/>
                      <a:pt x="0" y="83168"/>
                      <a:pt x="0" y="53578"/>
                    </a:cubicBezTo>
                    <a:cubicBezTo>
                      <a:pt x="0" y="23988"/>
                      <a:pt x="23988" y="0"/>
                      <a:pt x="53578" y="0"/>
                    </a:cubicBezTo>
                    <a:cubicBezTo>
                      <a:pt x="83168" y="0"/>
                      <a:pt x="107156" y="23988"/>
                      <a:pt x="107156" y="53578"/>
                    </a:cubicBezTo>
                    <a:close/>
                  </a:path>
                </a:pathLst>
              </a:custGeom>
              <a:solidFill>
                <a:srgbClr val="17A673"/>
              </a:solidFill>
              <a:ln>
                <a:noFill/>
              </a:ln>
              <a:effectLst>
                <a:outerShdw blurRad="171450" dist="47625" dir="10799312" algn="tl" rotWithShape="0">
                  <a:srgbClr val="12304A">
                    <a:alpha val="12000"/>
                  </a:srgbClr>
                </a:outerShdw>
              </a:effectLst>
            </p:spPr>
          </p:sp>
          <p:sp>
            <p:nvSpPr>
              <p:cNvPr id="12" name="Freeform 12"/>
              <p:cNvSpPr/>
              <p:nvPr/>
            </p:nvSpPr>
            <p:spPr>
              <a:xfrm>
                <a:off x="800100" y="1771650"/>
                <a:ext cx="171450" cy="150019"/>
              </a:xfrm>
              <a:custGeom>
                <a:avLst/>
                <a:gdLst/>
                <a:ahLst/>
                <a:cxnLst/>
                <a:rect l="l" t="t" r="r" b="b"/>
                <a:pathLst>
                  <a:path w="171450" h="150019">
                    <a:moveTo>
                      <a:pt x="64294" y="0"/>
                    </a:moveTo>
                    <a:cubicBezTo>
                      <a:pt x="28785" y="0"/>
                      <a:pt x="0" y="28785"/>
                      <a:pt x="0" y="64294"/>
                    </a:cubicBezTo>
                    <a:lnTo>
                      <a:pt x="0" y="150019"/>
                    </a:lnTo>
                    <a:lnTo>
                      <a:pt x="171450" y="150019"/>
                    </a:lnTo>
                    <a:lnTo>
                      <a:pt x="171450" y="0"/>
                    </a:lnTo>
                    <a:lnTo>
                      <a:pt x="64294" y="0"/>
                    </a:lnTo>
                    <a:close/>
                  </a:path>
                </a:pathLst>
              </a:custGeom>
              <a:solidFill>
                <a:srgbClr val="17A673"/>
              </a:solidFill>
              <a:ln>
                <a:noFill/>
              </a:ln>
              <a:effectLst>
                <a:outerShdw blurRad="171450" dist="47625" dir="10799312" algn="tl" rotWithShape="0">
                  <a:srgbClr val="12304A">
                    <a:alpha val="12000"/>
                  </a:srgbClr>
                </a:outerShdw>
              </a:effectLst>
            </p:spPr>
          </p:sp>
          <p:sp>
            <p:nvSpPr>
              <p:cNvPr id="13" name="Freeform 13"/>
              <p:cNvSpPr/>
              <p:nvPr/>
            </p:nvSpPr>
            <p:spPr>
              <a:xfrm>
                <a:off x="1014412" y="1771650"/>
                <a:ext cx="128588" cy="150019"/>
              </a:xfrm>
              <a:custGeom>
                <a:avLst/>
                <a:gdLst/>
                <a:ahLst/>
                <a:cxnLst/>
                <a:rect l="l" t="t" r="r" b="b"/>
                <a:pathLst>
                  <a:path w="128588" h="150019">
                    <a:moveTo>
                      <a:pt x="64294" y="0"/>
                    </a:moveTo>
                    <a:lnTo>
                      <a:pt x="0" y="0"/>
                    </a:lnTo>
                    <a:lnTo>
                      <a:pt x="0" y="150019"/>
                    </a:lnTo>
                    <a:lnTo>
                      <a:pt x="128588" y="150019"/>
                    </a:lnTo>
                    <a:lnTo>
                      <a:pt x="128588" y="64294"/>
                    </a:lnTo>
                    <a:cubicBezTo>
                      <a:pt x="128588" y="28785"/>
                      <a:pt x="99803" y="0"/>
                      <a:pt x="64294" y="0"/>
                    </a:cubicBezTo>
                    <a:close/>
                  </a:path>
                </a:pathLst>
              </a:custGeom>
              <a:solidFill>
                <a:srgbClr val="17A673"/>
              </a:solidFill>
              <a:ln>
                <a:noFill/>
              </a:ln>
              <a:effectLst>
                <a:outerShdw blurRad="171450" dist="47625" dir="10799312" algn="tl" rotWithShape="0">
                  <a:srgbClr val="12304A">
                    <a:alpha val="12000"/>
                  </a:srgbClr>
                </a:outerShdw>
              </a:effectLst>
            </p:spPr>
          </p:sp>
          <p:sp>
            <p:nvSpPr>
              <p:cNvPr id="14" name="Freeform 14"/>
              <p:cNvSpPr/>
              <p:nvPr/>
            </p:nvSpPr>
            <p:spPr>
              <a:xfrm>
                <a:off x="1014412" y="1643062"/>
                <a:ext cx="85725" cy="85725"/>
              </a:xfrm>
              <a:custGeom>
                <a:avLst/>
                <a:gdLst/>
                <a:ahLst/>
                <a:cxnLst/>
                <a:rect l="l" t="t" r="r" b="b"/>
                <a:pathLst>
                  <a:path w="85725" h="85725">
                    <a:moveTo>
                      <a:pt x="42862" y="85725"/>
                    </a:moveTo>
                    <a:cubicBezTo>
                      <a:pt x="66535" y="85725"/>
                      <a:pt x="85725" y="66535"/>
                      <a:pt x="85725" y="42862"/>
                    </a:cubicBezTo>
                    <a:cubicBezTo>
                      <a:pt x="85725" y="19190"/>
                      <a:pt x="66535" y="0"/>
                      <a:pt x="42862" y="0"/>
                    </a:cubicBezTo>
                    <a:cubicBezTo>
                      <a:pt x="19190" y="0"/>
                      <a:pt x="0" y="19190"/>
                      <a:pt x="0" y="42862"/>
                    </a:cubicBezTo>
                    <a:cubicBezTo>
                      <a:pt x="0" y="66535"/>
                      <a:pt x="19190" y="85725"/>
                      <a:pt x="42862" y="85725"/>
                    </a:cubicBezTo>
                    <a:close/>
                  </a:path>
                </a:pathLst>
              </a:custGeom>
              <a:solidFill>
                <a:srgbClr val="17A673"/>
              </a:solidFill>
              <a:ln>
                <a:noFill/>
              </a:ln>
              <a:effectLst>
                <a:outerShdw blurRad="171450" dist="47625" dir="10799312" algn="tl" rotWithShape="0">
                  <a:srgbClr val="12304A">
                    <a:alpha val="12000"/>
                  </a:srgbClr>
                </a:outerShdw>
              </a:effectLst>
            </p:spPr>
          </p:sp>
        </p:grpSp>
        <p:sp>
          <p:nvSpPr>
            <p:cNvPr id="16" name="TextBox 16"/>
            <p:cNvSpPr txBox="1"/>
            <p:nvPr/>
          </p:nvSpPr>
          <p:spPr>
            <a:xfrm>
              <a:off x="1273492" y="1661636"/>
              <a:ext cx="1882320" cy="35052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l"/>
              <a:r>
                <a:rPr lang="zh-CN" sz="1725" b="1" dirty="0">
                  <a:solidFill>
                    <a:srgbClr val="17212B"/>
                  </a:solidFill>
                  <a:latin typeface="Arial"/>
                  <a:ea typeface="Microsoft YaHei"/>
                  <a:cs typeface="Arial"/>
                </a:rPr>
                <a:t>Player journey</a:t>
              </a:r>
            </a:p>
          </p:txBody>
        </p:sp>
        <p:grpSp>
          <p:nvGrpSpPr>
            <p:cNvPr id="36" name="Group 36"/>
            <p:cNvGrpSpPr/>
            <p:nvPr/>
          </p:nvGrpSpPr>
          <p:grpSpPr>
            <a:xfrm>
              <a:off x="790575" y="2330768"/>
              <a:ext cx="5130927" cy="2946082"/>
              <a:chOff x="790575" y="2330768"/>
              <a:chExt cx="5130927" cy="2946082"/>
            </a:xfrm>
          </p:grpSpPr>
          <p:sp>
            <p:nvSpPr>
              <p:cNvPr id="17" name="Ellipse 17"/>
              <p:cNvSpPr/>
              <p:nvPr/>
            </p:nvSpPr>
            <p:spPr>
              <a:xfrm>
                <a:off x="790575" y="2352675"/>
                <a:ext cx="361950" cy="361950"/>
              </a:xfrm>
              <a:prstGeom prst="ellipse">
                <a:avLst/>
              </a:prstGeom>
              <a:solidFill>
                <a:srgbClr val="12304A"/>
              </a:solidFill>
              <a:ln>
                <a:noFill/>
              </a:ln>
              <a:effectLst>
                <a:outerShdw blurRad="171450" dist="47625" dir="10799312" algn="tl" rotWithShape="0">
                  <a:srgbClr val="12304A">
                    <a:alpha val="12000"/>
                  </a:srgbClr>
                </a:outerShdw>
              </a:effectLst>
            </p:spPr>
          </p:sp>
          <p:sp>
            <p:nvSpPr>
              <p:cNvPr id="18" name="TextBox 18"/>
              <p:cNvSpPr txBox="1"/>
              <p:nvPr/>
            </p:nvSpPr>
            <p:spPr>
              <a:xfrm>
                <a:off x="931384" y="2469356"/>
                <a:ext cx="80331" cy="22860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ctr"/>
                <a:r>
                  <a:rPr lang="zh-CN" sz="1125" b="1" dirty="0">
                    <a:solidFill>
                      <a:srgbClr val="FFFFFF"/>
                    </a:solidFill>
                    <a:latin typeface="Calibri"/>
                    <a:ea typeface="Microsoft YaHei"/>
                    <a:cs typeface="Calibri"/>
                  </a:rPr>
                  <a:t>1</a:t>
                </a:r>
              </a:p>
            </p:txBody>
          </p:sp>
          <p:sp>
            <p:nvSpPr>
              <p:cNvPr id="19" name="TextBox 19"/>
              <p:cNvSpPr txBox="1"/>
              <p:nvPr/>
            </p:nvSpPr>
            <p:spPr>
              <a:xfrm>
                <a:off x="1297305" y="2330768"/>
                <a:ext cx="3760756" cy="27432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l"/>
                <a:r>
                  <a:rPr lang="zh-CN" sz="1350" b="1" dirty="0">
                    <a:solidFill>
                      <a:srgbClr val="17212B"/>
                    </a:solidFill>
                    <a:latin typeface="Calibri"/>
                    <a:ea typeface="Microsoft YaHei"/>
                    <a:cs typeface="Calibri"/>
                  </a:rPr>
                  <a:t>Search across disconnected channels</a:t>
                </a:r>
              </a:p>
            </p:txBody>
          </p:sp>
          <p:sp>
            <p:nvSpPr>
              <p:cNvPr id="20" name="TextBox 20"/>
              <p:cNvSpPr txBox="1"/>
              <p:nvPr/>
            </p:nvSpPr>
            <p:spPr>
              <a:xfrm>
                <a:off x="1299210" y="2575560"/>
                <a:ext cx="3894963" cy="24384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l"/>
                <a:r>
                  <a:rPr lang="zh-CN" sz="1200" dirty="0">
                    <a:solidFill>
                      <a:srgbClr val="5E6B75"/>
                    </a:solidFill>
                    <a:latin typeface="Calibri"/>
                    <a:ea typeface="Microsoft YaHei"/>
                    <a:cs typeface="Calibri"/>
                  </a:rPr>
                  <a:t>Zalo, Messenger, Facebook groups, contacts</a:t>
                </a:r>
              </a:p>
            </p:txBody>
          </p:sp>
          <p:sp>
            <p:nvSpPr>
              <p:cNvPr id="21" name="Line 21"/>
              <p:cNvSpPr/>
              <p:nvPr/>
            </p:nvSpPr>
            <p:spPr>
              <a:xfrm>
                <a:off x="971550" y="2733675"/>
                <a:ext cx="9525" cy="409575"/>
              </a:xfrm>
              <a:custGeom>
                <a:avLst/>
                <a:gdLst/>
                <a:ahLst/>
                <a:cxnLst/>
                <a:rect l="l" t="t" r="r" b="b"/>
                <a:pathLst>
                  <a:path w="9525" h="409575">
                    <a:moveTo>
                      <a:pt x="0" y="0"/>
                    </a:moveTo>
                    <a:lnTo>
                      <a:pt x="0" y="409575"/>
                    </a:lnTo>
                  </a:path>
                </a:pathLst>
              </a:custGeom>
              <a:noFill/>
              <a:ln w="28575">
                <a:solidFill>
                  <a:srgbClr val="CED8D3"/>
                </a:solidFill>
              </a:ln>
            </p:spPr>
          </p:sp>
          <p:sp>
            <p:nvSpPr>
              <p:cNvPr id="22" name="Ellipse 22"/>
              <p:cNvSpPr/>
              <p:nvPr/>
            </p:nvSpPr>
            <p:spPr>
              <a:xfrm>
                <a:off x="790575" y="3171825"/>
                <a:ext cx="361950" cy="361950"/>
              </a:xfrm>
              <a:prstGeom prst="ellipse">
                <a:avLst/>
              </a:prstGeom>
              <a:solidFill>
                <a:srgbClr val="12304A"/>
              </a:solidFill>
              <a:ln>
                <a:noFill/>
              </a:ln>
              <a:effectLst>
                <a:outerShdw blurRad="171450" dist="47625" dir="10799312" algn="tl" rotWithShape="0">
                  <a:srgbClr val="12304A">
                    <a:alpha val="12000"/>
                  </a:srgbClr>
                </a:outerShdw>
              </a:effectLst>
            </p:spPr>
          </p:sp>
          <p:sp>
            <p:nvSpPr>
              <p:cNvPr id="23" name="TextBox 23"/>
              <p:cNvSpPr txBox="1"/>
              <p:nvPr/>
            </p:nvSpPr>
            <p:spPr>
              <a:xfrm>
                <a:off x="909819" y="3288506"/>
                <a:ext cx="123462" cy="22860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ctr"/>
                <a:r>
                  <a:rPr lang="zh-CN" sz="1125" b="1" dirty="0">
                    <a:solidFill>
                      <a:srgbClr val="FFFFFF"/>
                    </a:solidFill>
                    <a:latin typeface="Calibri"/>
                    <a:ea typeface="Microsoft YaHei"/>
                    <a:cs typeface="Calibri"/>
                  </a:rPr>
                  <a:t>2</a:t>
                </a:r>
              </a:p>
            </p:txBody>
          </p:sp>
          <p:sp>
            <p:nvSpPr>
              <p:cNvPr id="24" name="TextBox 24"/>
              <p:cNvSpPr txBox="1"/>
              <p:nvPr/>
            </p:nvSpPr>
            <p:spPr>
              <a:xfrm>
                <a:off x="1297305" y="3149918"/>
                <a:ext cx="2228764" cy="27432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l"/>
                <a:r>
                  <a:rPr lang="zh-CN" sz="1350" b="1" dirty="0">
                    <a:solidFill>
                      <a:srgbClr val="17212B"/>
                    </a:solidFill>
                    <a:latin typeface="Calibri"/>
                    <a:ea typeface="Microsoft YaHei"/>
                    <a:cs typeface="Calibri"/>
                  </a:rPr>
                  <a:t>Call venues one by one</a:t>
                </a:r>
              </a:p>
            </p:txBody>
          </p:sp>
          <p:sp>
            <p:nvSpPr>
              <p:cNvPr id="25" name="TextBox 25"/>
              <p:cNvSpPr txBox="1"/>
              <p:nvPr/>
            </p:nvSpPr>
            <p:spPr>
              <a:xfrm>
                <a:off x="1299210" y="3394710"/>
                <a:ext cx="3745992" cy="24384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l"/>
                <a:r>
                  <a:rPr lang="zh-CN" sz="1200" dirty="0">
                    <a:solidFill>
                      <a:srgbClr val="5E6B75"/>
                    </a:solidFill>
                    <a:latin typeface="Calibri"/>
                    <a:ea typeface="Microsoft YaHei"/>
                    <a:cs typeface="Calibri"/>
                  </a:rPr>
                  <a:t>Availability and final price remain uncertain</a:t>
                </a:r>
              </a:p>
            </p:txBody>
          </p:sp>
          <p:sp>
            <p:nvSpPr>
              <p:cNvPr id="26" name="Line 26"/>
              <p:cNvSpPr/>
              <p:nvPr/>
            </p:nvSpPr>
            <p:spPr>
              <a:xfrm>
                <a:off x="971550" y="3552825"/>
                <a:ext cx="9525" cy="409575"/>
              </a:xfrm>
              <a:custGeom>
                <a:avLst/>
                <a:gdLst/>
                <a:ahLst/>
                <a:cxnLst/>
                <a:rect l="l" t="t" r="r" b="b"/>
                <a:pathLst>
                  <a:path w="9525" h="409575">
                    <a:moveTo>
                      <a:pt x="0" y="0"/>
                    </a:moveTo>
                    <a:lnTo>
                      <a:pt x="0" y="409575"/>
                    </a:lnTo>
                  </a:path>
                </a:pathLst>
              </a:custGeom>
              <a:noFill/>
              <a:ln w="28575">
                <a:solidFill>
                  <a:srgbClr val="CED8D3"/>
                </a:solidFill>
              </a:ln>
            </p:spPr>
          </p:sp>
          <p:sp>
            <p:nvSpPr>
              <p:cNvPr id="27" name="Ellipse 27"/>
              <p:cNvSpPr/>
              <p:nvPr/>
            </p:nvSpPr>
            <p:spPr>
              <a:xfrm>
                <a:off x="790575" y="3990975"/>
                <a:ext cx="361950" cy="361950"/>
              </a:xfrm>
              <a:prstGeom prst="ellipse">
                <a:avLst/>
              </a:prstGeom>
              <a:solidFill>
                <a:srgbClr val="12304A"/>
              </a:solidFill>
              <a:ln>
                <a:noFill/>
              </a:ln>
              <a:effectLst>
                <a:outerShdw blurRad="171450" dist="47625" dir="10799312" algn="tl" rotWithShape="0">
                  <a:srgbClr val="12304A">
                    <a:alpha val="12000"/>
                  </a:srgbClr>
                </a:outerShdw>
              </a:effectLst>
            </p:spPr>
          </p:sp>
          <p:sp>
            <p:nvSpPr>
              <p:cNvPr id="28" name="TextBox 28"/>
              <p:cNvSpPr txBox="1"/>
              <p:nvPr/>
            </p:nvSpPr>
            <p:spPr>
              <a:xfrm>
                <a:off x="909819" y="4107656"/>
                <a:ext cx="123462" cy="22860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ctr"/>
                <a:r>
                  <a:rPr lang="zh-CN" sz="1125" b="1" dirty="0">
                    <a:solidFill>
                      <a:srgbClr val="FFFFFF"/>
                    </a:solidFill>
                    <a:latin typeface="Calibri"/>
                    <a:ea typeface="Microsoft YaHei"/>
                    <a:cs typeface="Calibri"/>
                  </a:rPr>
                  <a:t>3</a:t>
                </a:r>
              </a:p>
            </p:txBody>
          </p:sp>
          <p:sp>
            <p:nvSpPr>
              <p:cNvPr id="29" name="TextBox 29"/>
              <p:cNvSpPr txBox="1"/>
              <p:nvPr/>
            </p:nvSpPr>
            <p:spPr>
              <a:xfrm>
                <a:off x="1297305" y="3969068"/>
                <a:ext cx="3067219" cy="27432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l"/>
                <a:r>
                  <a:rPr lang="zh-CN" sz="1350" b="1" dirty="0">
                    <a:solidFill>
                      <a:srgbClr val="17212B"/>
                    </a:solidFill>
                    <a:latin typeface="Calibri"/>
                    <a:ea typeface="Microsoft YaHei"/>
                    <a:cs typeface="Calibri"/>
                  </a:rPr>
                  <a:t>Coordinate the group manually</a:t>
                </a:r>
              </a:p>
            </p:txBody>
          </p:sp>
          <p:sp>
            <p:nvSpPr>
              <p:cNvPr id="30" name="TextBox 30"/>
              <p:cNvSpPr txBox="1"/>
              <p:nvPr/>
            </p:nvSpPr>
            <p:spPr>
              <a:xfrm>
                <a:off x="1299210" y="4213860"/>
                <a:ext cx="4622292" cy="24384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l"/>
                <a:r>
                  <a:rPr lang="zh-CN" sz="1200" dirty="0">
                    <a:solidFill>
                      <a:srgbClr val="5E6B75"/>
                    </a:solidFill>
                    <a:latin typeface="Calibri"/>
                    <a:ea typeface="Microsoft YaHei"/>
                    <a:cs typeface="Calibri"/>
                  </a:rPr>
                  <a:t>Compare screenshots, collect money, replace players</a:t>
                </a:r>
              </a:p>
            </p:txBody>
          </p:sp>
          <p:sp>
            <p:nvSpPr>
              <p:cNvPr id="31" name="Line 31"/>
              <p:cNvSpPr/>
              <p:nvPr/>
            </p:nvSpPr>
            <p:spPr>
              <a:xfrm>
                <a:off x="971550" y="4371975"/>
                <a:ext cx="9525" cy="409575"/>
              </a:xfrm>
              <a:custGeom>
                <a:avLst/>
                <a:gdLst/>
                <a:ahLst/>
                <a:cxnLst/>
                <a:rect l="l" t="t" r="r" b="b"/>
                <a:pathLst>
                  <a:path w="9525" h="409575">
                    <a:moveTo>
                      <a:pt x="0" y="0"/>
                    </a:moveTo>
                    <a:lnTo>
                      <a:pt x="0" y="409575"/>
                    </a:lnTo>
                  </a:path>
                </a:pathLst>
              </a:custGeom>
              <a:noFill/>
              <a:ln w="28575">
                <a:solidFill>
                  <a:srgbClr val="CED8D3"/>
                </a:solidFill>
              </a:ln>
            </p:spPr>
          </p:sp>
          <p:sp>
            <p:nvSpPr>
              <p:cNvPr id="32" name="Ellipse 32"/>
              <p:cNvSpPr/>
              <p:nvPr/>
            </p:nvSpPr>
            <p:spPr>
              <a:xfrm>
                <a:off x="790575" y="4810125"/>
                <a:ext cx="361950" cy="361950"/>
              </a:xfrm>
              <a:prstGeom prst="ellipse">
                <a:avLst/>
              </a:prstGeom>
              <a:solidFill>
                <a:srgbClr val="D65A4A"/>
              </a:solidFill>
              <a:ln>
                <a:noFill/>
              </a:ln>
              <a:effectLst>
                <a:outerShdw blurRad="171450" dist="47625" dir="10799312" algn="tl" rotWithShape="0">
                  <a:srgbClr val="12304A">
                    <a:alpha val="12000"/>
                  </a:srgbClr>
                </a:outerShdw>
              </a:effectLst>
            </p:spPr>
          </p:sp>
          <p:sp>
            <p:nvSpPr>
              <p:cNvPr id="33" name="TextBox 33"/>
              <p:cNvSpPr txBox="1"/>
              <p:nvPr/>
            </p:nvSpPr>
            <p:spPr>
              <a:xfrm>
                <a:off x="931384" y="4926806"/>
                <a:ext cx="80331" cy="22860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ctr"/>
                <a:r>
                  <a:rPr lang="zh-CN" sz="1125" b="1" dirty="0">
                    <a:solidFill>
                      <a:srgbClr val="FFFFFF"/>
                    </a:solidFill>
                    <a:latin typeface="Calibri"/>
                    <a:ea typeface="Microsoft YaHei"/>
                    <a:cs typeface="Calibri"/>
                  </a:rPr>
                  <a:t>!</a:t>
                </a:r>
              </a:p>
            </p:txBody>
          </p:sp>
          <p:sp>
            <p:nvSpPr>
              <p:cNvPr id="34" name="TextBox 34"/>
              <p:cNvSpPr txBox="1"/>
              <p:nvPr/>
            </p:nvSpPr>
            <p:spPr>
              <a:xfrm>
                <a:off x="1297305" y="4788218"/>
                <a:ext cx="2746329" cy="27432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l"/>
                <a:r>
                  <a:rPr lang="zh-CN" sz="1350" b="1" dirty="0">
                    <a:solidFill>
                      <a:srgbClr val="D65A4A"/>
                    </a:solidFill>
                    <a:latin typeface="Calibri"/>
                    <a:ea typeface="Microsoft YaHei"/>
                    <a:cs typeface="Calibri"/>
                  </a:rPr>
                  <a:t>Booking intent can collapse</a:t>
                </a:r>
              </a:p>
            </p:txBody>
          </p:sp>
          <p:sp>
            <p:nvSpPr>
              <p:cNvPr id="35" name="TextBox 35"/>
              <p:cNvSpPr txBox="1"/>
              <p:nvPr/>
            </p:nvSpPr>
            <p:spPr>
              <a:xfrm>
                <a:off x="1299210" y="5033010"/>
                <a:ext cx="4280535" cy="24384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l"/>
                <a:r>
                  <a:rPr lang="zh-CN" sz="1200" dirty="0">
                    <a:solidFill>
                      <a:srgbClr val="5E6B75"/>
                    </a:solidFill>
                    <a:latin typeface="Calibri"/>
                    <a:ea typeface="Microsoft YaHei"/>
                    <a:cs typeface="Calibri"/>
                  </a:rPr>
                  <a:t>Even when a suitable court is technically available</a:t>
                </a:r>
              </a:p>
            </p:txBody>
          </p:sp>
        </p:grpSp>
        <p:sp>
          <p:nvSpPr>
            <p:cNvPr id="37" name="Freeform 37"/>
            <p:cNvSpPr/>
            <p:nvPr/>
          </p:nvSpPr>
          <p:spPr>
            <a:xfrm>
              <a:off x="800100" y="5467350"/>
              <a:ext cx="4229100" cy="323850"/>
            </a:xfrm>
            <a:custGeom>
              <a:avLst/>
              <a:gdLst/>
              <a:ahLst/>
              <a:cxnLst/>
              <a:rect l="l" t="t" r="r" b="b"/>
              <a:pathLst>
                <a:path w="4229100" h="323850">
                  <a:moveTo>
                    <a:pt x="161925" y="0"/>
                  </a:moveTo>
                  <a:lnTo>
                    <a:pt x="4067175" y="0"/>
                  </a:lnTo>
                  <a:cubicBezTo>
                    <a:pt x="4156604" y="0"/>
                    <a:pt x="4229100" y="72496"/>
                    <a:pt x="4229100" y="161925"/>
                  </a:cubicBezTo>
                  <a:lnTo>
                    <a:pt x="4229100" y="161925"/>
                  </a:lnTo>
                  <a:cubicBezTo>
                    <a:pt x="4229100" y="251354"/>
                    <a:pt x="4156604" y="323850"/>
                    <a:pt x="4067175" y="323850"/>
                  </a:cubicBezTo>
                  <a:lnTo>
                    <a:pt x="161925" y="323850"/>
                  </a:lnTo>
                  <a:cubicBezTo>
                    <a:pt x="72496" y="323850"/>
                    <a:pt x="0" y="251354"/>
                    <a:pt x="0" y="161925"/>
                  </a:cubicBezTo>
                  <a:lnTo>
                    <a:pt x="0" y="161925"/>
                  </a:lnTo>
                  <a:cubicBezTo>
                    <a:pt x="0" y="72496"/>
                    <a:pt x="72496" y="0"/>
                    <a:pt x="161925" y="0"/>
                  </a:cubicBezTo>
                  <a:close/>
                </a:path>
              </a:pathLst>
            </a:custGeom>
            <a:solidFill>
              <a:srgbClr val="17A673">
                <a:alpha val="10000"/>
              </a:srgbClr>
            </a:solidFill>
            <a:ln>
              <a:noFill/>
            </a:ln>
            <a:effectLst>
              <a:outerShdw blurRad="171450" dist="47625" dir="10799312" algn="tl" rotWithShape="0">
                <a:srgbClr val="12304A">
                  <a:alpha val="12000"/>
                </a:srgbClr>
              </a:outerShdw>
            </a:effectLst>
          </p:spPr>
        </p:sp>
        <p:sp>
          <p:nvSpPr>
            <p:cNvPr id="38" name="TextBox 38"/>
            <p:cNvSpPr txBox="1"/>
            <p:nvPr/>
          </p:nvSpPr>
          <p:spPr>
            <a:xfrm>
              <a:off x="1351981" y="5555456"/>
              <a:ext cx="3125337" cy="22860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ctr"/>
              <a:r>
                <a:rPr lang="zh-CN" sz="1125" b="1" dirty="0">
                  <a:solidFill>
                    <a:srgbClr val="117E59"/>
                  </a:solidFill>
                  <a:latin typeface="Arial"/>
                  <a:ea typeface="Microsoft YaHei"/>
                  <a:cs typeface="Arial"/>
                </a:rPr>
                <a:t>Demand exists, but discovery is slow</a:t>
              </a:r>
            </a:p>
          </p:txBody>
        </p:sp>
      </p:grpSp>
      <p:grpSp>
        <p:nvGrpSpPr>
          <p:cNvPr id="67" name="Group 67"/>
          <p:cNvGrpSpPr/>
          <p:nvPr/>
        </p:nvGrpSpPr>
        <p:grpSpPr>
          <a:xfrm>
            <a:off x="6896100" y="1428750"/>
            <a:ext cx="4871085" cy="4514850"/>
            <a:chOff x="6896100" y="1428750"/>
            <a:chExt cx="4871085" cy="4514850"/>
          </a:xfrm>
          <a:effectLst>
            <a:outerShdw blurRad="171450" dist="47625" dir="10799312" algn="tl" rotWithShape="0">
              <a:srgbClr val="12304A">
                <a:alpha val="12000"/>
              </a:srgbClr>
            </a:outerShdw>
          </a:effectLst>
        </p:grpSpPr>
        <p:sp>
          <p:nvSpPr>
            <p:cNvPr id="40" name="Freeform 40"/>
            <p:cNvSpPr/>
            <p:nvPr/>
          </p:nvSpPr>
          <p:spPr>
            <a:xfrm>
              <a:off x="6896100" y="1428750"/>
              <a:ext cx="4762500" cy="4514850"/>
            </a:xfrm>
            <a:custGeom>
              <a:avLst/>
              <a:gdLst/>
              <a:ahLst/>
              <a:cxnLst/>
              <a:rect l="l" t="t" r="r" b="b"/>
              <a:pathLst>
                <a:path w="4762500" h="4514850">
                  <a:moveTo>
                    <a:pt x="152400" y="0"/>
                  </a:moveTo>
                  <a:lnTo>
                    <a:pt x="4610100" y="0"/>
                  </a:lnTo>
                  <a:cubicBezTo>
                    <a:pt x="4694268" y="0"/>
                    <a:pt x="4762500" y="68232"/>
                    <a:pt x="4762500" y="152400"/>
                  </a:cubicBezTo>
                  <a:lnTo>
                    <a:pt x="4762500" y="4362450"/>
                  </a:lnTo>
                  <a:cubicBezTo>
                    <a:pt x="4762500" y="4446618"/>
                    <a:pt x="4694268" y="4514850"/>
                    <a:pt x="4610100" y="4514850"/>
                  </a:cubicBezTo>
                  <a:lnTo>
                    <a:pt x="152400" y="4514850"/>
                  </a:lnTo>
                  <a:cubicBezTo>
                    <a:pt x="68232" y="4514850"/>
                    <a:pt x="0" y="4446618"/>
                    <a:pt x="0" y="4362450"/>
                  </a:cubicBezTo>
                  <a:lnTo>
                    <a:pt x="0" y="152400"/>
                  </a:lnTo>
                  <a:cubicBezTo>
                    <a:pt x="0" y="68232"/>
                    <a:pt x="68232" y="0"/>
                    <a:pt x="152400" y="0"/>
                  </a:cubicBezTo>
                  <a:close/>
                </a:path>
              </a:pathLst>
            </a:custGeom>
            <a:solidFill>
              <a:srgbClr val="FFFFFF"/>
            </a:solidFill>
            <a:ln>
              <a:noFill/>
            </a:ln>
            <a:effectLst>
              <a:outerShdw blurRad="171450" dist="47625" dir="10799312" algn="tl" rotWithShape="0">
                <a:srgbClr val="12304A">
                  <a:alpha val="12000"/>
                </a:srgbClr>
              </a:outerShdw>
            </a:effectLst>
          </p:spPr>
        </p:sp>
        <p:sp>
          <p:nvSpPr>
            <p:cNvPr id="41" name="Freeform 41"/>
            <p:cNvSpPr/>
            <p:nvPr/>
          </p:nvSpPr>
          <p:spPr>
            <a:xfrm>
              <a:off x="6896100" y="1428750"/>
              <a:ext cx="4762500" cy="685800"/>
            </a:xfrm>
            <a:custGeom>
              <a:avLst/>
              <a:gdLst/>
              <a:ahLst/>
              <a:cxnLst/>
              <a:rect l="l" t="t" r="r" b="b"/>
              <a:pathLst>
                <a:path w="4762500" h="685800">
                  <a:moveTo>
                    <a:pt x="152400" y="0"/>
                  </a:moveTo>
                  <a:lnTo>
                    <a:pt x="4610100" y="0"/>
                  </a:lnTo>
                  <a:cubicBezTo>
                    <a:pt x="4694268" y="0"/>
                    <a:pt x="4762500" y="68232"/>
                    <a:pt x="4762500" y="152400"/>
                  </a:cubicBezTo>
                  <a:lnTo>
                    <a:pt x="4762500" y="533400"/>
                  </a:lnTo>
                  <a:cubicBezTo>
                    <a:pt x="4762500" y="617568"/>
                    <a:pt x="4694268" y="685800"/>
                    <a:pt x="4610100" y="685800"/>
                  </a:cubicBezTo>
                  <a:lnTo>
                    <a:pt x="152400" y="685800"/>
                  </a:lnTo>
                  <a:cubicBezTo>
                    <a:pt x="68232" y="685800"/>
                    <a:pt x="0" y="617568"/>
                    <a:pt x="0" y="533400"/>
                  </a:cubicBezTo>
                  <a:lnTo>
                    <a:pt x="0" y="152400"/>
                  </a:lnTo>
                  <a:cubicBezTo>
                    <a:pt x="0" y="68232"/>
                    <a:pt x="68232" y="0"/>
                    <a:pt x="152400" y="0"/>
                  </a:cubicBezTo>
                  <a:close/>
                </a:path>
              </a:pathLst>
            </a:custGeom>
            <a:solidFill>
              <a:srgbClr val="EAF0ED"/>
            </a:solidFill>
            <a:ln>
              <a:noFill/>
            </a:ln>
            <a:effectLst>
              <a:outerShdw blurRad="171450" dist="47625" dir="10799312" algn="tl" rotWithShape="0">
                <a:srgbClr val="12304A">
                  <a:alpha val="12000"/>
                </a:srgbClr>
              </a:outerShdw>
            </a:effectLst>
          </p:spPr>
        </p:sp>
        <p:sp>
          <p:nvSpPr>
            <p:cNvPr id="42" name="Rectangle 42"/>
            <p:cNvSpPr/>
            <p:nvPr/>
          </p:nvSpPr>
          <p:spPr>
            <a:xfrm>
              <a:off x="6896100" y="1962150"/>
              <a:ext cx="4762500" cy="152400"/>
            </a:xfrm>
            <a:prstGeom prst="rect">
              <a:avLst/>
            </a:prstGeom>
            <a:solidFill>
              <a:srgbClr val="EAF0ED"/>
            </a:solidFill>
            <a:ln>
              <a:noFill/>
            </a:ln>
            <a:effectLst>
              <a:outerShdw blurRad="171450" dist="47625" dir="10799312" algn="tl" rotWithShape="0">
                <a:srgbClr val="12304A">
                  <a:alpha val="12000"/>
                </a:srgbClr>
              </a:outerShdw>
            </a:effectLst>
          </p:spPr>
        </p:sp>
        <p:sp>
          <p:nvSpPr>
            <p:cNvPr id="43" name="Freeform 43"/>
            <p:cNvSpPr/>
            <p:nvPr/>
          </p:nvSpPr>
          <p:spPr>
            <a:xfrm>
              <a:off x="7205662" y="1600200"/>
              <a:ext cx="257175" cy="342900"/>
            </a:xfrm>
            <a:custGeom>
              <a:avLst/>
              <a:gdLst/>
              <a:ahLst/>
              <a:cxnLst/>
              <a:rect l="l" t="t" r="r" b="b"/>
              <a:pathLst>
                <a:path w="257175" h="342900">
                  <a:moveTo>
                    <a:pt x="257175" y="0"/>
                  </a:moveTo>
                  <a:lnTo>
                    <a:pt x="0" y="0"/>
                  </a:lnTo>
                  <a:lnTo>
                    <a:pt x="0" y="342900"/>
                  </a:lnTo>
                  <a:lnTo>
                    <a:pt x="85725" y="342900"/>
                  </a:lnTo>
                  <a:lnTo>
                    <a:pt x="85725" y="257175"/>
                  </a:lnTo>
                  <a:lnTo>
                    <a:pt x="171450" y="257175"/>
                  </a:lnTo>
                  <a:lnTo>
                    <a:pt x="171450" y="342900"/>
                  </a:lnTo>
                  <a:lnTo>
                    <a:pt x="257175" y="342900"/>
                  </a:lnTo>
                  <a:lnTo>
                    <a:pt x="257175" y="0"/>
                  </a:lnTo>
                  <a:close/>
                  <a:moveTo>
                    <a:pt x="64294" y="64294"/>
                  </a:moveTo>
                  <a:lnTo>
                    <a:pt x="107156" y="64294"/>
                  </a:lnTo>
                  <a:lnTo>
                    <a:pt x="107156" y="107156"/>
                  </a:lnTo>
                  <a:lnTo>
                    <a:pt x="64294" y="107156"/>
                  </a:lnTo>
                  <a:lnTo>
                    <a:pt x="64294" y="64294"/>
                  </a:lnTo>
                  <a:close/>
                  <a:moveTo>
                    <a:pt x="107156" y="150019"/>
                  </a:moveTo>
                  <a:lnTo>
                    <a:pt x="64294" y="150019"/>
                  </a:lnTo>
                  <a:lnTo>
                    <a:pt x="64294" y="192881"/>
                  </a:lnTo>
                  <a:lnTo>
                    <a:pt x="107156" y="192881"/>
                  </a:lnTo>
                  <a:lnTo>
                    <a:pt x="107156" y="150019"/>
                  </a:lnTo>
                  <a:close/>
                  <a:moveTo>
                    <a:pt x="150019" y="64294"/>
                  </a:moveTo>
                  <a:lnTo>
                    <a:pt x="192881" y="64294"/>
                  </a:lnTo>
                  <a:lnTo>
                    <a:pt x="192881" y="107156"/>
                  </a:lnTo>
                  <a:lnTo>
                    <a:pt x="150019" y="107156"/>
                  </a:lnTo>
                  <a:lnTo>
                    <a:pt x="150019" y="64294"/>
                  </a:lnTo>
                  <a:close/>
                  <a:moveTo>
                    <a:pt x="192881" y="150019"/>
                  </a:moveTo>
                  <a:lnTo>
                    <a:pt x="150019" y="150019"/>
                  </a:lnTo>
                  <a:lnTo>
                    <a:pt x="150019" y="192881"/>
                  </a:lnTo>
                  <a:lnTo>
                    <a:pt x="192881" y="192881"/>
                  </a:lnTo>
                  <a:lnTo>
                    <a:pt x="192881" y="150019"/>
                  </a:lnTo>
                  <a:close/>
                </a:path>
              </a:pathLst>
            </a:custGeom>
            <a:solidFill>
              <a:srgbClr val="12304A"/>
            </a:solidFill>
            <a:ln>
              <a:noFill/>
            </a:ln>
            <a:effectLst>
              <a:outerShdw blurRad="171450" dist="47625" dir="10799312" algn="tl" rotWithShape="0">
                <a:srgbClr val="12304A">
                  <a:alpha val="12000"/>
                </a:srgbClr>
              </a:outerShdw>
            </a:effectLst>
          </p:spPr>
        </p:sp>
        <p:sp>
          <p:nvSpPr>
            <p:cNvPr id="44" name="TextBox 44"/>
            <p:cNvSpPr txBox="1"/>
            <p:nvPr/>
          </p:nvSpPr>
          <p:spPr>
            <a:xfrm>
              <a:off x="7636192" y="1661636"/>
              <a:ext cx="1802960" cy="35052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l"/>
              <a:r>
                <a:rPr lang="zh-CN" sz="1725" b="1" dirty="0">
                  <a:solidFill>
                    <a:srgbClr val="17212B"/>
                  </a:solidFill>
                  <a:latin typeface="Arial"/>
                  <a:ea typeface="Microsoft YaHei"/>
                  <a:cs typeface="Arial"/>
                </a:rPr>
                <a:t>Venue journey</a:t>
              </a:r>
            </a:p>
          </p:txBody>
        </p:sp>
        <p:grpSp>
          <p:nvGrpSpPr>
            <p:cNvPr id="64" name="Group 64"/>
            <p:cNvGrpSpPr/>
            <p:nvPr/>
          </p:nvGrpSpPr>
          <p:grpSpPr>
            <a:xfrm>
              <a:off x="7153275" y="2330768"/>
              <a:ext cx="4613910" cy="2946082"/>
              <a:chOff x="7153275" y="2330768"/>
              <a:chExt cx="4613910" cy="2946082"/>
            </a:xfrm>
          </p:grpSpPr>
          <p:sp>
            <p:nvSpPr>
              <p:cNvPr id="45" name="Ellipse 45"/>
              <p:cNvSpPr/>
              <p:nvPr/>
            </p:nvSpPr>
            <p:spPr>
              <a:xfrm>
                <a:off x="7153275" y="2352675"/>
                <a:ext cx="361950" cy="361950"/>
              </a:xfrm>
              <a:prstGeom prst="ellipse">
                <a:avLst/>
              </a:prstGeom>
              <a:solidFill>
                <a:srgbClr val="12304A"/>
              </a:solidFill>
              <a:ln>
                <a:noFill/>
              </a:ln>
              <a:effectLst>
                <a:outerShdw blurRad="171450" dist="47625" dir="10799312" algn="tl" rotWithShape="0">
                  <a:srgbClr val="12304A">
                    <a:alpha val="12000"/>
                  </a:srgbClr>
                </a:outerShdw>
              </a:effectLst>
            </p:spPr>
          </p:sp>
          <p:sp>
            <p:nvSpPr>
              <p:cNvPr id="46" name="TextBox 46"/>
              <p:cNvSpPr txBox="1"/>
              <p:nvPr/>
            </p:nvSpPr>
            <p:spPr>
              <a:xfrm>
                <a:off x="7294084" y="2469356"/>
                <a:ext cx="80331" cy="22860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ctr"/>
                <a:r>
                  <a:rPr lang="zh-CN" sz="1125" b="1" dirty="0">
                    <a:solidFill>
                      <a:srgbClr val="FFFFFF"/>
                    </a:solidFill>
                    <a:latin typeface="Calibri"/>
                    <a:ea typeface="Microsoft YaHei"/>
                    <a:cs typeface="Calibri"/>
                  </a:rPr>
                  <a:t>1</a:t>
                </a:r>
              </a:p>
            </p:txBody>
          </p:sp>
          <p:sp>
            <p:nvSpPr>
              <p:cNvPr id="47" name="TextBox 47"/>
              <p:cNvSpPr txBox="1"/>
              <p:nvPr/>
            </p:nvSpPr>
            <p:spPr>
              <a:xfrm>
                <a:off x="7660005" y="2330768"/>
                <a:ext cx="2704924" cy="27432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l"/>
                <a:r>
                  <a:rPr lang="zh-CN" sz="1350" b="1" dirty="0">
                    <a:solidFill>
                      <a:srgbClr val="17212B"/>
                    </a:solidFill>
                    <a:latin typeface="Calibri"/>
                    <a:ea typeface="Microsoft YaHei"/>
                    <a:cs typeface="Calibri"/>
                  </a:rPr>
                  <a:t>Manage schedules manually</a:t>
                </a:r>
              </a:p>
            </p:txBody>
          </p:sp>
          <p:sp>
            <p:nvSpPr>
              <p:cNvPr id="48" name="TextBox 48"/>
              <p:cNvSpPr txBox="1"/>
              <p:nvPr/>
            </p:nvSpPr>
            <p:spPr>
              <a:xfrm>
                <a:off x="7661910" y="2575560"/>
                <a:ext cx="3465576" cy="24384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l"/>
                <a:r>
                  <a:rPr lang="zh-CN" sz="1200" dirty="0">
                    <a:solidFill>
                      <a:srgbClr val="5E6B75"/>
                    </a:solidFill>
                    <a:latin typeface="Calibri"/>
                    <a:ea typeface="Microsoft YaHei"/>
                    <a:cs typeface="Calibri"/>
                  </a:rPr>
                  <a:t>Calls, chat messages, and spreadsheets</a:t>
                </a:r>
              </a:p>
            </p:txBody>
          </p:sp>
          <p:sp>
            <p:nvSpPr>
              <p:cNvPr id="49" name="Line 49"/>
              <p:cNvSpPr/>
              <p:nvPr/>
            </p:nvSpPr>
            <p:spPr>
              <a:xfrm>
                <a:off x="7334250" y="2733675"/>
                <a:ext cx="9525" cy="409575"/>
              </a:xfrm>
              <a:custGeom>
                <a:avLst/>
                <a:gdLst/>
                <a:ahLst/>
                <a:cxnLst/>
                <a:rect l="l" t="t" r="r" b="b"/>
                <a:pathLst>
                  <a:path w="9525" h="409575">
                    <a:moveTo>
                      <a:pt x="0" y="0"/>
                    </a:moveTo>
                    <a:lnTo>
                      <a:pt x="0" y="409575"/>
                    </a:lnTo>
                  </a:path>
                </a:pathLst>
              </a:custGeom>
              <a:noFill/>
              <a:ln w="28575">
                <a:solidFill>
                  <a:srgbClr val="CED8D3"/>
                </a:solidFill>
              </a:ln>
            </p:spPr>
          </p:sp>
          <p:sp>
            <p:nvSpPr>
              <p:cNvPr id="50" name="Ellipse 50"/>
              <p:cNvSpPr/>
              <p:nvPr/>
            </p:nvSpPr>
            <p:spPr>
              <a:xfrm>
                <a:off x="7153275" y="3171825"/>
                <a:ext cx="361950" cy="361950"/>
              </a:xfrm>
              <a:prstGeom prst="ellipse">
                <a:avLst/>
              </a:prstGeom>
              <a:solidFill>
                <a:srgbClr val="12304A"/>
              </a:solidFill>
              <a:ln>
                <a:noFill/>
              </a:ln>
              <a:effectLst>
                <a:outerShdw blurRad="171450" dist="47625" dir="10799312" algn="tl" rotWithShape="0">
                  <a:srgbClr val="12304A">
                    <a:alpha val="12000"/>
                  </a:srgbClr>
                </a:outerShdw>
              </a:effectLst>
            </p:spPr>
          </p:sp>
          <p:sp>
            <p:nvSpPr>
              <p:cNvPr id="51" name="TextBox 51"/>
              <p:cNvSpPr txBox="1"/>
              <p:nvPr/>
            </p:nvSpPr>
            <p:spPr>
              <a:xfrm>
                <a:off x="7272519" y="3288506"/>
                <a:ext cx="123462" cy="22860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ctr"/>
                <a:r>
                  <a:rPr lang="zh-CN" sz="1125" b="1" dirty="0">
                    <a:solidFill>
                      <a:srgbClr val="FFFFFF"/>
                    </a:solidFill>
                    <a:latin typeface="Calibri"/>
                    <a:ea typeface="Microsoft YaHei"/>
                    <a:cs typeface="Calibri"/>
                  </a:rPr>
                  <a:t>2</a:t>
                </a:r>
              </a:p>
            </p:txBody>
          </p:sp>
          <p:sp>
            <p:nvSpPr>
              <p:cNvPr id="52" name="TextBox 52"/>
              <p:cNvSpPr txBox="1"/>
              <p:nvPr/>
            </p:nvSpPr>
            <p:spPr>
              <a:xfrm>
                <a:off x="7660005" y="3149918"/>
                <a:ext cx="2663519" cy="27432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l"/>
                <a:r>
                  <a:rPr lang="zh-CN" sz="1350" b="1" dirty="0">
                    <a:solidFill>
                      <a:srgbClr val="17212B"/>
                    </a:solidFill>
                    <a:latin typeface="Calibri"/>
                    <a:ea typeface="Microsoft YaHei"/>
                    <a:cs typeface="Calibri"/>
                  </a:rPr>
                  <a:t>Post last-minute openings</a:t>
                </a:r>
              </a:p>
            </p:txBody>
          </p:sp>
          <p:sp>
            <p:nvSpPr>
              <p:cNvPr id="53" name="TextBox 53"/>
              <p:cNvSpPr txBox="1"/>
              <p:nvPr/>
            </p:nvSpPr>
            <p:spPr>
              <a:xfrm>
                <a:off x="7661910" y="3394710"/>
                <a:ext cx="4008882" cy="24384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l"/>
                <a:r>
                  <a:rPr lang="zh-CN" sz="1200" dirty="0">
                    <a:solidFill>
                      <a:srgbClr val="5E6B75"/>
                    </a:solidFill>
                    <a:latin typeface="Calibri"/>
                    <a:ea typeface="Microsoft YaHei"/>
                    <a:cs typeface="Calibri"/>
                  </a:rPr>
                  <a:t>Limited reach and no reliable demand targeting</a:t>
                </a:r>
              </a:p>
            </p:txBody>
          </p:sp>
          <p:sp>
            <p:nvSpPr>
              <p:cNvPr id="54" name="Line 54"/>
              <p:cNvSpPr/>
              <p:nvPr/>
            </p:nvSpPr>
            <p:spPr>
              <a:xfrm>
                <a:off x="7334250" y="3552825"/>
                <a:ext cx="9525" cy="409575"/>
              </a:xfrm>
              <a:custGeom>
                <a:avLst/>
                <a:gdLst/>
                <a:ahLst/>
                <a:cxnLst/>
                <a:rect l="l" t="t" r="r" b="b"/>
                <a:pathLst>
                  <a:path w="9525" h="409575">
                    <a:moveTo>
                      <a:pt x="0" y="0"/>
                    </a:moveTo>
                    <a:lnTo>
                      <a:pt x="0" y="409575"/>
                    </a:lnTo>
                  </a:path>
                </a:pathLst>
              </a:custGeom>
              <a:noFill/>
              <a:ln w="28575">
                <a:solidFill>
                  <a:srgbClr val="CED8D3"/>
                </a:solidFill>
              </a:ln>
            </p:spPr>
          </p:sp>
          <p:sp>
            <p:nvSpPr>
              <p:cNvPr id="55" name="Ellipse 55"/>
              <p:cNvSpPr/>
              <p:nvPr/>
            </p:nvSpPr>
            <p:spPr>
              <a:xfrm>
                <a:off x="7153275" y="3990975"/>
                <a:ext cx="361950" cy="361950"/>
              </a:xfrm>
              <a:prstGeom prst="ellipse">
                <a:avLst/>
              </a:prstGeom>
              <a:solidFill>
                <a:srgbClr val="12304A"/>
              </a:solidFill>
              <a:ln>
                <a:noFill/>
              </a:ln>
              <a:effectLst>
                <a:outerShdw blurRad="171450" dist="47625" dir="10799312" algn="tl" rotWithShape="0">
                  <a:srgbClr val="12304A">
                    <a:alpha val="12000"/>
                  </a:srgbClr>
                </a:outerShdw>
              </a:effectLst>
            </p:spPr>
          </p:sp>
          <p:sp>
            <p:nvSpPr>
              <p:cNvPr id="56" name="TextBox 56"/>
              <p:cNvSpPr txBox="1"/>
              <p:nvPr/>
            </p:nvSpPr>
            <p:spPr>
              <a:xfrm>
                <a:off x="7272519" y="4107656"/>
                <a:ext cx="123462" cy="22860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ctr"/>
                <a:r>
                  <a:rPr lang="zh-CN" sz="1125" b="1" dirty="0">
                    <a:solidFill>
                      <a:srgbClr val="FFFFFF"/>
                    </a:solidFill>
                    <a:latin typeface="Calibri"/>
                    <a:ea typeface="Microsoft YaHei"/>
                    <a:cs typeface="Calibri"/>
                  </a:rPr>
                  <a:t>3</a:t>
                </a:r>
              </a:p>
            </p:txBody>
          </p:sp>
          <p:sp>
            <p:nvSpPr>
              <p:cNvPr id="57" name="TextBox 57"/>
              <p:cNvSpPr txBox="1"/>
              <p:nvPr/>
            </p:nvSpPr>
            <p:spPr>
              <a:xfrm>
                <a:off x="7660005" y="3969068"/>
                <a:ext cx="2497898" cy="27432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l"/>
                <a:r>
                  <a:rPr lang="zh-CN" sz="1350" b="1" dirty="0">
                    <a:solidFill>
                      <a:srgbClr val="17212B"/>
                    </a:solidFill>
                    <a:latin typeface="Calibri"/>
                    <a:ea typeface="Microsoft YaHei"/>
                    <a:cs typeface="Calibri"/>
                  </a:rPr>
                  <a:t>Apply informal discounts</a:t>
                </a:r>
              </a:p>
            </p:txBody>
          </p:sp>
          <p:sp>
            <p:nvSpPr>
              <p:cNvPr id="58" name="TextBox 58"/>
              <p:cNvSpPr txBox="1"/>
              <p:nvPr/>
            </p:nvSpPr>
            <p:spPr>
              <a:xfrm>
                <a:off x="7661910" y="4213860"/>
                <a:ext cx="3824859" cy="24384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l"/>
                <a:r>
                  <a:rPr lang="zh-CN" sz="1200" dirty="0">
                    <a:solidFill>
                      <a:srgbClr val="5E6B75"/>
                    </a:solidFill>
                    <a:latin typeface="Calibri"/>
                    <a:ea typeface="Microsoft YaHei"/>
                    <a:cs typeface="Calibri"/>
                  </a:rPr>
                  <a:t>Hard to know whether demand is incremental</a:t>
                </a:r>
              </a:p>
            </p:txBody>
          </p:sp>
          <p:sp>
            <p:nvSpPr>
              <p:cNvPr id="59" name="Line 59"/>
              <p:cNvSpPr/>
              <p:nvPr/>
            </p:nvSpPr>
            <p:spPr>
              <a:xfrm>
                <a:off x="7334250" y="4371975"/>
                <a:ext cx="9525" cy="409575"/>
              </a:xfrm>
              <a:custGeom>
                <a:avLst/>
                <a:gdLst/>
                <a:ahLst/>
                <a:cxnLst/>
                <a:rect l="l" t="t" r="r" b="b"/>
                <a:pathLst>
                  <a:path w="9525" h="409575">
                    <a:moveTo>
                      <a:pt x="0" y="0"/>
                    </a:moveTo>
                    <a:lnTo>
                      <a:pt x="0" y="409575"/>
                    </a:lnTo>
                  </a:path>
                </a:pathLst>
              </a:custGeom>
              <a:noFill/>
              <a:ln w="28575">
                <a:solidFill>
                  <a:srgbClr val="CED8D3"/>
                </a:solidFill>
              </a:ln>
            </p:spPr>
          </p:sp>
          <p:sp>
            <p:nvSpPr>
              <p:cNvPr id="60" name="Ellipse 60"/>
              <p:cNvSpPr/>
              <p:nvPr/>
            </p:nvSpPr>
            <p:spPr>
              <a:xfrm>
                <a:off x="7153275" y="4810125"/>
                <a:ext cx="361950" cy="361950"/>
              </a:xfrm>
              <a:prstGeom prst="ellipse">
                <a:avLst/>
              </a:prstGeom>
              <a:solidFill>
                <a:srgbClr val="D65A4A"/>
              </a:solidFill>
              <a:ln>
                <a:noFill/>
              </a:ln>
              <a:effectLst>
                <a:outerShdw blurRad="171450" dist="47625" dir="10799312" algn="tl" rotWithShape="0">
                  <a:srgbClr val="12304A">
                    <a:alpha val="12000"/>
                  </a:srgbClr>
                </a:outerShdw>
              </a:effectLst>
            </p:spPr>
          </p:sp>
          <p:sp>
            <p:nvSpPr>
              <p:cNvPr id="61" name="TextBox 61"/>
              <p:cNvSpPr txBox="1"/>
              <p:nvPr/>
            </p:nvSpPr>
            <p:spPr>
              <a:xfrm>
                <a:off x="7294084" y="4926806"/>
                <a:ext cx="80331" cy="22860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ctr"/>
                <a:r>
                  <a:rPr lang="zh-CN" sz="1125" b="1" dirty="0">
                    <a:solidFill>
                      <a:srgbClr val="FFFFFF"/>
                    </a:solidFill>
                    <a:latin typeface="Calibri"/>
                    <a:ea typeface="Microsoft YaHei"/>
                    <a:cs typeface="Calibri"/>
                  </a:rPr>
                  <a:t>!</a:t>
                </a:r>
              </a:p>
            </p:txBody>
          </p:sp>
          <p:sp>
            <p:nvSpPr>
              <p:cNvPr id="62" name="TextBox 62"/>
              <p:cNvSpPr txBox="1"/>
              <p:nvPr/>
            </p:nvSpPr>
            <p:spPr>
              <a:xfrm>
                <a:off x="7660005" y="4788218"/>
                <a:ext cx="2508249" cy="27432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l"/>
                <a:r>
                  <a:rPr lang="zh-CN" sz="1350" b="1" dirty="0">
                    <a:solidFill>
                      <a:srgbClr val="D65A4A"/>
                    </a:solidFill>
                    <a:latin typeface="Calibri"/>
                    <a:ea typeface="Microsoft YaHei"/>
                    <a:cs typeface="Calibri"/>
                  </a:rPr>
                  <a:t>Inventory expires unsold</a:t>
                </a:r>
              </a:p>
            </p:txBody>
          </p:sp>
          <p:sp>
            <p:nvSpPr>
              <p:cNvPr id="63" name="TextBox 63"/>
              <p:cNvSpPr txBox="1"/>
              <p:nvPr/>
            </p:nvSpPr>
            <p:spPr>
              <a:xfrm>
                <a:off x="7661910" y="5033010"/>
                <a:ext cx="4105275" cy="24384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l"/>
                <a:r>
                  <a:rPr lang="zh-CN" sz="1200" dirty="0">
                    <a:solidFill>
                      <a:srgbClr val="5E6B75"/>
                    </a:solidFill>
                    <a:latin typeface="Calibri"/>
                    <a:ea typeface="Microsoft YaHei"/>
                    <a:cs typeface="Calibri"/>
                  </a:rPr>
                  <a:t>The court-hour has zero value after start time</a:t>
                </a:r>
              </a:p>
            </p:txBody>
          </p:sp>
        </p:grpSp>
        <p:sp>
          <p:nvSpPr>
            <p:cNvPr id="65" name="Freeform 65"/>
            <p:cNvSpPr/>
            <p:nvPr/>
          </p:nvSpPr>
          <p:spPr>
            <a:xfrm>
              <a:off x="7162800" y="5467350"/>
              <a:ext cx="4229100" cy="323850"/>
            </a:xfrm>
            <a:custGeom>
              <a:avLst/>
              <a:gdLst/>
              <a:ahLst/>
              <a:cxnLst/>
              <a:rect l="l" t="t" r="r" b="b"/>
              <a:pathLst>
                <a:path w="4229100" h="323850">
                  <a:moveTo>
                    <a:pt x="161925" y="0"/>
                  </a:moveTo>
                  <a:lnTo>
                    <a:pt x="4067175" y="0"/>
                  </a:lnTo>
                  <a:cubicBezTo>
                    <a:pt x="4156604" y="0"/>
                    <a:pt x="4229100" y="72496"/>
                    <a:pt x="4229100" y="161925"/>
                  </a:cubicBezTo>
                  <a:lnTo>
                    <a:pt x="4229100" y="161925"/>
                  </a:lnTo>
                  <a:cubicBezTo>
                    <a:pt x="4229100" y="251354"/>
                    <a:pt x="4156604" y="323850"/>
                    <a:pt x="4067175" y="323850"/>
                  </a:cubicBezTo>
                  <a:lnTo>
                    <a:pt x="161925" y="323850"/>
                  </a:lnTo>
                  <a:cubicBezTo>
                    <a:pt x="72496" y="323850"/>
                    <a:pt x="0" y="251354"/>
                    <a:pt x="0" y="161925"/>
                  </a:cubicBezTo>
                  <a:lnTo>
                    <a:pt x="0" y="161925"/>
                  </a:lnTo>
                  <a:cubicBezTo>
                    <a:pt x="0" y="72496"/>
                    <a:pt x="72496" y="0"/>
                    <a:pt x="161925" y="0"/>
                  </a:cubicBezTo>
                  <a:close/>
                </a:path>
              </a:pathLst>
            </a:custGeom>
            <a:solidFill>
              <a:srgbClr val="12304A">
                <a:alpha val="8000"/>
              </a:srgbClr>
            </a:solidFill>
            <a:ln>
              <a:noFill/>
            </a:ln>
            <a:effectLst>
              <a:outerShdw blurRad="171450" dist="47625" dir="10799312" algn="tl" rotWithShape="0">
                <a:srgbClr val="12304A">
                  <a:alpha val="12000"/>
                </a:srgbClr>
              </a:outerShdw>
            </a:effectLst>
          </p:spPr>
        </p:sp>
        <p:sp>
          <p:nvSpPr>
            <p:cNvPr id="66" name="TextBox 66"/>
            <p:cNvSpPr txBox="1"/>
            <p:nvPr/>
          </p:nvSpPr>
          <p:spPr>
            <a:xfrm>
              <a:off x="7805255" y="5555456"/>
              <a:ext cx="2944189" cy="228600"/>
            </a:xfrm>
            <a:prstGeom prst="rect">
              <a:avLst/>
            </a:prstGeom>
            <a:noFill/>
            <a:ln>
              <a:noFill/>
            </a:ln>
            <a:effectLst>
              <a:outerShdw blurRad="171450" dist="47625" dir="10799312" algn="tl" rotWithShape="0">
                <a:srgbClr val="12304A">
                  <a:alpha val="12000"/>
                </a:srgbClr>
              </a:outerShdw>
            </a:effectLst>
          </p:spPr>
          <p:txBody>
            <a:bodyPr wrap="none" lIns="0" tIns="0" rIns="0" bIns="0" anchor="t" anchorCtr="0">
              <a:spAutoFit/>
            </a:bodyPr>
            <a:lstStyle/>
            <a:p>
              <a:pPr algn="ctr"/>
              <a:r>
                <a:rPr lang="zh-CN" sz="1125" b="1" dirty="0">
                  <a:solidFill>
                    <a:srgbClr val="12304A"/>
                  </a:solidFill>
                  <a:latin typeface="Arial"/>
                  <a:ea typeface="Microsoft YaHei"/>
                  <a:cs typeface="Arial"/>
                </a:rPr>
                <a:t>Supply exists, but reach is narrow</a:t>
              </a:r>
            </a:p>
          </p:txBody>
        </p:sp>
      </p:grpSp>
      <p:grpSp>
        <p:nvGrpSpPr>
          <p:cNvPr id="71" name="Group 71"/>
          <p:cNvGrpSpPr/>
          <p:nvPr/>
        </p:nvGrpSpPr>
        <p:grpSpPr>
          <a:xfrm>
            <a:off x="5493019" y="3009900"/>
            <a:ext cx="1205963" cy="1302544"/>
            <a:chOff x="5493019" y="3009900"/>
            <a:chExt cx="1205963" cy="1302544"/>
          </a:xfrm>
        </p:grpSpPr>
        <p:sp>
          <p:nvSpPr>
            <p:cNvPr id="68" name="Ellipse 68"/>
            <p:cNvSpPr/>
            <p:nvPr/>
          </p:nvSpPr>
          <p:spPr>
            <a:xfrm>
              <a:off x="5619750" y="3009900"/>
              <a:ext cx="952500" cy="952500"/>
            </a:xfrm>
            <a:prstGeom prst="ellipse">
              <a:avLst/>
            </a:prstGeom>
            <a:solidFill>
              <a:srgbClr val="FFFFFF"/>
            </a:solidFill>
            <a:ln w="28575">
              <a:solidFill>
                <a:srgbClr val="D65A4A"/>
              </a:solidFill>
              <a:prstDash val="lgDash"/>
            </a:ln>
          </p:spPr>
        </p:sp>
        <p:sp>
          <p:nvSpPr>
            <p:cNvPr id="69" name="Line 69"/>
            <p:cNvSpPr/>
            <p:nvPr/>
          </p:nvSpPr>
          <p:spPr>
            <a:xfrm>
              <a:off x="5715000" y="3105150"/>
              <a:ext cx="762000" cy="762000"/>
            </a:xfrm>
            <a:custGeom>
              <a:avLst/>
              <a:gdLst/>
              <a:ahLst/>
              <a:cxnLst/>
              <a:rect l="l" t="t" r="r" b="b"/>
              <a:pathLst>
                <a:path w="762000" h="762000">
                  <a:moveTo>
                    <a:pt x="0" y="0"/>
                  </a:moveTo>
                  <a:lnTo>
                    <a:pt x="762000" y="762000"/>
                  </a:lnTo>
                </a:path>
              </a:pathLst>
            </a:custGeom>
            <a:noFill/>
            <a:ln w="47625">
              <a:solidFill>
                <a:srgbClr val="D65A4A"/>
              </a:solidFill>
            </a:ln>
          </p:spPr>
        </p:sp>
        <p:sp>
          <p:nvSpPr>
            <p:cNvPr id="70" name="TextBox 70"/>
            <p:cNvSpPr txBox="1"/>
            <p:nvPr/>
          </p:nvSpPr>
          <p:spPr>
            <a:xfrm>
              <a:off x="5493019" y="4114324"/>
              <a:ext cx="1205963" cy="198120"/>
            </a:xfrm>
            <a:prstGeom prst="rect">
              <a:avLst/>
            </a:prstGeom>
            <a:noFill/>
            <a:ln>
              <a:noFill/>
            </a:ln>
          </p:spPr>
          <p:txBody>
            <a:bodyPr wrap="none" lIns="0" tIns="0" rIns="0" bIns="0" anchor="t" anchorCtr="0">
              <a:spAutoFit/>
            </a:bodyPr>
            <a:lstStyle/>
            <a:p>
              <a:pPr algn="ctr"/>
              <a:r>
                <a:rPr lang="zh-CN" sz="975" b="1" dirty="0">
                  <a:solidFill>
                    <a:srgbClr val="D65A4A"/>
                  </a:solidFill>
                  <a:latin typeface="Arial"/>
                  <a:ea typeface="Microsoft YaHei"/>
                  <a:cs typeface="Arial"/>
                </a:rPr>
                <a:t>NO LIVE HANDOFF</a:t>
              </a:r>
            </a:p>
          </p:txBody>
        </p:sp>
      </p:grpSp>
      <p:grpSp>
        <p:nvGrpSpPr>
          <p:cNvPr id="74" name="Group 74"/>
          <p:cNvGrpSpPr/>
          <p:nvPr/>
        </p:nvGrpSpPr>
        <p:grpSpPr>
          <a:xfrm>
            <a:off x="522922" y="6483191"/>
            <a:ext cx="11146155" cy="167640"/>
            <a:chOff x="522922" y="6483191"/>
            <a:chExt cx="11146155" cy="167640"/>
          </a:xfrm>
        </p:grpSpPr>
        <p:sp>
          <p:nvSpPr>
            <p:cNvPr id="72" name="TextBox 72"/>
            <p:cNvSpPr txBox="1"/>
            <p:nvPr/>
          </p:nvSpPr>
          <p:spPr>
            <a:xfrm>
              <a:off x="522922" y="6483191"/>
              <a:ext cx="3924872" cy="167640"/>
            </a:xfrm>
            <a:prstGeom prst="rect">
              <a:avLst/>
            </a:prstGeom>
            <a:noFill/>
            <a:ln>
              <a:noFill/>
            </a:ln>
          </p:spPr>
          <p:txBody>
            <a:bodyPr wrap="none" lIns="0" tIns="0" rIns="0" bIns="0" anchor="t" anchorCtr="0">
              <a:spAutoFit/>
            </a:bodyPr>
            <a:lstStyle/>
            <a:p>
              <a:pPr algn="l"/>
              <a:r>
                <a:rPr lang="zh-CN" sz="825" dirty="0">
                  <a:solidFill>
                    <a:srgbClr val="89949C"/>
                  </a:solidFill>
                  <a:latin typeface="Calibri"/>
                  <a:ea typeface="Microsoft YaHei"/>
                  <a:cs typeface="Calibri"/>
                </a:rPr>
                <a:t>Source: stakeholder problem framing and current-state workflow</a:t>
              </a:r>
            </a:p>
          </p:txBody>
        </p:sp>
        <p:sp>
          <p:nvSpPr>
            <p:cNvPr id="73" name="TextBox 73"/>
            <p:cNvSpPr txBox="1"/>
            <p:nvPr/>
          </p:nvSpPr>
          <p:spPr>
            <a:xfrm>
              <a:off x="11515582" y="6483191"/>
              <a:ext cx="153495" cy="167640"/>
            </a:xfrm>
            <a:prstGeom prst="rect">
              <a:avLst/>
            </a:prstGeom>
            <a:noFill/>
            <a:ln>
              <a:noFill/>
            </a:ln>
          </p:spPr>
          <p:txBody>
            <a:bodyPr wrap="none" lIns="0" tIns="0" rIns="0" bIns="0" anchor="t" anchorCtr="0">
              <a:spAutoFit/>
            </a:bodyPr>
            <a:lstStyle/>
            <a:p>
              <a:pPr algn="r"/>
              <a:r>
                <a:rPr lang="zh-CN" sz="825" dirty="0">
                  <a:solidFill>
                    <a:srgbClr val="89949C"/>
                  </a:solidFill>
                  <a:latin typeface="Arial"/>
                  <a:ea typeface="Microsoft YaHei"/>
                  <a:cs typeface="Arial"/>
                </a:rPr>
                <a:t>02</a:t>
              </a:r>
            </a:p>
          </p:txBody>
        </p:sp>
      </p:grpSp>
    </p:spTree>
  </p:cSld>
  <p:clrMapOvr>
    <a:masterClrMapping/>
  </p:clrMapOvr>
  <p:transition 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8F7"/>
          </a:solidFill>
          <a:ln>
            <a:noFill/>
          </a:ln>
        </p:spPr>
      </p:sp>
      <p:sp>
        <p:nvSpPr>
          <p:cNvPr id="3" name="Rectangle 3"/>
          <p:cNvSpPr/>
          <p:nvPr/>
        </p:nvSpPr>
        <p:spPr>
          <a:xfrm>
            <a:off x="0" y="0"/>
            <a:ext cx="12192000" cy="66675"/>
          </a:xfrm>
          <a:prstGeom prst="rect">
            <a:avLst/>
          </a:prstGeom>
          <a:solidFill>
            <a:srgbClr val="17A673"/>
          </a:solidFill>
          <a:ln>
            <a:noFill/>
          </a:ln>
        </p:spPr>
      </p:sp>
      <p:grpSp>
        <p:nvGrpSpPr>
          <p:cNvPr id="7" name="Group 7"/>
          <p:cNvGrpSpPr/>
          <p:nvPr/>
        </p:nvGrpSpPr>
        <p:grpSpPr>
          <a:xfrm>
            <a:off x="501015" y="248602"/>
            <a:ext cx="12304600" cy="894398"/>
            <a:chOff x="501015" y="248602"/>
            <a:chExt cx="12304600" cy="894398"/>
          </a:xfrm>
        </p:grpSpPr>
        <p:sp>
          <p:nvSpPr>
            <p:cNvPr id="4" name="TextBox 4"/>
            <p:cNvSpPr txBox="1"/>
            <p:nvPr/>
          </p:nvSpPr>
          <p:spPr>
            <a:xfrm>
              <a:off x="501015" y="248602"/>
              <a:ext cx="12304600" cy="518160"/>
            </a:xfrm>
            <a:prstGeom prst="rect">
              <a:avLst/>
            </a:prstGeom>
            <a:noFill/>
            <a:ln>
              <a:noFill/>
            </a:ln>
          </p:spPr>
          <p:txBody>
            <a:bodyPr wrap="none" lIns="0" tIns="0" rIns="0" bIns="0" anchor="t" anchorCtr="0">
              <a:spAutoFit/>
            </a:bodyPr>
            <a:lstStyle/>
            <a:p>
              <a:pPr algn="l"/>
              <a:r>
                <a:rPr lang="zh-CN" sz="2550" b="1" dirty="0">
                  <a:solidFill>
                    <a:srgbClr val="12304A"/>
                  </a:solidFill>
                  <a:latin typeface="Arial"/>
                  <a:ea typeface="Microsoft YaHei"/>
                  <a:cs typeface="Arial"/>
                </a:rPr>
                <a:t>Supply and Demand Exist, but They Fail to Meet at the Right Time</a:t>
              </a:r>
            </a:p>
          </p:txBody>
        </p:sp>
        <p:sp>
          <p:nvSpPr>
            <p:cNvPr id="5" name="Freeform 5"/>
            <p:cNvSpPr/>
            <p:nvPr/>
          </p:nvSpPr>
          <p:spPr>
            <a:xfrm>
              <a:off x="533400" y="723900"/>
              <a:ext cx="11125200" cy="419100"/>
            </a:xfrm>
            <a:custGeom>
              <a:avLst/>
              <a:gdLst/>
              <a:ahLst/>
              <a:cxnLst/>
              <a:rect l="l" t="t" r="r" b="b"/>
              <a:pathLst>
                <a:path w="11125200" h="419100">
                  <a:moveTo>
                    <a:pt x="66675" y="0"/>
                  </a:moveTo>
                  <a:lnTo>
                    <a:pt x="11058525" y="0"/>
                  </a:lnTo>
                  <a:cubicBezTo>
                    <a:pt x="11095349" y="0"/>
                    <a:pt x="11125200" y="29851"/>
                    <a:pt x="11125200" y="66675"/>
                  </a:cubicBezTo>
                  <a:lnTo>
                    <a:pt x="11125200" y="352425"/>
                  </a:lnTo>
                  <a:cubicBezTo>
                    <a:pt x="11125200" y="389249"/>
                    <a:pt x="11095349" y="419100"/>
                    <a:pt x="11058525" y="419100"/>
                  </a:cubicBezTo>
                  <a:lnTo>
                    <a:pt x="66675" y="419100"/>
                  </a:lnTo>
                  <a:cubicBezTo>
                    <a:pt x="29851" y="419100"/>
                    <a:pt x="0" y="389249"/>
                    <a:pt x="0" y="352425"/>
                  </a:cubicBezTo>
                  <a:lnTo>
                    <a:pt x="0" y="66675"/>
                  </a:lnTo>
                  <a:cubicBezTo>
                    <a:pt x="0" y="29851"/>
                    <a:pt x="29851" y="0"/>
                    <a:pt x="66675" y="0"/>
                  </a:cubicBezTo>
                  <a:close/>
                </a:path>
              </a:pathLst>
            </a:custGeom>
            <a:solidFill>
              <a:srgbClr val="12304A"/>
            </a:solidFill>
            <a:ln>
              <a:noFill/>
            </a:ln>
          </p:spPr>
        </p:sp>
        <p:sp>
          <p:nvSpPr>
            <p:cNvPr id="6" name="TextBox 6"/>
            <p:cNvSpPr txBox="1"/>
            <p:nvPr/>
          </p:nvSpPr>
          <p:spPr>
            <a:xfrm>
              <a:off x="706755" y="844868"/>
              <a:ext cx="10540853"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Calibri"/>
                  <a:ea typeface="Microsoft YaHei"/>
                  <a:cs typeface="Calibri"/>
                </a:rPr>
                <a:t>The missing capability is demand orchestration across time, place, price, quality, and group readiness.</a:t>
              </a:r>
            </a:p>
          </p:txBody>
        </p:sp>
      </p:grpSp>
      <p:grpSp>
        <p:nvGrpSpPr>
          <p:cNvPr id="14" name="Group 14"/>
          <p:cNvGrpSpPr/>
          <p:nvPr/>
        </p:nvGrpSpPr>
        <p:grpSpPr>
          <a:xfrm>
            <a:off x="3143250" y="2076450"/>
            <a:ext cx="5905500" cy="1943100"/>
            <a:chOff x="3143250" y="2076450"/>
            <a:chExt cx="5905500" cy="1943100"/>
          </a:xfrm>
        </p:grpSpPr>
        <p:sp>
          <p:nvSpPr>
            <p:cNvPr id="8" name="Line 8"/>
            <p:cNvSpPr/>
            <p:nvPr/>
          </p:nvSpPr>
          <p:spPr>
            <a:xfrm>
              <a:off x="3143250" y="2076450"/>
              <a:ext cx="2095500" cy="1104900"/>
            </a:xfrm>
            <a:custGeom>
              <a:avLst/>
              <a:gdLst/>
              <a:ahLst/>
              <a:cxnLst/>
              <a:rect l="l" t="t" r="r" b="b"/>
              <a:pathLst>
                <a:path w="2095500" h="1104900">
                  <a:moveTo>
                    <a:pt x="0" y="0"/>
                  </a:moveTo>
                  <a:lnTo>
                    <a:pt x="2095500" y="1104900"/>
                  </a:lnTo>
                </a:path>
              </a:pathLst>
            </a:custGeom>
            <a:noFill/>
            <a:ln w="28575">
              <a:solidFill>
                <a:srgbClr val="CED8D3"/>
              </a:solidFill>
            </a:ln>
          </p:spPr>
        </p:sp>
        <p:sp>
          <p:nvSpPr>
            <p:cNvPr id="9" name="Line 9"/>
            <p:cNvSpPr/>
            <p:nvPr/>
          </p:nvSpPr>
          <p:spPr>
            <a:xfrm>
              <a:off x="3143250" y="3048000"/>
              <a:ext cx="2095500" cy="323850"/>
            </a:xfrm>
            <a:custGeom>
              <a:avLst/>
              <a:gdLst/>
              <a:ahLst/>
              <a:cxnLst/>
              <a:rect l="l" t="t" r="r" b="b"/>
              <a:pathLst>
                <a:path w="2095500" h="323850">
                  <a:moveTo>
                    <a:pt x="0" y="0"/>
                  </a:moveTo>
                  <a:lnTo>
                    <a:pt x="2095500" y="323850"/>
                  </a:lnTo>
                </a:path>
              </a:pathLst>
            </a:custGeom>
            <a:noFill/>
            <a:ln w="28575">
              <a:solidFill>
                <a:srgbClr val="CED8D3"/>
              </a:solidFill>
            </a:ln>
          </p:spPr>
        </p:sp>
        <p:sp>
          <p:nvSpPr>
            <p:cNvPr id="10" name="Line 10"/>
            <p:cNvSpPr/>
            <p:nvPr/>
          </p:nvSpPr>
          <p:spPr>
            <a:xfrm>
              <a:off x="3143250" y="3600450"/>
              <a:ext cx="2095500" cy="419100"/>
            </a:xfrm>
            <a:custGeom>
              <a:avLst/>
              <a:gdLst/>
              <a:ahLst/>
              <a:cxnLst/>
              <a:rect l="l" t="t" r="r" b="b"/>
              <a:pathLst>
                <a:path w="2095500" h="419100">
                  <a:moveTo>
                    <a:pt x="0" y="419100"/>
                  </a:moveTo>
                  <a:lnTo>
                    <a:pt x="2095500" y="0"/>
                  </a:lnTo>
                </a:path>
              </a:pathLst>
            </a:custGeom>
            <a:noFill/>
            <a:ln w="28575">
              <a:solidFill>
                <a:srgbClr val="CED8D3"/>
              </a:solidFill>
            </a:ln>
          </p:spPr>
        </p:sp>
        <p:sp>
          <p:nvSpPr>
            <p:cNvPr id="11" name="Line 11"/>
            <p:cNvSpPr/>
            <p:nvPr/>
          </p:nvSpPr>
          <p:spPr>
            <a:xfrm>
              <a:off x="6953250" y="2076450"/>
              <a:ext cx="2095500" cy="1104900"/>
            </a:xfrm>
            <a:custGeom>
              <a:avLst/>
              <a:gdLst/>
              <a:ahLst/>
              <a:cxnLst/>
              <a:rect l="l" t="t" r="r" b="b"/>
              <a:pathLst>
                <a:path w="2095500" h="1104900">
                  <a:moveTo>
                    <a:pt x="2095500" y="0"/>
                  </a:moveTo>
                  <a:lnTo>
                    <a:pt x="0" y="1104900"/>
                  </a:lnTo>
                </a:path>
              </a:pathLst>
            </a:custGeom>
            <a:noFill/>
            <a:ln w="28575">
              <a:solidFill>
                <a:srgbClr val="CED8D3"/>
              </a:solidFill>
            </a:ln>
          </p:spPr>
        </p:sp>
        <p:sp>
          <p:nvSpPr>
            <p:cNvPr id="12" name="Line 12"/>
            <p:cNvSpPr/>
            <p:nvPr/>
          </p:nvSpPr>
          <p:spPr>
            <a:xfrm>
              <a:off x="6953250" y="3048000"/>
              <a:ext cx="2095500" cy="323850"/>
            </a:xfrm>
            <a:custGeom>
              <a:avLst/>
              <a:gdLst/>
              <a:ahLst/>
              <a:cxnLst/>
              <a:rect l="l" t="t" r="r" b="b"/>
              <a:pathLst>
                <a:path w="2095500" h="323850">
                  <a:moveTo>
                    <a:pt x="2095500" y="0"/>
                  </a:moveTo>
                  <a:lnTo>
                    <a:pt x="0" y="323850"/>
                  </a:lnTo>
                </a:path>
              </a:pathLst>
            </a:custGeom>
            <a:noFill/>
            <a:ln w="28575">
              <a:solidFill>
                <a:srgbClr val="CED8D3"/>
              </a:solidFill>
            </a:ln>
          </p:spPr>
        </p:sp>
        <p:sp>
          <p:nvSpPr>
            <p:cNvPr id="13" name="Line 13"/>
            <p:cNvSpPr/>
            <p:nvPr/>
          </p:nvSpPr>
          <p:spPr>
            <a:xfrm>
              <a:off x="6953250" y="3600450"/>
              <a:ext cx="2095500" cy="419100"/>
            </a:xfrm>
            <a:custGeom>
              <a:avLst/>
              <a:gdLst/>
              <a:ahLst/>
              <a:cxnLst/>
              <a:rect l="l" t="t" r="r" b="b"/>
              <a:pathLst>
                <a:path w="2095500" h="419100">
                  <a:moveTo>
                    <a:pt x="2095500" y="419100"/>
                  </a:moveTo>
                  <a:lnTo>
                    <a:pt x="0" y="0"/>
                  </a:lnTo>
                </a:path>
              </a:pathLst>
            </a:custGeom>
            <a:noFill/>
            <a:ln w="28575">
              <a:solidFill>
                <a:srgbClr val="CED8D3"/>
              </a:solidFill>
            </a:ln>
          </p:spPr>
        </p:sp>
      </p:grpSp>
      <p:grpSp>
        <p:nvGrpSpPr>
          <p:cNvPr id="35" name="Group 35"/>
          <p:cNvGrpSpPr/>
          <p:nvPr/>
        </p:nvGrpSpPr>
        <p:grpSpPr>
          <a:xfrm>
            <a:off x="803910" y="1432560"/>
            <a:ext cx="2983110" cy="2929890"/>
            <a:chOff x="803910" y="1432560"/>
            <a:chExt cx="2983110" cy="2929890"/>
          </a:xfrm>
        </p:grpSpPr>
        <p:sp>
          <p:nvSpPr>
            <p:cNvPr id="15" name="TextBox 15"/>
            <p:cNvSpPr txBox="1"/>
            <p:nvPr/>
          </p:nvSpPr>
          <p:spPr>
            <a:xfrm>
              <a:off x="803910" y="1432560"/>
              <a:ext cx="2155946" cy="243840"/>
            </a:xfrm>
            <a:prstGeom prst="rect">
              <a:avLst/>
            </a:prstGeom>
            <a:noFill/>
            <a:ln>
              <a:noFill/>
            </a:ln>
          </p:spPr>
          <p:txBody>
            <a:bodyPr wrap="none" lIns="0" tIns="0" rIns="0" bIns="0" anchor="t" anchorCtr="0">
              <a:spAutoFit/>
            </a:bodyPr>
            <a:lstStyle/>
            <a:p>
              <a:pPr algn="l"/>
              <a:r>
                <a:rPr lang="zh-CN" sz="1200" b="1" dirty="0">
                  <a:solidFill>
                    <a:srgbClr val="17A673"/>
                  </a:solidFill>
                  <a:latin typeface="Arial"/>
                  <a:ea typeface="Microsoft YaHei"/>
                  <a:cs typeface="Arial"/>
                </a:rPr>
                <a:t>FLEXIBLE PLAYER DEMAND</a:t>
              </a:r>
            </a:p>
          </p:txBody>
        </p:sp>
        <p:grpSp>
          <p:nvGrpSpPr>
            <p:cNvPr id="20" name="Group 20"/>
            <p:cNvGrpSpPr/>
            <p:nvPr/>
          </p:nvGrpSpPr>
          <p:grpSpPr>
            <a:xfrm>
              <a:off x="819150" y="1752600"/>
              <a:ext cx="2967870" cy="666750"/>
              <a:chOff x="819150" y="1752600"/>
              <a:chExt cx="2967870" cy="666750"/>
            </a:xfrm>
          </p:grpSpPr>
          <p:sp>
            <p:nvSpPr>
              <p:cNvPr id="16" name="Freeform 16"/>
              <p:cNvSpPr/>
              <p:nvPr/>
            </p:nvSpPr>
            <p:spPr>
              <a:xfrm>
                <a:off x="819150" y="1752600"/>
                <a:ext cx="2324100" cy="666750"/>
              </a:xfrm>
              <a:custGeom>
                <a:avLst/>
                <a:gdLst/>
                <a:ahLst/>
                <a:cxnLst/>
                <a:rect l="l" t="t" r="r" b="b"/>
                <a:pathLst>
                  <a:path w="2324100" h="666750">
                    <a:moveTo>
                      <a:pt x="114300" y="0"/>
                    </a:moveTo>
                    <a:lnTo>
                      <a:pt x="2209800" y="0"/>
                    </a:lnTo>
                    <a:cubicBezTo>
                      <a:pt x="2272926" y="0"/>
                      <a:pt x="2324100" y="51174"/>
                      <a:pt x="2324100" y="114300"/>
                    </a:cubicBezTo>
                    <a:lnTo>
                      <a:pt x="2324100" y="552450"/>
                    </a:lnTo>
                    <a:cubicBezTo>
                      <a:pt x="2324100" y="615576"/>
                      <a:pt x="2272926" y="666750"/>
                      <a:pt x="2209800" y="666750"/>
                    </a:cubicBezTo>
                    <a:lnTo>
                      <a:pt x="114300" y="666750"/>
                    </a:lnTo>
                    <a:cubicBezTo>
                      <a:pt x="51174" y="666750"/>
                      <a:pt x="0" y="615576"/>
                      <a:pt x="0" y="552450"/>
                    </a:cubicBezTo>
                    <a:lnTo>
                      <a:pt x="0" y="114300"/>
                    </a:lnTo>
                    <a:cubicBezTo>
                      <a:pt x="0" y="51174"/>
                      <a:pt x="51174" y="0"/>
                      <a:pt x="114300" y="0"/>
                    </a:cubicBezTo>
                    <a:close/>
                  </a:path>
                </a:pathLst>
              </a:custGeom>
              <a:solidFill>
                <a:srgbClr val="FFFFFF"/>
              </a:solidFill>
              <a:ln w="9525">
                <a:solidFill>
                  <a:srgbClr val="CED8D3"/>
                </a:solidFill>
              </a:ln>
            </p:spPr>
          </p:sp>
          <p:sp>
            <p:nvSpPr>
              <p:cNvPr id="17" name="Freeform 17"/>
              <p:cNvSpPr/>
              <p:nvPr/>
            </p:nvSpPr>
            <p:spPr>
              <a:xfrm>
                <a:off x="990600" y="1914525"/>
                <a:ext cx="323850" cy="323850"/>
              </a:xfrm>
              <a:custGeom>
                <a:avLst/>
                <a:gdLst/>
                <a:ahLst/>
                <a:cxnLst/>
                <a:rect l="l" t="t" r="r" b="b"/>
                <a:pathLst>
                  <a:path w="323850" h="323850">
                    <a:moveTo>
                      <a:pt x="161925" y="323850"/>
                    </a:moveTo>
                    <a:cubicBezTo>
                      <a:pt x="251354" y="323850"/>
                      <a:pt x="323850" y="251354"/>
                      <a:pt x="323850" y="161925"/>
                    </a:cubicBezTo>
                    <a:cubicBezTo>
                      <a:pt x="323850" y="72496"/>
                      <a:pt x="251354" y="0"/>
                      <a:pt x="161925" y="0"/>
                    </a:cubicBezTo>
                    <a:cubicBezTo>
                      <a:pt x="72496" y="0"/>
                      <a:pt x="0" y="72496"/>
                      <a:pt x="0" y="161925"/>
                    </a:cubicBezTo>
                    <a:cubicBezTo>
                      <a:pt x="0" y="251354"/>
                      <a:pt x="72496" y="323850"/>
                      <a:pt x="161925" y="323850"/>
                    </a:cubicBezTo>
                    <a:close/>
                    <a:moveTo>
                      <a:pt x="141684" y="60722"/>
                    </a:moveTo>
                    <a:lnTo>
                      <a:pt x="141684" y="170309"/>
                    </a:lnTo>
                    <a:lnTo>
                      <a:pt x="208335" y="236959"/>
                    </a:lnTo>
                    <a:lnTo>
                      <a:pt x="236959" y="208335"/>
                    </a:lnTo>
                    <a:lnTo>
                      <a:pt x="182166" y="153541"/>
                    </a:lnTo>
                    <a:lnTo>
                      <a:pt x="182166" y="60722"/>
                    </a:lnTo>
                    <a:lnTo>
                      <a:pt x="141684" y="60722"/>
                    </a:lnTo>
                    <a:close/>
                  </a:path>
                </a:pathLst>
              </a:custGeom>
              <a:solidFill>
                <a:srgbClr val="17A673"/>
              </a:solidFill>
              <a:ln>
                <a:noFill/>
              </a:ln>
            </p:spPr>
          </p:sp>
          <p:sp>
            <p:nvSpPr>
              <p:cNvPr id="18" name="TextBox 18"/>
              <p:cNvSpPr txBox="1"/>
              <p:nvPr/>
            </p:nvSpPr>
            <p:spPr>
              <a:xfrm>
                <a:off x="1431608" y="1891189"/>
                <a:ext cx="452763" cy="259080"/>
              </a:xfrm>
              <a:prstGeom prst="rect">
                <a:avLst/>
              </a:prstGeom>
              <a:noFill/>
              <a:ln>
                <a:noFill/>
              </a:ln>
            </p:spPr>
            <p:txBody>
              <a:bodyPr wrap="none" lIns="0" tIns="0" rIns="0" bIns="0" anchor="t" anchorCtr="0">
                <a:spAutoFit/>
              </a:bodyPr>
              <a:lstStyle/>
              <a:p>
                <a:pPr algn="l"/>
                <a:r>
                  <a:rPr lang="zh-CN" sz="1275" b="1" dirty="0">
                    <a:solidFill>
                      <a:srgbClr val="17212B"/>
                    </a:solidFill>
                    <a:latin typeface="Arial"/>
                    <a:ea typeface="Microsoft YaHei"/>
                    <a:cs typeface="Arial"/>
                  </a:rPr>
                  <a:t>Time</a:t>
                </a:r>
              </a:p>
            </p:txBody>
          </p:sp>
          <p:sp>
            <p:nvSpPr>
              <p:cNvPr id="19" name="TextBox 19"/>
              <p:cNvSpPr txBox="1"/>
              <p:nvPr/>
            </p:nvSpPr>
            <p:spPr>
              <a:xfrm>
                <a:off x="1433512" y="2126456"/>
                <a:ext cx="2353508" cy="228600"/>
              </a:xfrm>
              <a:prstGeom prst="rect">
                <a:avLst/>
              </a:prstGeom>
              <a:noFill/>
              <a:ln>
                <a:noFill/>
              </a:ln>
            </p:spPr>
            <p:txBody>
              <a:bodyPr wrap="none" lIns="0" tIns="0" rIns="0" bIns="0" anchor="t" anchorCtr="0">
                <a:spAutoFit/>
              </a:bodyPr>
              <a:lstStyle/>
              <a:p>
                <a:pPr algn="l"/>
                <a:r>
                  <a:rPr lang="zh-CN" sz="1125" dirty="0">
                    <a:solidFill>
                      <a:srgbClr val="5E6B75"/>
                    </a:solidFill>
                    <a:latin typeface="Calibri"/>
                    <a:ea typeface="Microsoft YaHei"/>
                    <a:cs typeface="Calibri"/>
                  </a:rPr>
                  <a:t>Preferred vs acceptable slot</a:t>
                </a:r>
              </a:p>
            </p:txBody>
          </p:sp>
        </p:grpSp>
        <p:grpSp>
          <p:nvGrpSpPr>
            <p:cNvPr id="25" name="Group 25"/>
            <p:cNvGrpSpPr/>
            <p:nvPr/>
          </p:nvGrpSpPr>
          <p:grpSpPr>
            <a:xfrm>
              <a:off x="819150" y="2724150"/>
              <a:ext cx="2795349" cy="666750"/>
              <a:chOff x="819150" y="2724150"/>
              <a:chExt cx="2795349" cy="666750"/>
            </a:xfrm>
          </p:grpSpPr>
          <p:sp>
            <p:nvSpPr>
              <p:cNvPr id="21" name="Freeform 21"/>
              <p:cNvSpPr/>
              <p:nvPr/>
            </p:nvSpPr>
            <p:spPr>
              <a:xfrm>
                <a:off x="819150" y="2724150"/>
                <a:ext cx="2324100" cy="666750"/>
              </a:xfrm>
              <a:custGeom>
                <a:avLst/>
                <a:gdLst/>
                <a:ahLst/>
                <a:cxnLst/>
                <a:rect l="l" t="t" r="r" b="b"/>
                <a:pathLst>
                  <a:path w="2324100" h="666750">
                    <a:moveTo>
                      <a:pt x="114300" y="0"/>
                    </a:moveTo>
                    <a:lnTo>
                      <a:pt x="2209800" y="0"/>
                    </a:lnTo>
                    <a:cubicBezTo>
                      <a:pt x="2272926" y="0"/>
                      <a:pt x="2324100" y="51174"/>
                      <a:pt x="2324100" y="114300"/>
                    </a:cubicBezTo>
                    <a:lnTo>
                      <a:pt x="2324100" y="552450"/>
                    </a:lnTo>
                    <a:cubicBezTo>
                      <a:pt x="2324100" y="615576"/>
                      <a:pt x="2272926" y="666750"/>
                      <a:pt x="2209800" y="666750"/>
                    </a:cubicBezTo>
                    <a:lnTo>
                      <a:pt x="114300" y="666750"/>
                    </a:lnTo>
                    <a:cubicBezTo>
                      <a:pt x="51174" y="666750"/>
                      <a:pt x="0" y="615576"/>
                      <a:pt x="0" y="552450"/>
                    </a:cubicBezTo>
                    <a:lnTo>
                      <a:pt x="0" y="114300"/>
                    </a:lnTo>
                    <a:cubicBezTo>
                      <a:pt x="0" y="51174"/>
                      <a:pt x="51174" y="0"/>
                      <a:pt x="114300" y="0"/>
                    </a:cubicBezTo>
                    <a:close/>
                  </a:path>
                </a:pathLst>
              </a:custGeom>
              <a:solidFill>
                <a:srgbClr val="FFFFFF"/>
              </a:solidFill>
              <a:ln w="9525">
                <a:solidFill>
                  <a:srgbClr val="CED8D3"/>
                </a:solidFill>
              </a:ln>
            </p:spPr>
          </p:sp>
          <p:sp>
            <p:nvSpPr>
              <p:cNvPr id="22" name="Freeform 22"/>
              <p:cNvSpPr/>
              <p:nvPr/>
            </p:nvSpPr>
            <p:spPr>
              <a:xfrm>
                <a:off x="1031081" y="2886075"/>
                <a:ext cx="242888" cy="323850"/>
              </a:xfrm>
              <a:custGeom>
                <a:avLst/>
                <a:gdLst/>
                <a:ahLst/>
                <a:cxnLst/>
                <a:rect l="l" t="t" r="r" b="b"/>
                <a:pathLst>
                  <a:path w="242888" h="323850">
                    <a:moveTo>
                      <a:pt x="27910" y="206932"/>
                    </a:moveTo>
                    <a:lnTo>
                      <a:pt x="121444" y="323850"/>
                    </a:lnTo>
                    <a:lnTo>
                      <a:pt x="214978" y="206932"/>
                    </a:lnTo>
                    <a:cubicBezTo>
                      <a:pt x="233044" y="184349"/>
                      <a:pt x="242888" y="156289"/>
                      <a:pt x="242888" y="127367"/>
                    </a:cubicBezTo>
                    <a:lnTo>
                      <a:pt x="242888" y="121444"/>
                    </a:lnTo>
                    <a:cubicBezTo>
                      <a:pt x="242888" y="54372"/>
                      <a:pt x="188515" y="0"/>
                      <a:pt x="121444" y="0"/>
                    </a:cubicBezTo>
                    <a:cubicBezTo>
                      <a:pt x="54372" y="0"/>
                      <a:pt x="0" y="54372"/>
                      <a:pt x="0" y="121444"/>
                    </a:cubicBezTo>
                    <a:lnTo>
                      <a:pt x="0" y="127367"/>
                    </a:lnTo>
                    <a:cubicBezTo>
                      <a:pt x="0" y="156289"/>
                      <a:pt x="9843" y="184349"/>
                      <a:pt x="27910" y="206932"/>
                    </a:cubicBezTo>
                    <a:close/>
                    <a:moveTo>
                      <a:pt x="121444" y="161925"/>
                    </a:moveTo>
                    <a:cubicBezTo>
                      <a:pt x="143801" y="161925"/>
                      <a:pt x="161925" y="143801"/>
                      <a:pt x="161925" y="121444"/>
                    </a:cubicBezTo>
                    <a:cubicBezTo>
                      <a:pt x="161925" y="99087"/>
                      <a:pt x="143801" y="80962"/>
                      <a:pt x="121444" y="80962"/>
                    </a:cubicBezTo>
                    <a:cubicBezTo>
                      <a:pt x="99087" y="80962"/>
                      <a:pt x="80962" y="99087"/>
                      <a:pt x="80962" y="121444"/>
                    </a:cubicBezTo>
                    <a:cubicBezTo>
                      <a:pt x="80962" y="143801"/>
                      <a:pt x="99087" y="161925"/>
                      <a:pt x="121444" y="161925"/>
                    </a:cubicBezTo>
                    <a:close/>
                  </a:path>
                </a:pathLst>
              </a:custGeom>
              <a:solidFill>
                <a:srgbClr val="17A673"/>
              </a:solidFill>
              <a:ln>
                <a:noFill/>
              </a:ln>
            </p:spPr>
          </p:sp>
          <p:sp>
            <p:nvSpPr>
              <p:cNvPr id="23" name="TextBox 23"/>
              <p:cNvSpPr txBox="1"/>
              <p:nvPr/>
            </p:nvSpPr>
            <p:spPr>
              <a:xfrm>
                <a:off x="1431608" y="2862739"/>
                <a:ext cx="1938748" cy="259080"/>
              </a:xfrm>
              <a:prstGeom prst="rect">
                <a:avLst/>
              </a:prstGeom>
              <a:noFill/>
              <a:ln>
                <a:noFill/>
              </a:ln>
            </p:spPr>
            <p:txBody>
              <a:bodyPr wrap="none" lIns="0" tIns="0" rIns="0" bIns="0" anchor="t" anchorCtr="0">
                <a:spAutoFit/>
              </a:bodyPr>
              <a:lstStyle/>
              <a:p>
                <a:pPr algn="l"/>
                <a:r>
                  <a:rPr lang="zh-CN" sz="1275" b="1" dirty="0">
                    <a:solidFill>
                      <a:srgbClr val="17212B"/>
                    </a:solidFill>
                    <a:latin typeface="Arial"/>
                    <a:ea typeface="Microsoft YaHei"/>
                    <a:cs typeface="Arial"/>
                  </a:rPr>
                  <a:t>Location and quality</a:t>
                </a:r>
              </a:p>
            </p:txBody>
          </p:sp>
          <p:sp>
            <p:nvSpPr>
              <p:cNvPr id="24" name="TextBox 24"/>
              <p:cNvSpPr txBox="1"/>
              <p:nvPr/>
            </p:nvSpPr>
            <p:spPr>
              <a:xfrm>
                <a:off x="1433512" y="3098006"/>
                <a:ext cx="2180987" cy="228600"/>
              </a:xfrm>
              <a:prstGeom prst="rect">
                <a:avLst/>
              </a:prstGeom>
              <a:noFill/>
              <a:ln>
                <a:noFill/>
              </a:ln>
            </p:spPr>
            <p:txBody>
              <a:bodyPr wrap="none" lIns="0" tIns="0" rIns="0" bIns="0" anchor="t" anchorCtr="0">
                <a:spAutoFit/>
              </a:bodyPr>
              <a:lstStyle/>
              <a:p>
                <a:pPr algn="l"/>
                <a:r>
                  <a:rPr lang="zh-CN" sz="1125" dirty="0">
                    <a:solidFill>
                      <a:srgbClr val="5E6B75"/>
                    </a:solidFill>
                    <a:latin typeface="Calibri"/>
                    <a:ea typeface="Microsoft YaHei"/>
                    <a:cs typeface="Calibri"/>
                  </a:rPr>
                  <a:t>Distance, facilities, trust</a:t>
                </a:r>
              </a:p>
            </p:txBody>
          </p:sp>
        </p:grpSp>
        <p:grpSp>
          <p:nvGrpSpPr>
            <p:cNvPr id="34" name="Group 34"/>
            <p:cNvGrpSpPr/>
            <p:nvPr/>
          </p:nvGrpSpPr>
          <p:grpSpPr>
            <a:xfrm>
              <a:off x="819150" y="3695700"/>
              <a:ext cx="2648968" cy="666750"/>
              <a:chOff x="819150" y="3695700"/>
              <a:chExt cx="2648968" cy="666750"/>
            </a:xfrm>
          </p:grpSpPr>
          <p:sp>
            <p:nvSpPr>
              <p:cNvPr id="26" name="Freeform 26"/>
              <p:cNvSpPr/>
              <p:nvPr/>
            </p:nvSpPr>
            <p:spPr>
              <a:xfrm>
                <a:off x="819150" y="3695700"/>
                <a:ext cx="2324100" cy="666750"/>
              </a:xfrm>
              <a:custGeom>
                <a:avLst/>
                <a:gdLst/>
                <a:ahLst/>
                <a:cxnLst/>
                <a:rect l="l" t="t" r="r" b="b"/>
                <a:pathLst>
                  <a:path w="2324100" h="666750">
                    <a:moveTo>
                      <a:pt x="114300" y="0"/>
                    </a:moveTo>
                    <a:lnTo>
                      <a:pt x="2209800" y="0"/>
                    </a:lnTo>
                    <a:cubicBezTo>
                      <a:pt x="2272926" y="0"/>
                      <a:pt x="2324100" y="51174"/>
                      <a:pt x="2324100" y="114300"/>
                    </a:cubicBezTo>
                    <a:lnTo>
                      <a:pt x="2324100" y="552450"/>
                    </a:lnTo>
                    <a:cubicBezTo>
                      <a:pt x="2324100" y="615576"/>
                      <a:pt x="2272926" y="666750"/>
                      <a:pt x="2209800" y="666750"/>
                    </a:cubicBezTo>
                    <a:lnTo>
                      <a:pt x="114300" y="666750"/>
                    </a:lnTo>
                    <a:cubicBezTo>
                      <a:pt x="51174" y="666750"/>
                      <a:pt x="0" y="615576"/>
                      <a:pt x="0" y="552450"/>
                    </a:cubicBezTo>
                    <a:lnTo>
                      <a:pt x="0" y="114300"/>
                    </a:lnTo>
                    <a:cubicBezTo>
                      <a:pt x="0" y="51174"/>
                      <a:pt x="51174" y="0"/>
                      <a:pt x="114300" y="0"/>
                    </a:cubicBezTo>
                    <a:close/>
                  </a:path>
                </a:pathLst>
              </a:custGeom>
              <a:solidFill>
                <a:srgbClr val="FFFFFF"/>
              </a:solidFill>
              <a:ln w="9525">
                <a:solidFill>
                  <a:srgbClr val="CED8D3"/>
                </a:solidFill>
              </a:ln>
            </p:spPr>
          </p:sp>
          <p:grpSp>
            <p:nvGrpSpPr>
              <p:cNvPr id="31" name="Group 31"/>
              <p:cNvGrpSpPr/>
              <p:nvPr/>
            </p:nvGrpSpPr>
            <p:grpSpPr>
              <a:xfrm>
                <a:off x="990600" y="3877866"/>
                <a:ext cx="323850" cy="283368"/>
                <a:chOff x="990600" y="3877866"/>
                <a:chExt cx="323850" cy="283368"/>
              </a:xfrm>
            </p:grpSpPr>
            <p:sp>
              <p:nvSpPr>
                <p:cNvPr id="27" name="Freeform 27"/>
                <p:cNvSpPr/>
                <p:nvPr/>
              </p:nvSpPr>
              <p:spPr>
                <a:xfrm>
                  <a:off x="1051322" y="3877866"/>
                  <a:ext cx="101203" cy="101203"/>
                </a:xfrm>
                <a:custGeom>
                  <a:avLst/>
                  <a:gdLst/>
                  <a:ahLst/>
                  <a:cxnLst/>
                  <a:rect l="l" t="t" r="r" b="b"/>
                  <a:pathLst>
                    <a:path w="101203" h="101203">
                      <a:moveTo>
                        <a:pt x="101203" y="50602"/>
                      </a:moveTo>
                      <a:cubicBezTo>
                        <a:pt x="101203" y="78548"/>
                        <a:pt x="78548" y="101203"/>
                        <a:pt x="50602" y="101203"/>
                      </a:cubicBezTo>
                      <a:cubicBezTo>
                        <a:pt x="22655" y="101203"/>
                        <a:pt x="0" y="78548"/>
                        <a:pt x="0" y="50602"/>
                      </a:cubicBezTo>
                      <a:cubicBezTo>
                        <a:pt x="0" y="22655"/>
                        <a:pt x="22655" y="0"/>
                        <a:pt x="50602" y="0"/>
                      </a:cubicBezTo>
                      <a:cubicBezTo>
                        <a:pt x="78548" y="0"/>
                        <a:pt x="101203" y="22655"/>
                        <a:pt x="101203" y="50602"/>
                      </a:cubicBezTo>
                      <a:close/>
                    </a:path>
                  </a:pathLst>
                </a:custGeom>
                <a:solidFill>
                  <a:srgbClr val="17A673"/>
                </a:solidFill>
                <a:ln>
                  <a:noFill/>
                </a:ln>
              </p:spPr>
            </p:sp>
            <p:sp>
              <p:nvSpPr>
                <p:cNvPr id="28" name="Freeform 28"/>
                <p:cNvSpPr/>
                <p:nvPr/>
              </p:nvSpPr>
              <p:spPr>
                <a:xfrm>
                  <a:off x="990600" y="4019550"/>
                  <a:ext cx="161925" cy="141684"/>
                </a:xfrm>
                <a:custGeom>
                  <a:avLst/>
                  <a:gdLst/>
                  <a:ahLst/>
                  <a:cxnLst/>
                  <a:rect l="l" t="t" r="r" b="b"/>
                  <a:pathLst>
                    <a:path w="161925" h="141684">
                      <a:moveTo>
                        <a:pt x="60722" y="0"/>
                      </a:moveTo>
                      <a:cubicBezTo>
                        <a:pt x="27186" y="0"/>
                        <a:pt x="0" y="27186"/>
                        <a:pt x="0" y="60722"/>
                      </a:cubicBezTo>
                      <a:lnTo>
                        <a:pt x="0" y="141684"/>
                      </a:lnTo>
                      <a:lnTo>
                        <a:pt x="161925" y="141684"/>
                      </a:lnTo>
                      <a:lnTo>
                        <a:pt x="161925" y="0"/>
                      </a:lnTo>
                      <a:lnTo>
                        <a:pt x="60722" y="0"/>
                      </a:lnTo>
                      <a:close/>
                    </a:path>
                  </a:pathLst>
                </a:custGeom>
                <a:solidFill>
                  <a:srgbClr val="17A673"/>
                </a:solidFill>
                <a:ln>
                  <a:noFill/>
                </a:ln>
              </p:spPr>
            </p:sp>
            <p:sp>
              <p:nvSpPr>
                <p:cNvPr id="29" name="Freeform 29"/>
                <p:cNvSpPr/>
                <p:nvPr/>
              </p:nvSpPr>
              <p:spPr>
                <a:xfrm>
                  <a:off x="1193006" y="4019550"/>
                  <a:ext cx="121444" cy="141684"/>
                </a:xfrm>
                <a:custGeom>
                  <a:avLst/>
                  <a:gdLst/>
                  <a:ahLst/>
                  <a:cxnLst/>
                  <a:rect l="l" t="t" r="r" b="b"/>
                  <a:pathLst>
                    <a:path w="121444" h="141684">
                      <a:moveTo>
                        <a:pt x="60722" y="0"/>
                      </a:moveTo>
                      <a:lnTo>
                        <a:pt x="0" y="0"/>
                      </a:lnTo>
                      <a:lnTo>
                        <a:pt x="0" y="141684"/>
                      </a:lnTo>
                      <a:lnTo>
                        <a:pt x="121444" y="141684"/>
                      </a:lnTo>
                      <a:lnTo>
                        <a:pt x="121444" y="60722"/>
                      </a:lnTo>
                      <a:cubicBezTo>
                        <a:pt x="121444" y="27186"/>
                        <a:pt x="94259" y="0"/>
                        <a:pt x="60722" y="0"/>
                      </a:cubicBezTo>
                      <a:close/>
                    </a:path>
                  </a:pathLst>
                </a:custGeom>
                <a:solidFill>
                  <a:srgbClr val="17A673"/>
                </a:solidFill>
                <a:ln>
                  <a:noFill/>
                </a:ln>
              </p:spPr>
            </p:sp>
            <p:sp>
              <p:nvSpPr>
                <p:cNvPr id="30" name="Freeform 30"/>
                <p:cNvSpPr/>
                <p:nvPr/>
              </p:nvSpPr>
              <p:spPr>
                <a:xfrm>
                  <a:off x="1193006" y="3898106"/>
                  <a:ext cx="80962" cy="80962"/>
                </a:xfrm>
                <a:custGeom>
                  <a:avLst/>
                  <a:gdLst/>
                  <a:ahLst/>
                  <a:cxnLst/>
                  <a:rect l="l" t="t" r="r" b="b"/>
                  <a:pathLst>
                    <a:path w="80962" h="80962">
                      <a:moveTo>
                        <a:pt x="40481" y="80962"/>
                      </a:moveTo>
                      <a:cubicBezTo>
                        <a:pt x="62839" y="80962"/>
                        <a:pt x="80962" y="62838"/>
                        <a:pt x="80962" y="40481"/>
                      </a:cubicBezTo>
                      <a:cubicBezTo>
                        <a:pt x="80962" y="18124"/>
                        <a:pt x="62839" y="0"/>
                        <a:pt x="40481" y="0"/>
                      </a:cubicBezTo>
                      <a:cubicBezTo>
                        <a:pt x="18123" y="0"/>
                        <a:pt x="0" y="18124"/>
                        <a:pt x="0" y="40481"/>
                      </a:cubicBezTo>
                      <a:cubicBezTo>
                        <a:pt x="0" y="62838"/>
                        <a:pt x="18123" y="80962"/>
                        <a:pt x="40481" y="80962"/>
                      </a:cubicBezTo>
                      <a:close/>
                    </a:path>
                  </a:pathLst>
                </a:custGeom>
                <a:solidFill>
                  <a:srgbClr val="17A673"/>
                </a:solidFill>
                <a:ln>
                  <a:noFill/>
                </a:ln>
              </p:spPr>
            </p:sp>
          </p:grpSp>
          <p:sp>
            <p:nvSpPr>
              <p:cNvPr id="32" name="TextBox 32"/>
              <p:cNvSpPr txBox="1"/>
              <p:nvPr/>
            </p:nvSpPr>
            <p:spPr>
              <a:xfrm>
                <a:off x="1431608" y="3834289"/>
                <a:ext cx="2036510" cy="259080"/>
              </a:xfrm>
              <a:prstGeom prst="rect">
                <a:avLst/>
              </a:prstGeom>
              <a:noFill/>
              <a:ln>
                <a:noFill/>
              </a:ln>
            </p:spPr>
            <p:txBody>
              <a:bodyPr wrap="none" lIns="0" tIns="0" rIns="0" bIns="0" anchor="t" anchorCtr="0">
                <a:spAutoFit/>
              </a:bodyPr>
              <a:lstStyle/>
              <a:p>
                <a:pPr algn="l"/>
                <a:r>
                  <a:rPr lang="zh-CN" sz="1275" b="1" dirty="0">
                    <a:solidFill>
                      <a:srgbClr val="17212B"/>
                    </a:solidFill>
                    <a:latin typeface="Arial"/>
                    <a:ea typeface="Microsoft YaHei"/>
                    <a:cs typeface="Arial"/>
                  </a:rPr>
                  <a:t>Budget and readiness</a:t>
                </a:r>
              </a:p>
            </p:txBody>
          </p:sp>
          <p:sp>
            <p:nvSpPr>
              <p:cNvPr id="33" name="TextBox 33"/>
              <p:cNvSpPr txBox="1"/>
              <p:nvPr/>
            </p:nvSpPr>
            <p:spPr>
              <a:xfrm>
                <a:off x="1433512" y="4069556"/>
                <a:ext cx="1959173" cy="228600"/>
              </a:xfrm>
              <a:prstGeom prst="rect">
                <a:avLst/>
              </a:prstGeom>
              <a:noFill/>
              <a:ln>
                <a:noFill/>
              </a:ln>
            </p:spPr>
            <p:txBody>
              <a:bodyPr wrap="none" lIns="0" tIns="0" rIns="0" bIns="0" anchor="t" anchorCtr="0">
                <a:spAutoFit/>
              </a:bodyPr>
              <a:lstStyle/>
              <a:p>
                <a:pPr algn="l"/>
                <a:r>
                  <a:rPr lang="zh-CN" sz="1125" dirty="0">
                    <a:solidFill>
                      <a:srgbClr val="5E6B75"/>
                    </a:solidFill>
                    <a:latin typeface="Calibri"/>
                    <a:ea typeface="Microsoft YaHei"/>
                    <a:cs typeface="Calibri"/>
                  </a:rPr>
                  <a:t>Final price and group fit</a:t>
                </a:r>
              </a:p>
            </p:txBody>
          </p:sp>
        </p:grpSp>
      </p:grpSp>
      <p:grpSp>
        <p:nvGrpSpPr>
          <p:cNvPr id="42" name="Group 42"/>
          <p:cNvGrpSpPr/>
          <p:nvPr/>
        </p:nvGrpSpPr>
        <p:grpSpPr>
          <a:xfrm>
            <a:off x="5029200" y="2324100"/>
            <a:ext cx="2133600" cy="2133600"/>
            <a:chOff x="5029200" y="2324100"/>
            <a:chExt cx="2133600" cy="2133600"/>
          </a:xfrm>
          <a:effectLst>
            <a:outerShdw blurRad="190500" dist="57150" dir="10799427" algn="tl" rotWithShape="0">
              <a:srgbClr val="12304A">
                <a:alpha val="18000"/>
              </a:srgbClr>
            </a:outerShdw>
          </a:effectLst>
        </p:grpSpPr>
        <p:sp>
          <p:nvSpPr>
            <p:cNvPr id="36" name="Ellipse 36"/>
            <p:cNvSpPr/>
            <p:nvPr/>
          </p:nvSpPr>
          <p:spPr>
            <a:xfrm>
              <a:off x="5029200" y="2324100"/>
              <a:ext cx="2133600" cy="2133600"/>
            </a:xfrm>
            <a:prstGeom prst="ellipse">
              <a:avLst/>
            </a:prstGeom>
            <a:solidFill>
              <a:srgbClr val="12304A"/>
            </a:solidFill>
            <a:ln>
              <a:noFill/>
            </a:ln>
            <a:effectLst>
              <a:outerShdw blurRad="190500" dist="57150" dir="10799427" algn="tl" rotWithShape="0">
                <a:srgbClr val="12304A">
                  <a:alpha val="18000"/>
                </a:srgbClr>
              </a:outerShdw>
            </a:effectLst>
          </p:spPr>
        </p:sp>
        <p:sp>
          <p:nvSpPr>
            <p:cNvPr id="37" name="Ellipse 37"/>
            <p:cNvSpPr/>
            <p:nvPr/>
          </p:nvSpPr>
          <p:spPr>
            <a:xfrm>
              <a:off x="5219700" y="2514600"/>
              <a:ext cx="1752600" cy="1752600"/>
            </a:xfrm>
            <a:prstGeom prst="ellipse">
              <a:avLst/>
            </a:prstGeom>
            <a:noFill/>
            <a:ln w="28575">
              <a:solidFill>
                <a:srgbClr val="B7E43C"/>
              </a:solidFill>
              <a:prstDash val="lgDash"/>
            </a:ln>
            <a:effectLst>
              <a:outerShdw blurRad="190500" dist="57150" dir="10799427" algn="tl" rotWithShape="0">
                <a:srgbClr val="12304A">
                  <a:alpha val="18000"/>
                </a:srgbClr>
              </a:outerShdw>
            </a:effectLst>
          </p:spPr>
        </p:sp>
        <p:sp>
          <p:nvSpPr>
            <p:cNvPr id="38" name="Freeform 38"/>
            <p:cNvSpPr/>
            <p:nvPr/>
          </p:nvSpPr>
          <p:spPr>
            <a:xfrm>
              <a:off x="5924550" y="2724150"/>
              <a:ext cx="342900" cy="457200"/>
            </a:xfrm>
            <a:custGeom>
              <a:avLst/>
              <a:gdLst/>
              <a:ahLst/>
              <a:cxnLst/>
              <a:rect l="l" t="t" r="r" b="b"/>
              <a:pathLst>
                <a:path w="342900" h="457200">
                  <a:moveTo>
                    <a:pt x="85725" y="328612"/>
                  </a:moveTo>
                  <a:lnTo>
                    <a:pt x="85725" y="414338"/>
                  </a:lnTo>
                  <a:lnTo>
                    <a:pt x="128588" y="457200"/>
                  </a:lnTo>
                  <a:lnTo>
                    <a:pt x="214312" y="457200"/>
                  </a:lnTo>
                  <a:lnTo>
                    <a:pt x="257175" y="414338"/>
                  </a:lnTo>
                  <a:lnTo>
                    <a:pt x="257175" y="328612"/>
                  </a:lnTo>
                  <a:lnTo>
                    <a:pt x="292597" y="293191"/>
                  </a:lnTo>
                  <a:cubicBezTo>
                    <a:pt x="324806" y="260982"/>
                    <a:pt x="342900" y="217210"/>
                    <a:pt x="342900" y="171660"/>
                  </a:cubicBezTo>
                  <a:cubicBezTo>
                    <a:pt x="342900" y="76971"/>
                    <a:pt x="266139" y="0"/>
                    <a:pt x="171450" y="0"/>
                  </a:cubicBezTo>
                  <a:cubicBezTo>
                    <a:pt x="76761" y="0"/>
                    <a:pt x="0" y="76971"/>
                    <a:pt x="0" y="171660"/>
                  </a:cubicBezTo>
                  <a:cubicBezTo>
                    <a:pt x="0" y="217210"/>
                    <a:pt x="18095" y="260982"/>
                    <a:pt x="50304" y="293191"/>
                  </a:cubicBezTo>
                  <a:lnTo>
                    <a:pt x="85725" y="328612"/>
                  </a:lnTo>
                  <a:close/>
                  <a:moveTo>
                    <a:pt x="142875" y="282149"/>
                  </a:moveTo>
                  <a:lnTo>
                    <a:pt x="142875" y="171450"/>
                  </a:lnTo>
                  <a:lnTo>
                    <a:pt x="200025" y="171450"/>
                  </a:lnTo>
                  <a:lnTo>
                    <a:pt x="200025" y="282149"/>
                  </a:lnTo>
                  <a:cubicBezTo>
                    <a:pt x="249323" y="269461"/>
                    <a:pt x="285750" y="224709"/>
                    <a:pt x="285750" y="171450"/>
                  </a:cubicBezTo>
                  <a:cubicBezTo>
                    <a:pt x="285750" y="108324"/>
                    <a:pt x="234575" y="57150"/>
                    <a:pt x="171450" y="57150"/>
                  </a:cubicBezTo>
                  <a:cubicBezTo>
                    <a:pt x="108324" y="57150"/>
                    <a:pt x="57150" y="108324"/>
                    <a:pt x="57150" y="171450"/>
                  </a:cubicBezTo>
                  <a:cubicBezTo>
                    <a:pt x="57150" y="224709"/>
                    <a:pt x="93577" y="269461"/>
                    <a:pt x="142875" y="282149"/>
                  </a:cubicBezTo>
                  <a:close/>
                </a:path>
              </a:pathLst>
            </a:custGeom>
            <a:solidFill>
              <a:srgbClr val="B7E43C"/>
            </a:solidFill>
            <a:ln>
              <a:noFill/>
            </a:ln>
            <a:effectLst>
              <a:outerShdw blurRad="190500" dist="57150" dir="10799427" algn="tl" rotWithShape="0">
                <a:srgbClr val="12304A">
                  <a:alpha val="18000"/>
                </a:srgbClr>
              </a:outerShdw>
            </a:effectLst>
          </p:spPr>
        </p:sp>
        <p:sp>
          <p:nvSpPr>
            <p:cNvPr id="39" name="TextBox 39"/>
            <p:cNvSpPr txBox="1"/>
            <p:nvPr/>
          </p:nvSpPr>
          <p:spPr>
            <a:xfrm>
              <a:off x="5303299" y="3279458"/>
              <a:ext cx="1585403" cy="335280"/>
            </a:xfrm>
            <a:prstGeom prst="rect">
              <a:avLst/>
            </a:prstGeom>
            <a:noFill/>
            <a:ln>
              <a:noFill/>
            </a:ln>
            <a:effectLst>
              <a:outerShdw blurRad="190500" dist="57150" dir="10799427" algn="tl" rotWithShape="0">
                <a:srgbClr val="12304A">
                  <a:alpha val="18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Coordination</a:t>
              </a:r>
            </a:p>
          </p:txBody>
        </p:sp>
        <p:sp>
          <p:nvSpPr>
            <p:cNvPr id="40" name="TextBox 40"/>
            <p:cNvSpPr txBox="1"/>
            <p:nvPr/>
          </p:nvSpPr>
          <p:spPr>
            <a:xfrm>
              <a:off x="5758755" y="3546158"/>
              <a:ext cx="674489" cy="335280"/>
            </a:xfrm>
            <a:prstGeom prst="rect">
              <a:avLst/>
            </a:prstGeom>
            <a:noFill/>
            <a:ln>
              <a:noFill/>
            </a:ln>
            <a:effectLst>
              <a:outerShdw blurRad="190500" dist="57150" dir="10799427" algn="tl" rotWithShape="0">
                <a:srgbClr val="12304A">
                  <a:alpha val="18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layer</a:t>
              </a:r>
            </a:p>
          </p:txBody>
        </p:sp>
        <p:sp>
          <p:nvSpPr>
            <p:cNvPr id="41" name="TextBox 41"/>
            <p:cNvSpPr txBox="1"/>
            <p:nvPr/>
          </p:nvSpPr>
          <p:spPr>
            <a:xfrm>
              <a:off x="5273731" y="3887152"/>
              <a:ext cx="1644539" cy="213360"/>
            </a:xfrm>
            <a:prstGeom prst="rect">
              <a:avLst/>
            </a:prstGeom>
            <a:noFill/>
            <a:ln>
              <a:noFill/>
            </a:ln>
            <a:effectLst>
              <a:outerShdw blurRad="190500" dist="57150" dir="10799427" algn="tl" rotWithShape="0">
                <a:srgbClr val="12304A">
                  <a:alpha val="18000"/>
                </a:srgbClr>
              </a:outerShdw>
            </a:effectLst>
          </p:spPr>
          <p:txBody>
            <a:bodyPr wrap="none" lIns="0" tIns="0" rIns="0" bIns="0" anchor="t" anchorCtr="0">
              <a:spAutoFit/>
            </a:bodyPr>
            <a:lstStyle/>
            <a:p>
              <a:pPr algn="ctr"/>
              <a:r>
                <a:rPr lang="zh-CN" sz="1050" dirty="0">
                  <a:solidFill>
                    <a:srgbClr val="DCE6E1"/>
                  </a:solidFill>
                  <a:latin typeface="Calibri"/>
                  <a:ea typeface="Microsoft YaHei"/>
                  <a:cs typeface="Calibri"/>
                </a:rPr>
                <a:t>Relevant alternatives</a:t>
              </a:r>
            </a:p>
          </p:txBody>
        </p:sp>
      </p:grpSp>
      <p:grpSp>
        <p:nvGrpSpPr>
          <p:cNvPr id="69" name="Group 69"/>
          <p:cNvGrpSpPr/>
          <p:nvPr/>
        </p:nvGrpSpPr>
        <p:grpSpPr>
          <a:xfrm>
            <a:off x="9033510" y="1432560"/>
            <a:ext cx="3213139" cy="2929890"/>
            <a:chOff x="9033510" y="1432560"/>
            <a:chExt cx="3213139" cy="2929890"/>
          </a:xfrm>
        </p:grpSpPr>
        <p:sp>
          <p:nvSpPr>
            <p:cNvPr id="43" name="TextBox 43"/>
            <p:cNvSpPr txBox="1"/>
            <p:nvPr/>
          </p:nvSpPr>
          <p:spPr>
            <a:xfrm>
              <a:off x="9033510" y="1432560"/>
              <a:ext cx="1971923" cy="243840"/>
            </a:xfrm>
            <a:prstGeom prst="rect">
              <a:avLst/>
            </a:prstGeom>
            <a:noFill/>
            <a:ln>
              <a:noFill/>
            </a:ln>
          </p:spPr>
          <p:txBody>
            <a:bodyPr wrap="none" lIns="0" tIns="0" rIns="0" bIns="0" anchor="t" anchorCtr="0">
              <a:spAutoFit/>
            </a:bodyPr>
            <a:lstStyle/>
            <a:p>
              <a:pPr algn="l"/>
              <a:r>
                <a:rPr lang="zh-CN" sz="1200" b="1" dirty="0">
                  <a:solidFill>
                    <a:srgbClr val="12304A"/>
                  </a:solidFill>
                  <a:latin typeface="Arial"/>
                  <a:ea typeface="Microsoft YaHei"/>
                  <a:cs typeface="Arial"/>
                </a:rPr>
                <a:t>EXPIRING VENUE SUPPLY</a:t>
              </a:r>
            </a:p>
          </p:txBody>
        </p:sp>
        <p:grpSp>
          <p:nvGrpSpPr>
            <p:cNvPr id="50" name="Group 50"/>
            <p:cNvGrpSpPr/>
            <p:nvPr/>
          </p:nvGrpSpPr>
          <p:grpSpPr>
            <a:xfrm>
              <a:off x="9048750" y="1752600"/>
              <a:ext cx="2819995" cy="666750"/>
              <a:chOff x="9048750" y="1752600"/>
              <a:chExt cx="2819995" cy="666750"/>
            </a:xfrm>
          </p:grpSpPr>
          <p:sp>
            <p:nvSpPr>
              <p:cNvPr id="44" name="Freeform 44"/>
              <p:cNvSpPr/>
              <p:nvPr/>
            </p:nvSpPr>
            <p:spPr>
              <a:xfrm>
                <a:off x="9048750" y="1752600"/>
                <a:ext cx="2324100" cy="666750"/>
              </a:xfrm>
              <a:custGeom>
                <a:avLst/>
                <a:gdLst/>
                <a:ahLst/>
                <a:cxnLst/>
                <a:rect l="l" t="t" r="r" b="b"/>
                <a:pathLst>
                  <a:path w="2324100" h="666750">
                    <a:moveTo>
                      <a:pt x="114300" y="0"/>
                    </a:moveTo>
                    <a:lnTo>
                      <a:pt x="2209800" y="0"/>
                    </a:lnTo>
                    <a:cubicBezTo>
                      <a:pt x="2272926" y="0"/>
                      <a:pt x="2324100" y="51174"/>
                      <a:pt x="2324100" y="114300"/>
                    </a:cubicBezTo>
                    <a:lnTo>
                      <a:pt x="2324100" y="552450"/>
                    </a:lnTo>
                    <a:cubicBezTo>
                      <a:pt x="2324100" y="615576"/>
                      <a:pt x="2272926" y="666750"/>
                      <a:pt x="2209800" y="666750"/>
                    </a:cubicBezTo>
                    <a:lnTo>
                      <a:pt x="114300" y="666750"/>
                    </a:lnTo>
                    <a:cubicBezTo>
                      <a:pt x="51174" y="666750"/>
                      <a:pt x="0" y="615576"/>
                      <a:pt x="0" y="552450"/>
                    </a:cubicBezTo>
                    <a:lnTo>
                      <a:pt x="0" y="114300"/>
                    </a:lnTo>
                    <a:cubicBezTo>
                      <a:pt x="0" y="51174"/>
                      <a:pt x="51174" y="0"/>
                      <a:pt x="114300" y="0"/>
                    </a:cubicBezTo>
                    <a:close/>
                  </a:path>
                </a:pathLst>
              </a:custGeom>
              <a:solidFill>
                <a:srgbClr val="FFFFFF"/>
              </a:solidFill>
              <a:ln w="9525">
                <a:solidFill>
                  <a:srgbClr val="CED8D3"/>
                </a:solidFill>
              </a:ln>
            </p:spPr>
          </p:sp>
          <p:grpSp>
            <p:nvGrpSpPr>
              <p:cNvPr id="47" name="Group 47"/>
              <p:cNvGrpSpPr/>
              <p:nvPr/>
            </p:nvGrpSpPr>
            <p:grpSpPr>
              <a:xfrm>
                <a:off x="9240441" y="1914525"/>
                <a:ext cx="283369" cy="303609"/>
                <a:chOff x="9240441" y="1914525"/>
                <a:chExt cx="283369" cy="303609"/>
              </a:xfrm>
            </p:grpSpPr>
            <p:sp>
              <p:nvSpPr>
                <p:cNvPr id="45" name="Freeform 45"/>
                <p:cNvSpPr/>
                <p:nvPr/>
              </p:nvSpPr>
              <p:spPr>
                <a:xfrm>
                  <a:off x="9240441" y="1914525"/>
                  <a:ext cx="283369" cy="101203"/>
                </a:xfrm>
                <a:custGeom>
                  <a:avLst/>
                  <a:gdLst/>
                  <a:ahLst/>
                  <a:cxnLst/>
                  <a:rect l="l" t="t" r="r" b="b"/>
                  <a:pathLst>
                    <a:path w="283369" h="101203">
                      <a:moveTo>
                        <a:pt x="101203" y="0"/>
                      </a:moveTo>
                      <a:lnTo>
                        <a:pt x="40481" y="0"/>
                      </a:lnTo>
                      <a:lnTo>
                        <a:pt x="40481" y="40481"/>
                      </a:lnTo>
                      <a:lnTo>
                        <a:pt x="0" y="40481"/>
                      </a:lnTo>
                      <a:lnTo>
                        <a:pt x="0" y="101203"/>
                      </a:lnTo>
                      <a:lnTo>
                        <a:pt x="283369" y="101203"/>
                      </a:lnTo>
                      <a:lnTo>
                        <a:pt x="283369" y="40481"/>
                      </a:lnTo>
                      <a:lnTo>
                        <a:pt x="242888" y="40481"/>
                      </a:lnTo>
                      <a:lnTo>
                        <a:pt x="242888" y="0"/>
                      </a:lnTo>
                      <a:lnTo>
                        <a:pt x="182166" y="0"/>
                      </a:lnTo>
                      <a:lnTo>
                        <a:pt x="182166" y="40481"/>
                      </a:lnTo>
                      <a:lnTo>
                        <a:pt x="101203" y="40481"/>
                      </a:lnTo>
                      <a:lnTo>
                        <a:pt x="101203" y="0"/>
                      </a:lnTo>
                      <a:close/>
                    </a:path>
                  </a:pathLst>
                </a:custGeom>
                <a:solidFill>
                  <a:srgbClr val="12304A"/>
                </a:solidFill>
                <a:ln>
                  <a:noFill/>
                </a:ln>
              </p:spPr>
            </p:sp>
            <p:sp>
              <p:nvSpPr>
                <p:cNvPr id="46" name="Freeform 46"/>
                <p:cNvSpPr/>
                <p:nvPr/>
              </p:nvSpPr>
              <p:spPr>
                <a:xfrm>
                  <a:off x="9240441" y="2056209"/>
                  <a:ext cx="283369" cy="161925"/>
                </a:xfrm>
                <a:custGeom>
                  <a:avLst/>
                  <a:gdLst/>
                  <a:ahLst/>
                  <a:cxnLst/>
                  <a:rect l="l" t="t" r="r" b="b"/>
                  <a:pathLst>
                    <a:path w="283369" h="161925">
                      <a:moveTo>
                        <a:pt x="283369" y="0"/>
                      </a:moveTo>
                      <a:lnTo>
                        <a:pt x="0" y="0"/>
                      </a:lnTo>
                      <a:lnTo>
                        <a:pt x="0" y="161925"/>
                      </a:lnTo>
                      <a:lnTo>
                        <a:pt x="283369" y="161925"/>
                      </a:lnTo>
                      <a:lnTo>
                        <a:pt x="283369" y="0"/>
                      </a:lnTo>
                      <a:close/>
                    </a:path>
                  </a:pathLst>
                </a:custGeom>
                <a:solidFill>
                  <a:srgbClr val="12304A"/>
                </a:solidFill>
                <a:ln>
                  <a:noFill/>
                </a:ln>
              </p:spPr>
            </p:sp>
          </p:grpSp>
          <p:sp>
            <p:nvSpPr>
              <p:cNvPr id="48" name="TextBox 48"/>
              <p:cNvSpPr txBox="1"/>
              <p:nvPr/>
            </p:nvSpPr>
            <p:spPr>
              <a:xfrm>
                <a:off x="9661208" y="1891189"/>
                <a:ext cx="1987629" cy="259080"/>
              </a:xfrm>
              <a:prstGeom prst="rect">
                <a:avLst/>
              </a:prstGeom>
              <a:noFill/>
              <a:ln>
                <a:noFill/>
              </a:ln>
            </p:spPr>
            <p:txBody>
              <a:bodyPr wrap="none" lIns="0" tIns="0" rIns="0" bIns="0" anchor="t" anchorCtr="0">
                <a:spAutoFit/>
              </a:bodyPr>
              <a:lstStyle/>
              <a:p>
                <a:pPr algn="l"/>
                <a:r>
                  <a:rPr lang="zh-CN" sz="1275" b="1" dirty="0">
                    <a:solidFill>
                      <a:srgbClr val="17212B"/>
                    </a:solidFill>
                    <a:latin typeface="Arial"/>
                    <a:ea typeface="Microsoft YaHei"/>
                    <a:cs typeface="Arial"/>
                  </a:rPr>
                  <a:t>Perishable inventory</a:t>
                </a:r>
              </a:p>
            </p:txBody>
          </p:sp>
          <p:sp>
            <p:nvSpPr>
              <p:cNvPr id="49" name="TextBox 49"/>
              <p:cNvSpPr txBox="1"/>
              <p:nvPr/>
            </p:nvSpPr>
            <p:spPr>
              <a:xfrm>
                <a:off x="9663112" y="2126456"/>
                <a:ext cx="2205633" cy="228600"/>
              </a:xfrm>
              <a:prstGeom prst="rect">
                <a:avLst/>
              </a:prstGeom>
              <a:noFill/>
              <a:ln>
                <a:noFill/>
              </a:ln>
            </p:spPr>
            <p:txBody>
              <a:bodyPr wrap="none" lIns="0" tIns="0" rIns="0" bIns="0" anchor="t" anchorCtr="0">
                <a:spAutoFit/>
              </a:bodyPr>
              <a:lstStyle/>
              <a:p>
                <a:pPr algn="l"/>
                <a:r>
                  <a:rPr lang="zh-CN" sz="1125" dirty="0">
                    <a:solidFill>
                      <a:srgbClr val="5E6B75"/>
                    </a:solidFill>
                    <a:latin typeface="Calibri"/>
                    <a:ea typeface="Microsoft YaHei"/>
                    <a:cs typeface="Calibri"/>
                  </a:rPr>
                  <a:t>Off-peak and cancellations</a:t>
                </a:r>
              </a:p>
            </p:txBody>
          </p:sp>
        </p:grpSp>
        <p:grpSp>
          <p:nvGrpSpPr>
            <p:cNvPr id="58" name="Group 58"/>
            <p:cNvGrpSpPr/>
            <p:nvPr/>
          </p:nvGrpSpPr>
          <p:grpSpPr>
            <a:xfrm>
              <a:off x="9048750" y="2724150"/>
              <a:ext cx="2819995" cy="666750"/>
              <a:chOff x="9048750" y="2724150"/>
              <a:chExt cx="2819995" cy="666750"/>
            </a:xfrm>
          </p:grpSpPr>
          <p:sp>
            <p:nvSpPr>
              <p:cNvPr id="51" name="Freeform 51"/>
              <p:cNvSpPr/>
              <p:nvPr/>
            </p:nvSpPr>
            <p:spPr>
              <a:xfrm>
                <a:off x="9048750" y="2724150"/>
                <a:ext cx="2324100" cy="666750"/>
              </a:xfrm>
              <a:custGeom>
                <a:avLst/>
                <a:gdLst/>
                <a:ahLst/>
                <a:cxnLst/>
                <a:rect l="l" t="t" r="r" b="b"/>
                <a:pathLst>
                  <a:path w="2324100" h="666750">
                    <a:moveTo>
                      <a:pt x="114300" y="0"/>
                    </a:moveTo>
                    <a:lnTo>
                      <a:pt x="2209800" y="0"/>
                    </a:lnTo>
                    <a:cubicBezTo>
                      <a:pt x="2272926" y="0"/>
                      <a:pt x="2324100" y="51174"/>
                      <a:pt x="2324100" y="114300"/>
                    </a:cubicBezTo>
                    <a:lnTo>
                      <a:pt x="2324100" y="552450"/>
                    </a:lnTo>
                    <a:cubicBezTo>
                      <a:pt x="2324100" y="615576"/>
                      <a:pt x="2272926" y="666750"/>
                      <a:pt x="2209800" y="666750"/>
                    </a:cubicBezTo>
                    <a:lnTo>
                      <a:pt x="114300" y="666750"/>
                    </a:lnTo>
                    <a:cubicBezTo>
                      <a:pt x="51174" y="666750"/>
                      <a:pt x="0" y="615576"/>
                      <a:pt x="0" y="552450"/>
                    </a:cubicBezTo>
                    <a:lnTo>
                      <a:pt x="0" y="114300"/>
                    </a:lnTo>
                    <a:cubicBezTo>
                      <a:pt x="0" y="51174"/>
                      <a:pt x="51174" y="0"/>
                      <a:pt x="114300" y="0"/>
                    </a:cubicBezTo>
                    <a:close/>
                  </a:path>
                </a:pathLst>
              </a:custGeom>
              <a:solidFill>
                <a:srgbClr val="FFFFFF"/>
              </a:solidFill>
              <a:ln w="9525">
                <a:solidFill>
                  <a:srgbClr val="CED8D3"/>
                </a:solidFill>
              </a:ln>
            </p:spPr>
          </p:sp>
          <p:grpSp>
            <p:nvGrpSpPr>
              <p:cNvPr id="55" name="Group 55"/>
              <p:cNvGrpSpPr/>
              <p:nvPr/>
            </p:nvGrpSpPr>
            <p:grpSpPr>
              <a:xfrm>
                <a:off x="9220200" y="2906316"/>
                <a:ext cx="323850" cy="283369"/>
                <a:chOff x="9220200" y="2906316"/>
                <a:chExt cx="323850" cy="283369"/>
              </a:xfrm>
            </p:grpSpPr>
            <p:sp>
              <p:nvSpPr>
                <p:cNvPr id="52" name="Freeform 52"/>
                <p:cNvSpPr/>
                <p:nvPr/>
              </p:nvSpPr>
              <p:spPr>
                <a:xfrm>
                  <a:off x="9463088" y="2906316"/>
                  <a:ext cx="80962" cy="283369"/>
                </a:xfrm>
                <a:custGeom>
                  <a:avLst/>
                  <a:gdLst/>
                  <a:ahLst/>
                  <a:cxnLst/>
                  <a:rect l="l" t="t" r="r" b="b"/>
                  <a:pathLst>
                    <a:path w="80962" h="283369">
                      <a:moveTo>
                        <a:pt x="80962" y="0"/>
                      </a:moveTo>
                      <a:lnTo>
                        <a:pt x="0" y="0"/>
                      </a:lnTo>
                      <a:lnTo>
                        <a:pt x="0" y="283369"/>
                      </a:lnTo>
                      <a:lnTo>
                        <a:pt x="80962" y="283369"/>
                      </a:lnTo>
                      <a:lnTo>
                        <a:pt x="80962" y="0"/>
                      </a:lnTo>
                      <a:close/>
                    </a:path>
                  </a:pathLst>
                </a:custGeom>
                <a:solidFill>
                  <a:srgbClr val="12304A"/>
                </a:solidFill>
                <a:ln>
                  <a:noFill/>
                </a:ln>
              </p:spPr>
            </p:sp>
            <p:sp>
              <p:nvSpPr>
                <p:cNvPr id="53" name="Freeform 53"/>
                <p:cNvSpPr/>
                <p:nvPr/>
              </p:nvSpPr>
              <p:spPr>
                <a:xfrm>
                  <a:off x="9341644" y="2987278"/>
                  <a:ext cx="80962" cy="202406"/>
                </a:xfrm>
                <a:custGeom>
                  <a:avLst/>
                  <a:gdLst/>
                  <a:ahLst/>
                  <a:cxnLst/>
                  <a:rect l="l" t="t" r="r" b="b"/>
                  <a:pathLst>
                    <a:path w="80962" h="202406">
                      <a:moveTo>
                        <a:pt x="0" y="0"/>
                      </a:moveTo>
                      <a:lnTo>
                        <a:pt x="80962" y="0"/>
                      </a:lnTo>
                      <a:lnTo>
                        <a:pt x="80962" y="202406"/>
                      </a:lnTo>
                      <a:lnTo>
                        <a:pt x="0" y="202406"/>
                      </a:lnTo>
                      <a:lnTo>
                        <a:pt x="0" y="0"/>
                      </a:lnTo>
                      <a:close/>
                    </a:path>
                  </a:pathLst>
                </a:custGeom>
                <a:solidFill>
                  <a:srgbClr val="12304A"/>
                </a:solidFill>
                <a:ln>
                  <a:noFill/>
                </a:ln>
              </p:spPr>
            </p:sp>
            <p:sp>
              <p:nvSpPr>
                <p:cNvPr id="54" name="Freeform 54"/>
                <p:cNvSpPr/>
                <p:nvPr/>
              </p:nvSpPr>
              <p:spPr>
                <a:xfrm>
                  <a:off x="9220200" y="3068241"/>
                  <a:ext cx="80962" cy="121444"/>
                </a:xfrm>
                <a:custGeom>
                  <a:avLst/>
                  <a:gdLst/>
                  <a:ahLst/>
                  <a:cxnLst/>
                  <a:rect l="l" t="t" r="r" b="b"/>
                  <a:pathLst>
                    <a:path w="80962" h="121444">
                      <a:moveTo>
                        <a:pt x="0" y="0"/>
                      </a:moveTo>
                      <a:lnTo>
                        <a:pt x="80962" y="0"/>
                      </a:lnTo>
                      <a:lnTo>
                        <a:pt x="80962" y="121444"/>
                      </a:lnTo>
                      <a:lnTo>
                        <a:pt x="0" y="121444"/>
                      </a:lnTo>
                      <a:lnTo>
                        <a:pt x="0" y="0"/>
                      </a:lnTo>
                      <a:close/>
                    </a:path>
                  </a:pathLst>
                </a:custGeom>
                <a:solidFill>
                  <a:srgbClr val="12304A"/>
                </a:solidFill>
                <a:ln>
                  <a:noFill/>
                </a:ln>
              </p:spPr>
            </p:sp>
          </p:grpSp>
          <p:sp>
            <p:nvSpPr>
              <p:cNvPr id="56" name="TextBox 56"/>
              <p:cNvSpPr txBox="1"/>
              <p:nvPr/>
            </p:nvSpPr>
            <p:spPr>
              <a:xfrm>
                <a:off x="9661208" y="2862739"/>
                <a:ext cx="1635685" cy="259080"/>
              </a:xfrm>
              <a:prstGeom prst="rect">
                <a:avLst/>
              </a:prstGeom>
              <a:noFill/>
              <a:ln>
                <a:noFill/>
              </a:ln>
            </p:spPr>
            <p:txBody>
              <a:bodyPr wrap="none" lIns="0" tIns="0" rIns="0" bIns="0" anchor="t" anchorCtr="0">
                <a:spAutoFit/>
              </a:bodyPr>
              <a:lstStyle/>
              <a:p>
                <a:pPr algn="l"/>
                <a:r>
                  <a:rPr lang="zh-CN" sz="1275" b="1" dirty="0">
                    <a:solidFill>
                      <a:srgbClr val="17212B"/>
                    </a:solidFill>
                    <a:latin typeface="Arial"/>
                    <a:ea typeface="Microsoft YaHei"/>
                    <a:cs typeface="Arial"/>
                  </a:rPr>
                  <a:t>Fragmented data</a:t>
                </a:r>
              </a:p>
            </p:txBody>
          </p:sp>
          <p:sp>
            <p:nvSpPr>
              <p:cNvPr id="57" name="TextBox 57"/>
              <p:cNvSpPr txBox="1"/>
              <p:nvPr/>
            </p:nvSpPr>
            <p:spPr>
              <a:xfrm>
                <a:off x="9663112" y="3098006"/>
                <a:ext cx="2205633" cy="228600"/>
              </a:xfrm>
              <a:prstGeom prst="rect">
                <a:avLst/>
              </a:prstGeom>
              <a:noFill/>
              <a:ln>
                <a:noFill/>
              </a:ln>
            </p:spPr>
            <p:txBody>
              <a:bodyPr wrap="none" lIns="0" tIns="0" rIns="0" bIns="0" anchor="t" anchorCtr="0">
                <a:spAutoFit/>
              </a:bodyPr>
              <a:lstStyle/>
              <a:p>
                <a:pPr algn="l"/>
                <a:r>
                  <a:rPr lang="zh-CN" sz="1125" dirty="0">
                    <a:solidFill>
                      <a:srgbClr val="5E6B75"/>
                    </a:solidFill>
                    <a:latin typeface="Calibri"/>
                    <a:ea typeface="Microsoft YaHei"/>
                    <a:cs typeface="Calibri"/>
                  </a:rPr>
                  <a:t>Calls, messages, schedules</a:t>
                </a:r>
              </a:p>
            </p:txBody>
          </p:sp>
        </p:grpSp>
        <p:grpSp>
          <p:nvGrpSpPr>
            <p:cNvPr id="68" name="Group 68"/>
            <p:cNvGrpSpPr/>
            <p:nvPr/>
          </p:nvGrpSpPr>
          <p:grpSpPr>
            <a:xfrm>
              <a:off x="9048750" y="3695700"/>
              <a:ext cx="3197899" cy="666750"/>
              <a:chOff x="9048750" y="3695700"/>
              <a:chExt cx="3197899" cy="666750"/>
            </a:xfrm>
          </p:grpSpPr>
          <p:sp>
            <p:nvSpPr>
              <p:cNvPr id="59" name="Freeform 59"/>
              <p:cNvSpPr/>
              <p:nvPr/>
            </p:nvSpPr>
            <p:spPr>
              <a:xfrm>
                <a:off x="9048750" y="3695700"/>
                <a:ext cx="2324100" cy="666750"/>
              </a:xfrm>
              <a:custGeom>
                <a:avLst/>
                <a:gdLst/>
                <a:ahLst/>
                <a:cxnLst/>
                <a:rect l="l" t="t" r="r" b="b"/>
                <a:pathLst>
                  <a:path w="2324100" h="666750">
                    <a:moveTo>
                      <a:pt x="114300" y="0"/>
                    </a:moveTo>
                    <a:lnTo>
                      <a:pt x="2209800" y="0"/>
                    </a:lnTo>
                    <a:cubicBezTo>
                      <a:pt x="2272926" y="0"/>
                      <a:pt x="2324100" y="51174"/>
                      <a:pt x="2324100" y="114300"/>
                    </a:cubicBezTo>
                    <a:lnTo>
                      <a:pt x="2324100" y="552450"/>
                    </a:lnTo>
                    <a:cubicBezTo>
                      <a:pt x="2324100" y="615576"/>
                      <a:pt x="2272926" y="666750"/>
                      <a:pt x="2209800" y="666750"/>
                    </a:cubicBezTo>
                    <a:lnTo>
                      <a:pt x="114300" y="666750"/>
                    </a:lnTo>
                    <a:cubicBezTo>
                      <a:pt x="51174" y="666750"/>
                      <a:pt x="0" y="615576"/>
                      <a:pt x="0" y="552450"/>
                    </a:cubicBezTo>
                    <a:lnTo>
                      <a:pt x="0" y="114300"/>
                    </a:lnTo>
                    <a:cubicBezTo>
                      <a:pt x="0" y="51174"/>
                      <a:pt x="51174" y="0"/>
                      <a:pt x="114300" y="0"/>
                    </a:cubicBezTo>
                    <a:close/>
                  </a:path>
                </a:pathLst>
              </a:custGeom>
              <a:solidFill>
                <a:srgbClr val="FFFFFF"/>
              </a:solidFill>
              <a:ln w="9525">
                <a:solidFill>
                  <a:srgbClr val="CED8D3"/>
                </a:solidFill>
              </a:ln>
            </p:spPr>
          </p:sp>
          <p:grpSp>
            <p:nvGrpSpPr>
              <p:cNvPr id="65" name="Group 65"/>
              <p:cNvGrpSpPr/>
              <p:nvPr/>
            </p:nvGrpSpPr>
            <p:grpSpPr>
              <a:xfrm>
                <a:off x="9220200" y="3898106"/>
                <a:ext cx="323850" cy="242888"/>
                <a:chOff x="9220200" y="3898106"/>
                <a:chExt cx="323850" cy="242888"/>
              </a:xfrm>
            </p:grpSpPr>
            <p:sp>
              <p:nvSpPr>
                <p:cNvPr id="60" name="Freeform 60"/>
                <p:cNvSpPr/>
                <p:nvPr/>
              </p:nvSpPr>
              <p:spPr>
                <a:xfrm>
                  <a:off x="9220200" y="3898106"/>
                  <a:ext cx="60722" cy="60722"/>
                </a:xfrm>
                <a:custGeom>
                  <a:avLst/>
                  <a:gdLst/>
                  <a:ahLst/>
                  <a:cxnLst/>
                  <a:rect l="l" t="t" r="r" b="b"/>
                  <a:pathLst>
                    <a:path w="60722" h="60722">
                      <a:moveTo>
                        <a:pt x="60722" y="0"/>
                      </a:moveTo>
                      <a:lnTo>
                        <a:pt x="0" y="0"/>
                      </a:lnTo>
                      <a:lnTo>
                        <a:pt x="0" y="60722"/>
                      </a:lnTo>
                      <a:cubicBezTo>
                        <a:pt x="33536" y="60722"/>
                        <a:pt x="60722" y="33536"/>
                        <a:pt x="60722" y="0"/>
                      </a:cubicBezTo>
                      <a:close/>
                    </a:path>
                  </a:pathLst>
                </a:custGeom>
                <a:solidFill>
                  <a:srgbClr val="D65A4A"/>
                </a:solidFill>
                <a:ln>
                  <a:noFill/>
                </a:ln>
              </p:spPr>
            </p:sp>
            <p:sp>
              <p:nvSpPr>
                <p:cNvPr id="61" name="Freeform 61"/>
                <p:cNvSpPr/>
                <p:nvPr/>
              </p:nvSpPr>
              <p:spPr>
                <a:xfrm>
                  <a:off x="9220200" y="3898106"/>
                  <a:ext cx="323850" cy="242888"/>
                </a:xfrm>
                <a:custGeom>
                  <a:avLst/>
                  <a:gdLst/>
                  <a:ahLst/>
                  <a:cxnLst/>
                  <a:rect l="l" t="t" r="r" b="b"/>
                  <a:pathLst>
                    <a:path w="323850" h="242888">
                      <a:moveTo>
                        <a:pt x="101203" y="0"/>
                      </a:moveTo>
                      <a:cubicBezTo>
                        <a:pt x="101203" y="55893"/>
                        <a:pt x="55893" y="101203"/>
                        <a:pt x="0" y="101203"/>
                      </a:cubicBezTo>
                      <a:lnTo>
                        <a:pt x="0" y="141684"/>
                      </a:lnTo>
                      <a:cubicBezTo>
                        <a:pt x="55893" y="141684"/>
                        <a:pt x="101203" y="186995"/>
                        <a:pt x="101203" y="242888"/>
                      </a:cubicBezTo>
                      <a:lnTo>
                        <a:pt x="222647" y="242888"/>
                      </a:lnTo>
                      <a:cubicBezTo>
                        <a:pt x="222647" y="186995"/>
                        <a:pt x="267958" y="141684"/>
                        <a:pt x="323850" y="141684"/>
                      </a:cubicBezTo>
                      <a:lnTo>
                        <a:pt x="323850" y="101203"/>
                      </a:lnTo>
                      <a:cubicBezTo>
                        <a:pt x="267958" y="101203"/>
                        <a:pt x="222647" y="55893"/>
                        <a:pt x="222647" y="0"/>
                      </a:cubicBezTo>
                      <a:lnTo>
                        <a:pt x="101203" y="0"/>
                      </a:lnTo>
                      <a:close/>
                      <a:moveTo>
                        <a:pt x="161925" y="161925"/>
                      </a:moveTo>
                      <a:cubicBezTo>
                        <a:pt x="184282" y="161925"/>
                        <a:pt x="202406" y="143801"/>
                        <a:pt x="202406" y="121444"/>
                      </a:cubicBezTo>
                      <a:cubicBezTo>
                        <a:pt x="202406" y="99087"/>
                        <a:pt x="184282" y="80962"/>
                        <a:pt x="161925" y="80962"/>
                      </a:cubicBezTo>
                      <a:cubicBezTo>
                        <a:pt x="139568" y="80962"/>
                        <a:pt x="121444" y="99087"/>
                        <a:pt x="121444" y="121444"/>
                      </a:cubicBezTo>
                      <a:cubicBezTo>
                        <a:pt x="121444" y="143801"/>
                        <a:pt x="139568" y="161925"/>
                        <a:pt x="161925" y="161925"/>
                      </a:cubicBezTo>
                      <a:close/>
                    </a:path>
                  </a:pathLst>
                </a:custGeom>
                <a:solidFill>
                  <a:srgbClr val="D65A4A"/>
                </a:solidFill>
                <a:ln>
                  <a:noFill/>
                </a:ln>
              </p:spPr>
            </p:sp>
            <p:sp>
              <p:nvSpPr>
                <p:cNvPr id="62" name="Freeform 62"/>
                <p:cNvSpPr/>
                <p:nvPr/>
              </p:nvSpPr>
              <p:spPr>
                <a:xfrm>
                  <a:off x="9483328" y="3898106"/>
                  <a:ext cx="60722" cy="60722"/>
                </a:xfrm>
                <a:custGeom>
                  <a:avLst/>
                  <a:gdLst/>
                  <a:ahLst/>
                  <a:cxnLst/>
                  <a:rect l="l" t="t" r="r" b="b"/>
                  <a:pathLst>
                    <a:path w="60722" h="60722">
                      <a:moveTo>
                        <a:pt x="60722" y="0"/>
                      </a:moveTo>
                      <a:lnTo>
                        <a:pt x="60722" y="60722"/>
                      </a:lnTo>
                      <a:cubicBezTo>
                        <a:pt x="27185" y="60722"/>
                        <a:pt x="0" y="33536"/>
                        <a:pt x="0" y="0"/>
                      </a:cubicBezTo>
                      <a:lnTo>
                        <a:pt x="60722" y="0"/>
                      </a:lnTo>
                      <a:close/>
                    </a:path>
                  </a:pathLst>
                </a:custGeom>
                <a:solidFill>
                  <a:srgbClr val="D65A4A"/>
                </a:solidFill>
                <a:ln>
                  <a:noFill/>
                </a:ln>
              </p:spPr>
            </p:sp>
            <p:sp>
              <p:nvSpPr>
                <p:cNvPr id="63" name="Freeform 63"/>
                <p:cNvSpPr/>
                <p:nvPr/>
              </p:nvSpPr>
              <p:spPr>
                <a:xfrm>
                  <a:off x="9483328" y="4080272"/>
                  <a:ext cx="60722" cy="60722"/>
                </a:xfrm>
                <a:custGeom>
                  <a:avLst/>
                  <a:gdLst/>
                  <a:ahLst/>
                  <a:cxnLst/>
                  <a:rect l="l" t="t" r="r" b="b"/>
                  <a:pathLst>
                    <a:path w="60722" h="60722">
                      <a:moveTo>
                        <a:pt x="60722" y="60722"/>
                      </a:moveTo>
                      <a:lnTo>
                        <a:pt x="0" y="60722"/>
                      </a:lnTo>
                      <a:cubicBezTo>
                        <a:pt x="0" y="27185"/>
                        <a:pt x="27185" y="0"/>
                        <a:pt x="60722" y="0"/>
                      </a:cubicBezTo>
                      <a:lnTo>
                        <a:pt x="60722" y="60722"/>
                      </a:lnTo>
                      <a:close/>
                    </a:path>
                  </a:pathLst>
                </a:custGeom>
                <a:solidFill>
                  <a:srgbClr val="D65A4A"/>
                </a:solidFill>
                <a:ln>
                  <a:noFill/>
                </a:ln>
              </p:spPr>
            </p:sp>
            <p:sp>
              <p:nvSpPr>
                <p:cNvPr id="64" name="Freeform 64"/>
                <p:cNvSpPr/>
                <p:nvPr/>
              </p:nvSpPr>
              <p:spPr>
                <a:xfrm>
                  <a:off x="9220200" y="4080272"/>
                  <a:ext cx="60722" cy="60722"/>
                </a:xfrm>
                <a:custGeom>
                  <a:avLst/>
                  <a:gdLst/>
                  <a:ahLst/>
                  <a:cxnLst/>
                  <a:rect l="l" t="t" r="r" b="b"/>
                  <a:pathLst>
                    <a:path w="60722" h="60722">
                      <a:moveTo>
                        <a:pt x="60722" y="60722"/>
                      </a:moveTo>
                      <a:cubicBezTo>
                        <a:pt x="60722" y="27185"/>
                        <a:pt x="33536" y="0"/>
                        <a:pt x="0" y="0"/>
                      </a:cubicBezTo>
                      <a:lnTo>
                        <a:pt x="0" y="60722"/>
                      </a:lnTo>
                      <a:lnTo>
                        <a:pt x="60722" y="60722"/>
                      </a:lnTo>
                      <a:close/>
                    </a:path>
                  </a:pathLst>
                </a:custGeom>
                <a:solidFill>
                  <a:srgbClr val="D65A4A"/>
                </a:solidFill>
                <a:ln>
                  <a:noFill/>
                </a:ln>
              </p:spPr>
            </p:sp>
          </p:grpSp>
          <p:sp>
            <p:nvSpPr>
              <p:cNvPr id="66" name="TextBox 66"/>
              <p:cNvSpPr txBox="1"/>
              <p:nvPr/>
            </p:nvSpPr>
            <p:spPr>
              <a:xfrm>
                <a:off x="9661208" y="3834289"/>
                <a:ext cx="1889867" cy="259080"/>
              </a:xfrm>
              <a:prstGeom prst="rect">
                <a:avLst/>
              </a:prstGeom>
              <a:noFill/>
              <a:ln>
                <a:noFill/>
              </a:ln>
            </p:spPr>
            <p:txBody>
              <a:bodyPr wrap="none" lIns="0" tIns="0" rIns="0" bIns="0" anchor="t" anchorCtr="0">
                <a:spAutoFit/>
              </a:bodyPr>
              <a:lstStyle/>
              <a:p>
                <a:pPr algn="l"/>
                <a:r>
                  <a:rPr lang="zh-CN" sz="1275" b="1" dirty="0">
                    <a:solidFill>
                      <a:srgbClr val="17212B"/>
                    </a:solidFill>
                    <a:latin typeface="Arial"/>
                    <a:ea typeface="Microsoft YaHei"/>
                    <a:cs typeface="Arial"/>
                  </a:rPr>
                  <a:t>Cannibalization risk</a:t>
                </a:r>
              </a:p>
            </p:txBody>
          </p:sp>
          <p:sp>
            <p:nvSpPr>
              <p:cNvPr id="67" name="TextBox 67"/>
              <p:cNvSpPr txBox="1"/>
              <p:nvPr/>
            </p:nvSpPr>
            <p:spPr>
              <a:xfrm>
                <a:off x="9663112" y="4069556"/>
                <a:ext cx="2583537" cy="228600"/>
              </a:xfrm>
              <a:prstGeom prst="rect">
                <a:avLst/>
              </a:prstGeom>
              <a:noFill/>
              <a:ln>
                <a:noFill/>
              </a:ln>
            </p:spPr>
            <p:txBody>
              <a:bodyPr wrap="none" lIns="0" tIns="0" rIns="0" bIns="0" anchor="t" anchorCtr="0">
                <a:spAutoFit/>
              </a:bodyPr>
              <a:lstStyle/>
              <a:p>
                <a:pPr algn="l"/>
                <a:r>
                  <a:rPr lang="zh-CN" sz="1125" dirty="0">
                    <a:solidFill>
                      <a:srgbClr val="5E6B75"/>
                    </a:solidFill>
                    <a:latin typeface="Calibri"/>
                    <a:ea typeface="Microsoft YaHei"/>
                    <a:cs typeface="Calibri"/>
                  </a:rPr>
                  <a:t>Discounts may replace full price</a:t>
                </a:r>
              </a:p>
            </p:txBody>
          </p:sp>
        </p:grpSp>
      </p:grpSp>
      <p:grpSp>
        <p:nvGrpSpPr>
          <p:cNvPr id="73" name="Group 73"/>
          <p:cNvGrpSpPr/>
          <p:nvPr/>
        </p:nvGrpSpPr>
        <p:grpSpPr>
          <a:xfrm>
            <a:off x="2003554" y="4953000"/>
            <a:ext cx="8184892" cy="914400"/>
            <a:chOff x="2003554" y="4953000"/>
            <a:chExt cx="8184892" cy="914400"/>
          </a:xfrm>
        </p:grpSpPr>
        <p:sp>
          <p:nvSpPr>
            <p:cNvPr id="70" name="Freeform 70"/>
            <p:cNvSpPr/>
            <p:nvPr/>
          </p:nvSpPr>
          <p:spPr>
            <a:xfrm>
              <a:off x="2076450" y="4953000"/>
              <a:ext cx="8039100" cy="914400"/>
            </a:xfrm>
            <a:custGeom>
              <a:avLst/>
              <a:gdLst/>
              <a:ahLst/>
              <a:cxnLst/>
              <a:rect l="l" t="t" r="r" b="b"/>
              <a:pathLst>
                <a:path w="8039100" h="914400">
                  <a:moveTo>
                    <a:pt x="152400" y="0"/>
                  </a:moveTo>
                  <a:lnTo>
                    <a:pt x="7886700" y="0"/>
                  </a:lnTo>
                  <a:cubicBezTo>
                    <a:pt x="7970868" y="0"/>
                    <a:pt x="8039100" y="68232"/>
                    <a:pt x="8039100" y="152400"/>
                  </a:cubicBezTo>
                  <a:lnTo>
                    <a:pt x="8039100" y="762000"/>
                  </a:lnTo>
                  <a:cubicBezTo>
                    <a:pt x="8039100" y="846168"/>
                    <a:pt x="7970868" y="914400"/>
                    <a:pt x="7886700" y="914400"/>
                  </a:cubicBezTo>
                  <a:lnTo>
                    <a:pt x="152400" y="914400"/>
                  </a:lnTo>
                  <a:cubicBezTo>
                    <a:pt x="68232" y="914400"/>
                    <a:pt x="0" y="846168"/>
                    <a:pt x="0" y="762000"/>
                  </a:cubicBezTo>
                  <a:lnTo>
                    <a:pt x="0" y="152400"/>
                  </a:lnTo>
                  <a:cubicBezTo>
                    <a:pt x="0" y="68232"/>
                    <a:pt x="68232" y="0"/>
                    <a:pt x="152400" y="0"/>
                  </a:cubicBezTo>
                  <a:close/>
                </a:path>
              </a:pathLst>
            </a:custGeom>
            <a:solidFill>
              <a:srgbClr val="FFFFFF"/>
            </a:solidFill>
            <a:ln w="19050">
              <a:solidFill>
                <a:srgbClr val="17A673"/>
              </a:solidFill>
            </a:ln>
          </p:spPr>
        </p:sp>
        <p:sp>
          <p:nvSpPr>
            <p:cNvPr id="71" name="TextBox 71"/>
            <p:cNvSpPr txBox="1"/>
            <p:nvPr/>
          </p:nvSpPr>
          <p:spPr>
            <a:xfrm>
              <a:off x="5013427" y="5147310"/>
              <a:ext cx="2165147" cy="243840"/>
            </a:xfrm>
            <a:prstGeom prst="rect">
              <a:avLst/>
            </a:prstGeom>
            <a:noFill/>
            <a:ln>
              <a:noFill/>
            </a:ln>
          </p:spPr>
          <p:txBody>
            <a:bodyPr wrap="none" lIns="0" tIns="0" rIns="0" bIns="0" anchor="t" anchorCtr="0">
              <a:spAutoFit/>
            </a:bodyPr>
            <a:lstStyle/>
            <a:p>
              <a:pPr algn="ctr"/>
              <a:r>
                <a:rPr lang="zh-CN" sz="1200" b="1" dirty="0">
                  <a:solidFill>
                    <a:srgbClr val="17A673"/>
                  </a:solidFill>
                  <a:latin typeface="Arial"/>
                  <a:ea typeface="Microsoft YaHei"/>
                  <a:cs typeface="Arial"/>
                </a:rPr>
                <a:t>CORE BUSINESS PRINCIPLE</a:t>
              </a:r>
            </a:p>
          </p:txBody>
        </p:sp>
        <p:sp>
          <p:nvSpPr>
            <p:cNvPr id="72" name="TextBox 72"/>
            <p:cNvSpPr txBox="1"/>
            <p:nvPr/>
          </p:nvSpPr>
          <p:spPr>
            <a:xfrm>
              <a:off x="2003554" y="5417344"/>
              <a:ext cx="8184892" cy="381000"/>
            </a:xfrm>
            <a:prstGeom prst="rect">
              <a:avLst/>
            </a:prstGeom>
            <a:noFill/>
            <a:ln>
              <a:noFill/>
            </a:ln>
          </p:spPr>
          <p:txBody>
            <a:bodyPr wrap="none" lIns="0" tIns="0" rIns="0" bIns="0" anchor="t" anchorCtr="0">
              <a:spAutoFit/>
            </a:bodyPr>
            <a:lstStyle/>
            <a:p>
              <a:pPr algn="ctr"/>
              <a:r>
                <a:rPr lang="zh-CN" sz="1875" b="1" dirty="0">
                  <a:solidFill>
                    <a:srgbClr val="12304A"/>
                  </a:solidFill>
                  <a:latin typeface="Arial"/>
                  <a:ea typeface="Microsoft YaHei"/>
                  <a:cs typeface="Arial"/>
                </a:rPr>
                <a:t>Orchestrate incremental demand. Do not simply discount.</a:t>
              </a:r>
            </a:p>
          </p:txBody>
        </p:sp>
      </p:grpSp>
      <p:grpSp>
        <p:nvGrpSpPr>
          <p:cNvPr id="76" name="Group 76"/>
          <p:cNvGrpSpPr/>
          <p:nvPr/>
        </p:nvGrpSpPr>
        <p:grpSpPr>
          <a:xfrm>
            <a:off x="522922" y="6483191"/>
            <a:ext cx="11146155" cy="167640"/>
            <a:chOff x="522922" y="6483191"/>
            <a:chExt cx="11146155" cy="167640"/>
          </a:xfrm>
        </p:grpSpPr>
        <p:sp>
          <p:nvSpPr>
            <p:cNvPr id="74" name="TextBox 74"/>
            <p:cNvSpPr txBox="1"/>
            <p:nvPr/>
          </p:nvSpPr>
          <p:spPr>
            <a:xfrm>
              <a:off x="522922" y="6483191"/>
              <a:ext cx="3828479" cy="167640"/>
            </a:xfrm>
            <a:prstGeom prst="rect">
              <a:avLst/>
            </a:prstGeom>
            <a:noFill/>
            <a:ln>
              <a:noFill/>
            </a:ln>
          </p:spPr>
          <p:txBody>
            <a:bodyPr wrap="none" lIns="0" tIns="0" rIns="0" bIns="0" anchor="t" anchorCtr="0">
              <a:spAutoFit/>
            </a:bodyPr>
            <a:lstStyle/>
            <a:p>
              <a:pPr algn="l"/>
              <a:r>
                <a:rPr lang="zh-CN" sz="825" dirty="0">
                  <a:solidFill>
                    <a:srgbClr val="89949C"/>
                  </a:solidFill>
                  <a:latin typeface="Calibri"/>
                  <a:ea typeface="Microsoft YaHei"/>
                  <a:cs typeface="Calibri"/>
                </a:rPr>
                <a:t>Problem definition synthesized from player and venue pain points</a:t>
              </a:r>
            </a:p>
          </p:txBody>
        </p:sp>
        <p:sp>
          <p:nvSpPr>
            <p:cNvPr id="75" name="TextBox 75"/>
            <p:cNvSpPr txBox="1"/>
            <p:nvPr/>
          </p:nvSpPr>
          <p:spPr>
            <a:xfrm>
              <a:off x="11515582" y="6483191"/>
              <a:ext cx="153495" cy="167640"/>
            </a:xfrm>
            <a:prstGeom prst="rect">
              <a:avLst/>
            </a:prstGeom>
            <a:noFill/>
            <a:ln>
              <a:noFill/>
            </a:ln>
          </p:spPr>
          <p:txBody>
            <a:bodyPr wrap="none" lIns="0" tIns="0" rIns="0" bIns="0" anchor="t" anchorCtr="0">
              <a:spAutoFit/>
            </a:bodyPr>
            <a:lstStyle/>
            <a:p>
              <a:pPr algn="r"/>
              <a:r>
                <a:rPr lang="zh-CN" sz="825" dirty="0">
                  <a:solidFill>
                    <a:srgbClr val="89949C"/>
                  </a:solidFill>
                  <a:latin typeface="Arial"/>
                  <a:ea typeface="Microsoft YaHei"/>
                  <a:cs typeface="Arial"/>
                </a:rPr>
                <a:t>03</a:t>
              </a:r>
            </a:p>
          </p:txBody>
        </p:sp>
      </p:grpSp>
    </p:spTree>
  </p:cSld>
  <p:clrMapOvr>
    <a:masterClrMapping/>
  </p:clrMapOvr>
  <p:transition 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8F7"/>
          </a:solidFill>
          <a:ln>
            <a:noFill/>
          </a:ln>
        </p:spPr>
      </p:sp>
      <p:sp>
        <p:nvSpPr>
          <p:cNvPr id="3" name="Rectangle 3"/>
          <p:cNvSpPr/>
          <p:nvPr/>
        </p:nvSpPr>
        <p:spPr>
          <a:xfrm>
            <a:off x="0" y="0"/>
            <a:ext cx="12192000" cy="66675"/>
          </a:xfrm>
          <a:prstGeom prst="rect">
            <a:avLst/>
          </a:prstGeom>
          <a:solidFill>
            <a:srgbClr val="17A673"/>
          </a:solidFill>
          <a:ln>
            <a:noFill/>
          </a:ln>
        </p:spPr>
      </p:sp>
      <p:grpSp>
        <p:nvGrpSpPr>
          <p:cNvPr id="7" name="Group 7"/>
          <p:cNvGrpSpPr/>
          <p:nvPr/>
        </p:nvGrpSpPr>
        <p:grpSpPr>
          <a:xfrm>
            <a:off x="501015" y="248602"/>
            <a:ext cx="11157585" cy="894398"/>
            <a:chOff x="501015" y="248602"/>
            <a:chExt cx="11157585" cy="894398"/>
          </a:xfrm>
        </p:grpSpPr>
        <p:sp>
          <p:nvSpPr>
            <p:cNvPr id="4" name="TextBox 4"/>
            <p:cNvSpPr txBox="1"/>
            <p:nvPr/>
          </p:nvSpPr>
          <p:spPr>
            <a:xfrm>
              <a:off x="501015" y="248602"/>
              <a:ext cx="9899649" cy="518160"/>
            </a:xfrm>
            <a:prstGeom prst="rect">
              <a:avLst/>
            </a:prstGeom>
            <a:noFill/>
            <a:ln>
              <a:noFill/>
            </a:ln>
          </p:spPr>
          <p:txBody>
            <a:bodyPr wrap="none" lIns="0" tIns="0" rIns="0" bIns="0" anchor="t" anchorCtr="0">
              <a:spAutoFit/>
            </a:bodyPr>
            <a:lstStyle/>
            <a:p>
              <a:pPr algn="l"/>
              <a:r>
                <a:rPr lang="zh-CN" sz="2550" b="1" dirty="0">
                  <a:solidFill>
                    <a:srgbClr val="12304A"/>
                  </a:solidFill>
                  <a:latin typeface="Arial"/>
                  <a:ea typeface="Microsoft YaHei"/>
                  <a:cs typeface="Arial"/>
                </a:rPr>
                <a:t>Every Empty Court-Hour Is Revenue That Disappears</a:t>
              </a:r>
            </a:p>
          </p:txBody>
        </p:sp>
        <p:sp>
          <p:nvSpPr>
            <p:cNvPr id="5" name="Freeform 5"/>
            <p:cNvSpPr/>
            <p:nvPr/>
          </p:nvSpPr>
          <p:spPr>
            <a:xfrm>
              <a:off x="533400" y="723900"/>
              <a:ext cx="11125200" cy="419100"/>
            </a:xfrm>
            <a:custGeom>
              <a:avLst/>
              <a:gdLst/>
              <a:ahLst/>
              <a:cxnLst/>
              <a:rect l="l" t="t" r="r" b="b"/>
              <a:pathLst>
                <a:path w="11125200" h="419100">
                  <a:moveTo>
                    <a:pt x="66675" y="0"/>
                  </a:moveTo>
                  <a:lnTo>
                    <a:pt x="11058525" y="0"/>
                  </a:lnTo>
                  <a:cubicBezTo>
                    <a:pt x="11095349" y="0"/>
                    <a:pt x="11125200" y="29851"/>
                    <a:pt x="11125200" y="66675"/>
                  </a:cubicBezTo>
                  <a:lnTo>
                    <a:pt x="11125200" y="352425"/>
                  </a:lnTo>
                  <a:cubicBezTo>
                    <a:pt x="11125200" y="389249"/>
                    <a:pt x="11095349" y="419100"/>
                    <a:pt x="11058525" y="419100"/>
                  </a:cubicBezTo>
                  <a:lnTo>
                    <a:pt x="66675" y="419100"/>
                  </a:lnTo>
                  <a:cubicBezTo>
                    <a:pt x="29851" y="419100"/>
                    <a:pt x="0" y="389249"/>
                    <a:pt x="0" y="352425"/>
                  </a:cubicBezTo>
                  <a:lnTo>
                    <a:pt x="0" y="66675"/>
                  </a:lnTo>
                  <a:cubicBezTo>
                    <a:pt x="0" y="29851"/>
                    <a:pt x="29851" y="0"/>
                    <a:pt x="66675" y="0"/>
                  </a:cubicBezTo>
                  <a:close/>
                </a:path>
              </a:pathLst>
            </a:custGeom>
            <a:solidFill>
              <a:srgbClr val="12304A"/>
            </a:solidFill>
            <a:ln>
              <a:noFill/>
            </a:ln>
          </p:spPr>
        </p:sp>
        <p:sp>
          <p:nvSpPr>
            <p:cNvPr id="6" name="TextBox 6"/>
            <p:cNvSpPr txBox="1"/>
            <p:nvPr/>
          </p:nvSpPr>
          <p:spPr>
            <a:xfrm>
              <a:off x="706755" y="844868"/>
              <a:ext cx="7901273"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Calibri"/>
                  <a:ea typeface="Microsoft YaHei"/>
                  <a:cs typeface="Calibri"/>
                </a:rPr>
                <a:t>The baseline is not capacity-constrained; it is off-peak demand-constrained.</a:t>
              </a:r>
            </a:p>
          </p:txBody>
        </p:sp>
      </p:grpSp>
      <p:grpSp>
        <p:nvGrpSpPr>
          <p:cNvPr id="13" name="Group 13"/>
          <p:cNvGrpSpPr/>
          <p:nvPr/>
        </p:nvGrpSpPr>
        <p:grpSpPr>
          <a:xfrm>
            <a:off x="533400" y="1409700"/>
            <a:ext cx="3857244" cy="1428750"/>
            <a:chOff x="533400" y="1409700"/>
            <a:chExt cx="3857244" cy="1428750"/>
          </a:xfrm>
          <a:effectLst>
            <a:outerShdw blurRad="152400" dist="38100" dir="10799140" algn="tl" rotWithShape="0">
              <a:srgbClr val="12304A">
                <a:alpha val="11000"/>
              </a:srgbClr>
            </a:outerShdw>
          </a:effectLst>
        </p:grpSpPr>
        <p:sp>
          <p:nvSpPr>
            <p:cNvPr id="8" name="Freeform 8"/>
            <p:cNvSpPr/>
            <p:nvPr/>
          </p:nvSpPr>
          <p:spPr>
            <a:xfrm>
              <a:off x="533400" y="1409700"/>
              <a:ext cx="3448050" cy="1428750"/>
            </a:xfrm>
            <a:custGeom>
              <a:avLst/>
              <a:gdLst/>
              <a:ahLst/>
              <a:cxnLst/>
              <a:rect l="l" t="t" r="r" b="b"/>
              <a:pathLst>
                <a:path w="3448050" h="1428750">
                  <a:moveTo>
                    <a:pt x="133350" y="0"/>
                  </a:moveTo>
                  <a:lnTo>
                    <a:pt x="3314700" y="0"/>
                  </a:lnTo>
                  <a:cubicBezTo>
                    <a:pt x="3388347" y="0"/>
                    <a:pt x="3448050" y="59703"/>
                    <a:pt x="3448050" y="133350"/>
                  </a:cubicBezTo>
                  <a:lnTo>
                    <a:pt x="3448050" y="1295400"/>
                  </a:lnTo>
                  <a:cubicBezTo>
                    <a:pt x="3448050" y="1369047"/>
                    <a:pt x="3388347" y="1428750"/>
                    <a:pt x="3314700" y="1428750"/>
                  </a:cubicBezTo>
                  <a:lnTo>
                    <a:pt x="133350" y="1428750"/>
                  </a:lnTo>
                  <a:cubicBezTo>
                    <a:pt x="59703" y="1428750"/>
                    <a:pt x="0" y="1369047"/>
                    <a:pt x="0" y="1295400"/>
                  </a:cubicBezTo>
                  <a:lnTo>
                    <a:pt x="0" y="133350"/>
                  </a:lnTo>
                  <a:cubicBezTo>
                    <a:pt x="0" y="59703"/>
                    <a:pt x="59703" y="0"/>
                    <a:pt x="133350" y="0"/>
                  </a:cubicBezTo>
                  <a:close/>
                </a:path>
              </a:pathLst>
            </a:custGeom>
            <a:solidFill>
              <a:srgbClr val="FFFFFF"/>
            </a:solidFill>
            <a:ln>
              <a:noFill/>
            </a:ln>
            <a:effectLst>
              <a:outerShdw blurRad="152400" dist="38100" dir="10799140" algn="tl" rotWithShape="0">
                <a:srgbClr val="12304A">
                  <a:alpha val="11000"/>
                </a:srgbClr>
              </a:outerShdw>
            </a:effectLst>
          </p:spPr>
        </p:sp>
        <p:sp>
          <p:nvSpPr>
            <p:cNvPr id="9" name="Freeform 9"/>
            <p:cNvSpPr/>
            <p:nvPr/>
          </p:nvSpPr>
          <p:spPr>
            <a:xfrm>
              <a:off x="533400" y="1409700"/>
              <a:ext cx="76200" cy="1428750"/>
            </a:xfrm>
            <a:custGeom>
              <a:avLst/>
              <a:gdLst/>
              <a:ahLst/>
              <a:cxnLst/>
              <a:rect l="l" t="t" r="r" b="b"/>
              <a:pathLst>
                <a:path w="76200" h="1428750">
                  <a:moveTo>
                    <a:pt x="38100" y="0"/>
                  </a:moveTo>
                  <a:lnTo>
                    <a:pt x="38100" y="0"/>
                  </a:lnTo>
                  <a:cubicBezTo>
                    <a:pt x="59142" y="0"/>
                    <a:pt x="76200" y="17058"/>
                    <a:pt x="76200" y="38100"/>
                  </a:cubicBezTo>
                  <a:lnTo>
                    <a:pt x="76200" y="1390650"/>
                  </a:lnTo>
                  <a:cubicBezTo>
                    <a:pt x="76200" y="1411692"/>
                    <a:pt x="59142" y="1428750"/>
                    <a:pt x="38100" y="1428750"/>
                  </a:cubicBezTo>
                  <a:lnTo>
                    <a:pt x="38100" y="1428750"/>
                  </a:lnTo>
                  <a:cubicBezTo>
                    <a:pt x="17058" y="1428750"/>
                    <a:pt x="0" y="1411692"/>
                    <a:pt x="0" y="1390650"/>
                  </a:cubicBezTo>
                  <a:lnTo>
                    <a:pt x="0" y="38100"/>
                  </a:lnTo>
                  <a:cubicBezTo>
                    <a:pt x="0" y="17058"/>
                    <a:pt x="17058" y="0"/>
                    <a:pt x="38100" y="0"/>
                  </a:cubicBezTo>
                  <a:close/>
                </a:path>
              </a:pathLst>
            </a:custGeom>
            <a:solidFill>
              <a:srgbClr val="12304A"/>
            </a:solidFill>
            <a:ln>
              <a:noFill/>
            </a:ln>
            <a:effectLst>
              <a:outerShdw blurRad="152400" dist="38100" dir="10799140" algn="tl" rotWithShape="0">
                <a:srgbClr val="12304A">
                  <a:alpha val="11000"/>
                </a:srgbClr>
              </a:outerShdw>
            </a:effectLst>
          </p:spPr>
        </p:sp>
        <p:sp>
          <p:nvSpPr>
            <p:cNvPr id="10" name="TextBox 10"/>
            <p:cNvSpPr txBox="1"/>
            <p:nvPr/>
          </p:nvSpPr>
          <p:spPr>
            <a:xfrm>
              <a:off x="784860" y="1604010"/>
              <a:ext cx="1714290" cy="243840"/>
            </a:xfrm>
            <a:prstGeom prst="rect">
              <a:avLst/>
            </a:prstGeom>
            <a:noFill/>
            <a:ln>
              <a:noFill/>
            </a:ln>
            <a:effectLst>
              <a:outerShdw blurRad="152400" dist="38100" dir="10799140" algn="tl" rotWithShape="0">
                <a:srgbClr val="12304A">
                  <a:alpha val="11000"/>
                </a:srgbClr>
              </a:outerShdw>
            </a:effectLst>
          </p:spPr>
          <p:txBody>
            <a:bodyPr wrap="none" lIns="0" tIns="0" rIns="0" bIns="0" anchor="t" anchorCtr="0">
              <a:spAutoFit/>
            </a:bodyPr>
            <a:lstStyle/>
            <a:p>
              <a:pPr algn="l"/>
              <a:r>
                <a:rPr lang="zh-CN" sz="1200" b="1" dirty="0">
                  <a:solidFill>
                    <a:srgbClr val="5E6B75"/>
                  </a:solidFill>
                  <a:latin typeface="Arial"/>
                  <a:ea typeface="Microsoft YaHei"/>
                  <a:cs typeface="Arial"/>
                </a:rPr>
                <a:t>AVAILABLE CAPACITY</a:t>
              </a:r>
            </a:p>
          </p:txBody>
        </p:sp>
        <p:sp>
          <p:nvSpPr>
            <p:cNvPr id="11" name="TextBox 11"/>
            <p:cNvSpPr txBox="1"/>
            <p:nvPr/>
          </p:nvSpPr>
          <p:spPr>
            <a:xfrm>
              <a:off x="750570" y="1922145"/>
              <a:ext cx="1743766" cy="792480"/>
            </a:xfrm>
            <a:prstGeom prst="rect">
              <a:avLst/>
            </a:prstGeom>
            <a:noFill/>
            <a:ln>
              <a:noFill/>
            </a:ln>
            <a:effectLst>
              <a:outerShdw blurRad="152400" dist="38100" dir="10799140" algn="tl" rotWithShape="0">
                <a:srgbClr val="12304A">
                  <a:alpha val="11000"/>
                </a:srgbClr>
              </a:outerShdw>
            </a:effectLst>
          </p:spPr>
          <p:txBody>
            <a:bodyPr wrap="none" lIns="0" tIns="0" rIns="0" bIns="0" anchor="t" anchorCtr="0">
              <a:spAutoFit/>
            </a:bodyPr>
            <a:lstStyle/>
            <a:p>
              <a:pPr algn="l"/>
              <a:r>
                <a:rPr lang="zh-CN" sz="3900" b="1" dirty="0">
                  <a:solidFill>
                    <a:srgbClr val="12304A"/>
                  </a:solidFill>
                  <a:latin typeface="Arial"/>
                  <a:ea typeface="Microsoft YaHei"/>
                  <a:cs typeface="Arial"/>
                </a:rPr>
                <a:t>4,480</a:t>
              </a:r>
            </a:p>
          </p:txBody>
        </p:sp>
        <p:sp>
          <p:nvSpPr>
            <p:cNvPr id="12" name="TextBox 12"/>
            <p:cNvSpPr txBox="1"/>
            <p:nvPr/>
          </p:nvSpPr>
          <p:spPr>
            <a:xfrm>
              <a:off x="784860" y="2499360"/>
              <a:ext cx="3605784" cy="243840"/>
            </a:xfrm>
            <a:prstGeom prst="rect">
              <a:avLst/>
            </a:prstGeom>
            <a:noFill/>
            <a:ln>
              <a:noFill/>
            </a:ln>
            <a:effectLst>
              <a:outerShdw blurRad="152400" dist="38100" dir="10799140" algn="tl" rotWithShape="0">
                <a:srgbClr val="12304A">
                  <a:alpha val="11000"/>
                </a:srgbClr>
              </a:outerShdw>
            </a:effectLst>
          </p:spPr>
          <p:txBody>
            <a:bodyPr wrap="none" lIns="0" tIns="0" rIns="0" bIns="0" anchor="t" anchorCtr="0">
              <a:spAutoFit/>
            </a:bodyPr>
            <a:lstStyle/>
            <a:p>
              <a:pPr algn="l"/>
              <a:r>
                <a:rPr lang="zh-CN" sz="1200" dirty="0">
                  <a:solidFill>
                    <a:srgbClr val="5E6B75"/>
                  </a:solidFill>
                  <a:latin typeface="Calibri"/>
                  <a:ea typeface="Microsoft YaHei"/>
                  <a:cs typeface="Calibri"/>
                </a:rPr>
                <a:t>court-hours across four synthetic weeks</a:t>
              </a:r>
            </a:p>
          </p:txBody>
        </p:sp>
      </p:grpSp>
      <p:grpSp>
        <p:nvGrpSpPr>
          <p:cNvPr id="19" name="Group 19"/>
          <p:cNvGrpSpPr/>
          <p:nvPr/>
        </p:nvGrpSpPr>
        <p:grpSpPr>
          <a:xfrm>
            <a:off x="4371975" y="1409700"/>
            <a:ext cx="3533013" cy="1428750"/>
            <a:chOff x="4371975" y="1409700"/>
            <a:chExt cx="3533013" cy="1428750"/>
          </a:xfrm>
          <a:effectLst>
            <a:outerShdw blurRad="152400" dist="38100" dir="10799140" algn="tl" rotWithShape="0">
              <a:srgbClr val="12304A">
                <a:alpha val="11000"/>
              </a:srgbClr>
            </a:outerShdw>
          </a:effectLst>
        </p:grpSpPr>
        <p:sp>
          <p:nvSpPr>
            <p:cNvPr id="14" name="Freeform 14"/>
            <p:cNvSpPr/>
            <p:nvPr/>
          </p:nvSpPr>
          <p:spPr>
            <a:xfrm>
              <a:off x="4371975" y="1409700"/>
              <a:ext cx="3448050" cy="1428750"/>
            </a:xfrm>
            <a:custGeom>
              <a:avLst/>
              <a:gdLst/>
              <a:ahLst/>
              <a:cxnLst/>
              <a:rect l="l" t="t" r="r" b="b"/>
              <a:pathLst>
                <a:path w="3448050" h="1428750">
                  <a:moveTo>
                    <a:pt x="133350" y="0"/>
                  </a:moveTo>
                  <a:lnTo>
                    <a:pt x="3314700" y="0"/>
                  </a:lnTo>
                  <a:cubicBezTo>
                    <a:pt x="3388347" y="0"/>
                    <a:pt x="3448050" y="59703"/>
                    <a:pt x="3448050" y="133350"/>
                  </a:cubicBezTo>
                  <a:lnTo>
                    <a:pt x="3448050" y="1295400"/>
                  </a:lnTo>
                  <a:cubicBezTo>
                    <a:pt x="3448050" y="1369047"/>
                    <a:pt x="3388347" y="1428750"/>
                    <a:pt x="3314700" y="1428750"/>
                  </a:cubicBezTo>
                  <a:lnTo>
                    <a:pt x="133350" y="1428750"/>
                  </a:lnTo>
                  <a:cubicBezTo>
                    <a:pt x="59703" y="1428750"/>
                    <a:pt x="0" y="1369047"/>
                    <a:pt x="0" y="1295400"/>
                  </a:cubicBezTo>
                  <a:lnTo>
                    <a:pt x="0" y="133350"/>
                  </a:lnTo>
                  <a:cubicBezTo>
                    <a:pt x="0" y="59703"/>
                    <a:pt x="59703" y="0"/>
                    <a:pt x="133350" y="0"/>
                  </a:cubicBezTo>
                  <a:close/>
                </a:path>
              </a:pathLst>
            </a:custGeom>
            <a:solidFill>
              <a:srgbClr val="FFFFFF"/>
            </a:solidFill>
            <a:ln>
              <a:noFill/>
            </a:ln>
            <a:effectLst>
              <a:outerShdw blurRad="152400" dist="38100" dir="10799140" algn="tl" rotWithShape="0">
                <a:srgbClr val="12304A">
                  <a:alpha val="11000"/>
                </a:srgbClr>
              </a:outerShdw>
            </a:effectLst>
          </p:spPr>
        </p:sp>
        <p:sp>
          <p:nvSpPr>
            <p:cNvPr id="15" name="Freeform 15"/>
            <p:cNvSpPr/>
            <p:nvPr/>
          </p:nvSpPr>
          <p:spPr>
            <a:xfrm>
              <a:off x="4371975" y="1409700"/>
              <a:ext cx="76200" cy="1428750"/>
            </a:xfrm>
            <a:custGeom>
              <a:avLst/>
              <a:gdLst/>
              <a:ahLst/>
              <a:cxnLst/>
              <a:rect l="l" t="t" r="r" b="b"/>
              <a:pathLst>
                <a:path w="76200" h="1428750">
                  <a:moveTo>
                    <a:pt x="38100" y="0"/>
                  </a:moveTo>
                  <a:lnTo>
                    <a:pt x="38100" y="0"/>
                  </a:lnTo>
                  <a:cubicBezTo>
                    <a:pt x="59142" y="0"/>
                    <a:pt x="76200" y="17058"/>
                    <a:pt x="76200" y="38100"/>
                  </a:cubicBezTo>
                  <a:lnTo>
                    <a:pt x="76200" y="1390650"/>
                  </a:lnTo>
                  <a:cubicBezTo>
                    <a:pt x="76200" y="1411692"/>
                    <a:pt x="59142" y="1428750"/>
                    <a:pt x="38100" y="1428750"/>
                  </a:cubicBezTo>
                  <a:lnTo>
                    <a:pt x="38100" y="1428750"/>
                  </a:lnTo>
                  <a:cubicBezTo>
                    <a:pt x="17058" y="1428750"/>
                    <a:pt x="0" y="1411692"/>
                    <a:pt x="0" y="1390650"/>
                  </a:cubicBezTo>
                  <a:lnTo>
                    <a:pt x="0" y="38100"/>
                  </a:lnTo>
                  <a:cubicBezTo>
                    <a:pt x="0" y="17058"/>
                    <a:pt x="17058" y="0"/>
                    <a:pt x="38100" y="0"/>
                  </a:cubicBezTo>
                  <a:close/>
                </a:path>
              </a:pathLst>
            </a:custGeom>
            <a:solidFill>
              <a:srgbClr val="17A673"/>
            </a:solidFill>
            <a:ln>
              <a:noFill/>
            </a:ln>
            <a:effectLst>
              <a:outerShdw blurRad="152400" dist="38100" dir="10799140" algn="tl" rotWithShape="0">
                <a:srgbClr val="12304A">
                  <a:alpha val="11000"/>
                </a:srgbClr>
              </a:outerShdw>
            </a:effectLst>
          </p:spPr>
        </p:sp>
        <p:sp>
          <p:nvSpPr>
            <p:cNvPr id="16" name="TextBox 16"/>
            <p:cNvSpPr txBox="1"/>
            <p:nvPr/>
          </p:nvSpPr>
          <p:spPr>
            <a:xfrm>
              <a:off x="4623435" y="1604010"/>
              <a:ext cx="1677486" cy="243840"/>
            </a:xfrm>
            <a:prstGeom prst="rect">
              <a:avLst/>
            </a:prstGeom>
            <a:noFill/>
            <a:ln>
              <a:noFill/>
            </a:ln>
            <a:effectLst>
              <a:outerShdw blurRad="152400" dist="38100" dir="10799140" algn="tl" rotWithShape="0">
                <a:srgbClr val="12304A">
                  <a:alpha val="11000"/>
                </a:srgbClr>
              </a:outerShdw>
            </a:effectLst>
          </p:spPr>
          <p:txBody>
            <a:bodyPr wrap="none" lIns="0" tIns="0" rIns="0" bIns="0" anchor="t" anchorCtr="0">
              <a:spAutoFit/>
            </a:bodyPr>
            <a:lstStyle/>
            <a:p>
              <a:pPr algn="l"/>
              <a:r>
                <a:rPr lang="zh-CN" sz="1200" b="1" dirty="0">
                  <a:solidFill>
                    <a:srgbClr val="5E6B75"/>
                  </a:solidFill>
                  <a:latin typeface="Arial"/>
                  <a:ea typeface="Microsoft YaHei"/>
                  <a:cs typeface="Arial"/>
                </a:rPr>
                <a:t>CURRENTLY BOOKED</a:t>
              </a:r>
            </a:p>
          </p:txBody>
        </p:sp>
        <p:sp>
          <p:nvSpPr>
            <p:cNvPr id="17" name="TextBox 17"/>
            <p:cNvSpPr txBox="1"/>
            <p:nvPr/>
          </p:nvSpPr>
          <p:spPr>
            <a:xfrm>
              <a:off x="4589145" y="1922145"/>
              <a:ext cx="1743766" cy="792480"/>
            </a:xfrm>
            <a:prstGeom prst="rect">
              <a:avLst/>
            </a:prstGeom>
            <a:noFill/>
            <a:ln>
              <a:noFill/>
            </a:ln>
            <a:effectLst>
              <a:outerShdw blurRad="152400" dist="38100" dir="10799140" algn="tl" rotWithShape="0">
                <a:srgbClr val="12304A">
                  <a:alpha val="11000"/>
                </a:srgbClr>
              </a:outerShdw>
            </a:effectLst>
          </p:spPr>
          <p:txBody>
            <a:bodyPr wrap="none" lIns="0" tIns="0" rIns="0" bIns="0" anchor="t" anchorCtr="0">
              <a:spAutoFit/>
            </a:bodyPr>
            <a:lstStyle/>
            <a:p>
              <a:pPr algn="l"/>
              <a:r>
                <a:rPr lang="zh-CN" sz="3900" b="1" dirty="0">
                  <a:solidFill>
                    <a:srgbClr val="17A673"/>
                  </a:solidFill>
                  <a:latin typeface="Arial"/>
                  <a:ea typeface="Microsoft YaHei"/>
                  <a:cs typeface="Arial"/>
                </a:rPr>
                <a:t>2,320</a:t>
              </a:r>
            </a:p>
          </p:txBody>
        </p:sp>
        <p:sp>
          <p:nvSpPr>
            <p:cNvPr id="18" name="TextBox 18"/>
            <p:cNvSpPr txBox="1"/>
            <p:nvPr/>
          </p:nvSpPr>
          <p:spPr>
            <a:xfrm>
              <a:off x="4623435" y="2499360"/>
              <a:ext cx="3281553" cy="243840"/>
            </a:xfrm>
            <a:prstGeom prst="rect">
              <a:avLst/>
            </a:prstGeom>
            <a:noFill/>
            <a:ln>
              <a:noFill/>
            </a:ln>
            <a:effectLst>
              <a:outerShdw blurRad="152400" dist="38100" dir="10799140" algn="tl" rotWithShape="0">
                <a:srgbClr val="12304A">
                  <a:alpha val="11000"/>
                </a:srgbClr>
              </a:outerShdw>
            </a:effectLst>
          </p:spPr>
          <p:txBody>
            <a:bodyPr wrap="none" lIns="0" tIns="0" rIns="0" bIns="0" anchor="t" anchorCtr="0">
              <a:spAutoFit/>
            </a:bodyPr>
            <a:lstStyle/>
            <a:p>
              <a:pPr algn="l"/>
              <a:r>
                <a:rPr lang="zh-CN" sz="1200" dirty="0">
                  <a:solidFill>
                    <a:srgbClr val="5E6B75"/>
                  </a:solidFill>
                  <a:latin typeface="Calibri"/>
                  <a:ea typeface="Microsoft YaHei"/>
                  <a:cs typeface="Calibri"/>
                </a:rPr>
                <a:t>51.79% occupancy • 2,160 hours remain</a:t>
              </a:r>
            </a:p>
          </p:txBody>
        </p:sp>
      </p:grpSp>
      <p:grpSp>
        <p:nvGrpSpPr>
          <p:cNvPr id="25" name="Group 25"/>
          <p:cNvGrpSpPr/>
          <p:nvPr/>
        </p:nvGrpSpPr>
        <p:grpSpPr>
          <a:xfrm>
            <a:off x="8210550" y="1409700"/>
            <a:ext cx="3541776" cy="1428750"/>
            <a:chOff x="8210550" y="1409700"/>
            <a:chExt cx="3541776" cy="1428750"/>
          </a:xfrm>
          <a:effectLst>
            <a:outerShdw blurRad="152400" dist="38100" dir="10799140" algn="tl" rotWithShape="0">
              <a:srgbClr val="12304A">
                <a:alpha val="11000"/>
              </a:srgbClr>
            </a:outerShdw>
          </a:effectLst>
        </p:grpSpPr>
        <p:sp>
          <p:nvSpPr>
            <p:cNvPr id="20" name="Freeform 20"/>
            <p:cNvSpPr/>
            <p:nvPr/>
          </p:nvSpPr>
          <p:spPr>
            <a:xfrm>
              <a:off x="8210550" y="1409700"/>
              <a:ext cx="3448050" cy="1428750"/>
            </a:xfrm>
            <a:custGeom>
              <a:avLst/>
              <a:gdLst/>
              <a:ahLst/>
              <a:cxnLst/>
              <a:rect l="l" t="t" r="r" b="b"/>
              <a:pathLst>
                <a:path w="3448050" h="1428750">
                  <a:moveTo>
                    <a:pt x="133350" y="0"/>
                  </a:moveTo>
                  <a:lnTo>
                    <a:pt x="3314700" y="0"/>
                  </a:lnTo>
                  <a:cubicBezTo>
                    <a:pt x="3388347" y="0"/>
                    <a:pt x="3448050" y="59703"/>
                    <a:pt x="3448050" y="133350"/>
                  </a:cubicBezTo>
                  <a:lnTo>
                    <a:pt x="3448050" y="1295400"/>
                  </a:lnTo>
                  <a:cubicBezTo>
                    <a:pt x="3448050" y="1369047"/>
                    <a:pt x="3388347" y="1428750"/>
                    <a:pt x="3314700" y="1428750"/>
                  </a:cubicBezTo>
                  <a:lnTo>
                    <a:pt x="133350" y="1428750"/>
                  </a:lnTo>
                  <a:cubicBezTo>
                    <a:pt x="59703" y="1428750"/>
                    <a:pt x="0" y="1369047"/>
                    <a:pt x="0" y="1295400"/>
                  </a:cubicBezTo>
                  <a:lnTo>
                    <a:pt x="0" y="133350"/>
                  </a:lnTo>
                  <a:cubicBezTo>
                    <a:pt x="0" y="59703"/>
                    <a:pt x="59703" y="0"/>
                    <a:pt x="133350" y="0"/>
                  </a:cubicBezTo>
                  <a:close/>
                </a:path>
              </a:pathLst>
            </a:custGeom>
            <a:solidFill>
              <a:srgbClr val="FFFFFF"/>
            </a:solidFill>
            <a:ln>
              <a:noFill/>
            </a:ln>
            <a:effectLst>
              <a:outerShdw blurRad="152400" dist="38100" dir="10799140" algn="tl" rotWithShape="0">
                <a:srgbClr val="12304A">
                  <a:alpha val="11000"/>
                </a:srgbClr>
              </a:outerShdw>
            </a:effectLst>
          </p:spPr>
        </p:sp>
        <p:sp>
          <p:nvSpPr>
            <p:cNvPr id="21" name="Freeform 21"/>
            <p:cNvSpPr/>
            <p:nvPr/>
          </p:nvSpPr>
          <p:spPr>
            <a:xfrm>
              <a:off x="8210550" y="1409700"/>
              <a:ext cx="76200" cy="1428750"/>
            </a:xfrm>
            <a:custGeom>
              <a:avLst/>
              <a:gdLst/>
              <a:ahLst/>
              <a:cxnLst/>
              <a:rect l="l" t="t" r="r" b="b"/>
              <a:pathLst>
                <a:path w="76200" h="1428750">
                  <a:moveTo>
                    <a:pt x="38100" y="0"/>
                  </a:moveTo>
                  <a:lnTo>
                    <a:pt x="38100" y="0"/>
                  </a:lnTo>
                  <a:cubicBezTo>
                    <a:pt x="59142" y="0"/>
                    <a:pt x="76200" y="17058"/>
                    <a:pt x="76200" y="38100"/>
                  </a:cubicBezTo>
                  <a:lnTo>
                    <a:pt x="76200" y="1390650"/>
                  </a:lnTo>
                  <a:cubicBezTo>
                    <a:pt x="76200" y="1411692"/>
                    <a:pt x="59142" y="1428750"/>
                    <a:pt x="38100" y="1428750"/>
                  </a:cubicBezTo>
                  <a:lnTo>
                    <a:pt x="38100" y="1428750"/>
                  </a:lnTo>
                  <a:cubicBezTo>
                    <a:pt x="17058" y="1428750"/>
                    <a:pt x="0" y="1411692"/>
                    <a:pt x="0" y="1390650"/>
                  </a:cubicBezTo>
                  <a:lnTo>
                    <a:pt x="0" y="38100"/>
                  </a:lnTo>
                  <a:cubicBezTo>
                    <a:pt x="0" y="17058"/>
                    <a:pt x="17058" y="0"/>
                    <a:pt x="38100" y="0"/>
                  </a:cubicBezTo>
                  <a:close/>
                </a:path>
              </a:pathLst>
            </a:custGeom>
            <a:solidFill>
              <a:srgbClr val="D65A4A"/>
            </a:solidFill>
            <a:ln>
              <a:noFill/>
            </a:ln>
            <a:effectLst>
              <a:outerShdw blurRad="152400" dist="38100" dir="10799140" algn="tl" rotWithShape="0">
                <a:srgbClr val="12304A">
                  <a:alpha val="11000"/>
                </a:srgbClr>
              </a:outerShdw>
            </a:effectLst>
          </p:spPr>
        </p:sp>
        <p:sp>
          <p:nvSpPr>
            <p:cNvPr id="22" name="TextBox 22"/>
            <p:cNvSpPr txBox="1"/>
            <p:nvPr/>
          </p:nvSpPr>
          <p:spPr>
            <a:xfrm>
              <a:off x="8462010" y="1604010"/>
              <a:ext cx="1539469" cy="243840"/>
            </a:xfrm>
            <a:prstGeom prst="rect">
              <a:avLst/>
            </a:prstGeom>
            <a:noFill/>
            <a:ln>
              <a:noFill/>
            </a:ln>
            <a:effectLst>
              <a:outerShdw blurRad="152400" dist="38100" dir="10799140" algn="tl" rotWithShape="0">
                <a:srgbClr val="12304A">
                  <a:alpha val="11000"/>
                </a:srgbClr>
              </a:outerShdw>
            </a:effectLst>
          </p:spPr>
          <p:txBody>
            <a:bodyPr wrap="none" lIns="0" tIns="0" rIns="0" bIns="0" anchor="t" anchorCtr="0">
              <a:spAutoFit/>
            </a:bodyPr>
            <a:lstStyle/>
            <a:p>
              <a:pPr algn="l"/>
              <a:r>
                <a:rPr lang="zh-CN" sz="1200" b="1" dirty="0">
                  <a:solidFill>
                    <a:srgbClr val="5E6B75"/>
                  </a:solidFill>
                  <a:latin typeface="Arial"/>
                  <a:ea typeface="Microsoft YaHei"/>
                  <a:cs typeface="Arial"/>
                </a:rPr>
                <a:t>UNUSED OFF-PEAK</a:t>
              </a:r>
            </a:p>
          </p:txBody>
        </p:sp>
        <p:sp>
          <p:nvSpPr>
            <p:cNvPr id="23" name="TextBox 23"/>
            <p:cNvSpPr txBox="1"/>
            <p:nvPr/>
          </p:nvSpPr>
          <p:spPr>
            <a:xfrm>
              <a:off x="8427720" y="1922145"/>
              <a:ext cx="1594247" cy="792480"/>
            </a:xfrm>
            <a:prstGeom prst="rect">
              <a:avLst/>
            </a:prstGeom>
            <a:noFill/>
            <a:ln>
              <a:noFill/>
            </a:ln>
            <a:effectLst>
              <a:outerShdw blurRad="152400" dist="38100" dir="10799140" algn="tl" rotWithShape="0">
                <a:srgbClr val="12304A">
                  <a:alpha val="11000"/>
                </a:srgbClr>
              </a:outerShdw>
            </a:effectLst>
          </p:spPr>
          <p:txBody>
            <a:bodyPr wrap="none" lIns="0" tIns="0" rIns="0" bIns="0" anchor="t" anchorCtr="0">
              <a:spAutoFit/>
            </a:bodyPr>
            <a:lstStyle/>
            <a:p>
              <a:pPr algn="l"/>
              <a:r>
                <a:rPr lang="zh-CN" sz="3900" b="1" dirty="0">
                  <a:solidFill>
                    <a:srgbClr val="D65A4A"/>
                  </a:solidFill>
                  <a:latin typeface="Arial"/>
                  <a:ea typeface="Microsoft YaHei"/>
                  <a:cs typeface="Arial"/>
                </a:rPr>
                <a:t>1,920</a:t>
              </a:r>
            </a:p>
          </p:txBody>
        </p:sp>
        <p:sp>
          <p:nvSpPr>
            <p:cNvPr id="24" name="TextBox 24"/>
            <p:cNvSpPr txBox="1"/>
            <p:nvPr/>
          </p:nvSpPr>
          <p:spPr>
            <a:xfrm>
              <a:off x="8462010" y="2499360"/>
              <a:ext cx="3290316" cy="243840"/>
            </a:xfrm>
            <a:prstGeom prst="rect">
              <a:avLst/>
            </a:prstGeom>
            <a:noFill/>
            <a:ln>
              <a:noFill/>
            </a:ln>
            <a:effectLst>
              <a:outerShdw blurRad="152400" dist="38100" dir="10799140" algn="tl" rotWithShape="0">
                <a:srgbClr val="12304A">
                  <a:alpha val="11000"/>
                </a:srgbClr>
              </a:outerShdw>
            </a:effectLst>
          </p:spPr>
          <p:txBody>
            <a:bodyPr wrap="none" lIns="0" tIns="0" rIns="0" bIns="0" anchor="t" anchorCtr="0">
              <a:spAutoFit/>
            </a:bodyPr>
            <a:lstStyle/>
            <a:p>
              <a:pPr algn="l"/>
              <a:r>
                <a:rPr lang="zh-CN" sz="1200" dirty="0">
                  <a:solidFill>
                    <a:srgbClr val="5E6B75"/>
                  </a:solidFill>
                  <a:latin typeface="Calibri"/>
                  <a:ea typeface="Microsoft YaHei"/>
                  <a:cs typeface="Calibri"/>
                </a:rPr>
                <a:t>60% of 3,200 off-peak hours go unsold</a:t>
              </a:r>
            </a:p>
          </p:txBody>
        </p:sp>
      </p:grpSp>
      <p:grpSp>
        <p:nvGrpSpPr>
          <p:cNvPr id="44" name="Group 44"/>
          <p:cNvGrpSpPr/>
          <p:nvPr/>
        </p:nvGrpSpPr>
        <p:grpSpPr>
          <a:xfrm>
            <a:off x="533400" y="3143250"/>
            <a:ext cx="7239000" cy="2781300"/>
            <a:chOff x="533400" y="3143250"/>
            <a:chExt cx="7239000" cy="2781300"/>
          </a:xfrm>
        </p:grpSpPr>
        <p:sp>
          <p:nvSpPr>
            <p:cNvPr id="26" name="Freeform 26"/>
            <p:cNvSpPr/>
            <p:nvPr/>
          </p:nvSpPr>
          <p:spPr>
            <a:xfrm>
              <a:off x="533400" y="3143250"/>
              <a:ext cx="7239000" cy="2781300"/>
            </a:xfrm>
            <a:custGeom>
              <a:avLst/>
              <a:gdLst/>
              <a:ahLst/>
              <a:cxnLst/>
              <a:rect l="l" t="t" r="r" b="b"/>
              <a:pathLst>
                <a:path w="7239000" h="2781300">
                  <a:moveTo>
                    <a:pt x="133350" y="0"/>
                  </a:moveTo>
                  <a:lnTo>
                    <a:pt x="7105650" y="0"/>
                  </a:lnTo>
                  <a:cubicBezTo>
                    <a:pt x="7179297" y="0"/>
                    <a:pt x="7239000" y="59703"/>
                    <a:pt x="7239000" y="133350"/>
                  </a:cubicBezTo>
                  <a:lnTo>
                    <a:pt x="7239000" y="2647950"/>
                  </a:lnTo>
                  <a:cubicBezTo>
                    <a:pt x="7239000" y="2721597"/>
                    <a:pt x="7179297" y="2781300"/>
                    <a:pt x="7105650" y="2781300"/>
                  </a:cubicBezTo>
                  <a:lnTo>
                    <a:pt x="133350" y="2781300"/>
                  </a:lnTo>
                  <a:cubicBezTo>
                    <a:pt x="59703" y="2781300"/>
                    <a:pt x="0" y="2721597"/>
                    <a:pt x="0" y="2647950"/>
                  </a:cubicBezTo>
                  <a:lnTo>
                    <a:pt x="0" y="133350"/>
                  </a:lnTo>
                  <a:cubicBezTo>
                    <a:pt x="0" y="59703"/>
                    <a:pt x="59703" y="0"/>
                    <a:pt x="133350" y="0"/>
                  </a:cubicBezTo>
                  <a:close/>
                </a:path>
              </a:pathLst>
            </a:custGeom>
            <a:solidFill>
              <a:srgbClr val="FFFFFF"/>
            </a:solidFill>
            <a:ln w="9525">
              <a:solidFill>
                <a:srgbClr val="CED8D3"/>
              </a:solidFill>
            </a:ln>
          </p:spPr>
        </p:sp>
        <p:sp>
          <p:nvSpPr>
            <p:cNvPr id="27" name="TextBox 27"/>
            <p:cNvSpPr txBox="1"/>
            <p:nvPr/>
          </p:nvSpPr>
          <p:spPr>
            <a:xfrm>
              <a:off x="781050" y="3343275"/>
              <a:ext cx="5064228" cy="304800"/>
            </a:xfrm>
            <a:prstGeom prst="rect">
              <a:avLst/>
            </a:prstGeom>
            <a:noFill/>
            <a:ln>
              <a:noFill/>
            </a:ln>
          </p:spPr>
          <p:txBody>
            <a:bodyPr wrap="none" lIns="0" tIns="0" rIns="0" bIns="0" anchor="t" anchorCtr="0">
              <a:spAutoFit/>
            </a:bodyPr>
            <a:lstStyle/>
            <a:p>
              <a:pPr algn="l"/>
              <a:r>
                <a:rPr lang="zh-CN" sz="1500" b="1" dirty="0">
                  <a:solidFill>
                    <a:srgbClr val="17212B"/>
                  </a:solidFill>
                  <a:latin typeface="Arial"/>
                  <a:ea typeface="Microsoft YaHei"/>
                  <a:cs typeface="Arial"/>
                </a:rPr>
                <a:t>Occupancy differs sharply by inventory type</a:t>
              </a:r>
            </a:p>
          </p:txBody>
        </p:sp>
        <p:sp>
          <p:nvSpPr>
            <p:cNvPr id="28" name="TextBox 28"/>
            <p:cNvSpPr txBox="1"/>
            <p:nvPr/>
          </p:nvSpPr>
          <p:spPr>
            <a:xfrm>
              <a:off x="785812" y="3621881"/>
              <a:ext cx="4883825" cy="228600"/>
            </a:xfrm>
            <a:prstGeom prst="rect">
              <a:avLst/>
            </a:prstGeom>
            <a:noFill/>
            <a:ln>
              <a:noFill/>
            </a:ln>
          </p:spPr>
          <p:txBody>
            <a:bodyPr wrap="none" lIns="0" tIns="0" rIns="0" bIns="0" anchor="t" anchorCtr="0">
              <a:spAutoFit/>
            </a:bodyPr>
            <a:lstStyle/>
            <a:p>
              <a:pPr algn="l"/>
              <a:r>
                <a:rPr lang="zh-CN" sz="1125" dirty="0">
                  <a:solidFill>
                    <a:srgbClr val="5E6B75"/>
                  </a:solidFill>
                  <a:latin typeface="Calibri"/>
                  <a:ea typeface="Microsoft YaHei"/>
                  <a:cs typeface="Calibri"/>
                </a:rPr>
                <a:t>Illustrative baseline • booked share of available court-hours</a:t>
              </a:r>
            </a:p>
          </p:txBody>
        </p:sp>
        <p:grpSp>
          <p:nvGrpSpPr>
            <p:cNvPr id="34" name="Group 34"/>
            <p:cNvGrpSpPr/>
            <p:nvPr/>
          </p:nvGrpSpPr>
          <p:grpSpPr>
            <a:xfrm>
              <a:off x="783908" y="4038600"/>
              <a:ext cx="6239827" cy="340519"/>
              <a:chOff x="783908" y="4038600"/>
              <a:chExt cx="6239827" cy="340519"/>
            </a:xfrm>
          </p:grpSpPr>
          <p:sp>
            <p:nvSpPr>
              <p:cNvPr id="29" name="TextBox 29"/>
              <p:cNvSpPr txBox="1"/>
              <p:nvPr/>
            </p:nvSpPr>
            <p:spPr>
              <a:xfrm>
                <a:off x="783908" y="4120039"/>
                <a:ext cx="931797" cy="259080"/>
              </a:xfrm>
              <a:prstGeom prst="rect">
                <a:avLst/>
              </a:prstGeom>
              <a:noFill/>
              <a:ln>
                <a:noFill/>
              </a:ln>
            </p:spPr>
            <p:txBody>
              <a:bodyPr wrap="none" lIns="0" tIns="0" rIns="0" bIns="0" anchor="t" anchorCtr="0">
                <a:spAutoFit/>
              </a:bodyPr>
              <a:lstStyle/>
              <a:p>
                <a:pPr algn="l"/>
                <a:r>
                  <a:rPr lang="zh-CN" sz="1275" b="1" dirty="0">
                    <a:solidFill>
                      <a:srgbClr val="17212B"/>
                    </a:solidFill>
                    <a:latin typeface="Arial"/>
                    <a:ea typeface="Microsoft YaHei"/>
                    <a:cs typeface="Arial"/>
                  </a:rPr>
                  <a:t>Off-peak</a:t>
                </a:r>
              </a:p>
            </p:txBody>
          </p:sp>
          <p:sp>
            <p:nvSpPr>
              <p:cNvPr id="30" name="Freeform 30"/>
              <p:cNvSpPr/>
              <p:nvPr/>
            </p:nvSpPr>
            <p:spPr>
              <a:xfrm>
                <a:off x="2057400" y="4038600"/>
                <a:ext cx="4953000" cy="304800"/>
              </a:xfrm>
              <a:custGeom>
                <a:avLst/>
                <a:gdLst/>
                <a:ahLst/>
                <a:cxnLst/>
                <a:rect l="l" t="t" r="r" b="b"/>
                <a:pathLst>
                  <a:path w="4953000" h="304800">
                    <a:moveTo>
                      <a:pt x="57150" y="0"/>
                    </a:moveTo>
                    <a:lnTo>
                      <a:pt x="4895850" y="0"/>
                    </a:lnTo>
                    <a:cubicBezTo>
                      <a:pt x="4927413" y="0"/>
                      <a:pt x="4953000" y="25587"/>
                      <a:pt x="4953000" y="57150"/>
                    </a:cubicBezTo>
                    <a:lnTo>
                      <a:pt x="4953000" y="247650"/>
                    </a:lnTo>
                    <a:cubicBezTo>
                      <a:pt x="4953000" y="279213"/>
                      <a:pt x="4927413" y="304800"/>
                      <a:pt x="4895850" y="304800"/>
                    </a:cubicBezTo>
                    <a:lnTo>
                      <a:pt x="57150" y="304800"/>
                    </a:lnTo>
                    <a:cubicBezTo>
                      <a:pt x="25587" y="304800"/>
                      <a:pt x="0" y="279213"/>
                      <a:pt x="0" y="247650"/>
                    </a:cubicBezTo>
                    <a:lnTo>
                      <a:pt x="0" y="57150"/>
                    </a:lnTo>
                    <a:cubicBezTo>
                      <a:pt x="0" y="25587"/>
                      <a:pt x="25587" y="0"/>
                      <a:pt x="57150" y="0"/>
                    </a:cubicBezTo>
                    <a:close/>
                  </a:path>
                </a:pathLst>
              </a:custGeom>
              <a:solidFill>
                <a:srgbClr val="EAF0ED"/>
              </a:solidFill>
              <a:ln>
                <a:noFill/>
              </a:ln>
            </p:spPr>
          </p:sp>
          <p:sp>
            <p:nvSpPr>
              <p:cNvPr id="31" name="Freeform 31"/>
              <p:cNvSpPr/>
              <p:nvPr/>
            </p:nvSpPr>
            <p:spPr>
              <a:xfrm>
                <a:off x="2057400" y="4038600"/>
                <a:ext cx="1981200" cy="304800"/>
              </a:xfrm>
              <a:custGeom>
                <a:avLst/>
                <a:gdLst/>
                <a:ahLst/>
                <a:cxnLst/>
                <a:rect l="l" t="t" r="r" b="b"/>
                <a:pathLst>
                  <a:path w="1981200" h="304800">
                    <a:moveTo>
                      <a:pt x="57150" y="0"/>
                    </a:moveTo>
                    <a:lnTo>
                      <a:pt x="1924050" y="0"/>
                    </a:lnTo>
                    <a:cubicBezTo>
                      <a:pt x="1955613" y="0"/>
                      <a:pt x="1981200" y="25587"/>
                      <a:pt x="1981200" y="57150"/>
                    </a:cubicBezTo>
                    <a:lnTo>
                      <a:pt x="1981200" y="247650"/>
                    </a:lnTo>
                    <a:cubicBezTo>
                      <a:pt x="1981200" y="279213"/>
                      <a:pt x="1955613" y="304800"/>
                      <a:pt x="1924050" y="304800"/>
                    </a:cubicBezTo>
                    <a:lnTo>
                      <a:pt x="57150" y="304800"/>
                    </a:lnTo>
                    <a:cubicBezTo>
                      <a:pt x="25587" y="304800"/>
                      <a:pt x="0" y="279213"/>
                      <a:pt x="0" y="247650"/>
                    </a:cubicBezTo>
                    <a:lnTo>
                      <a:pt x="0" y="57150"/>
                    </a:lnTo>
                    <a:cubicBezTo>
                      <a:pt x="0" y="25587"/>
                      <a:pt x="25587" y="0"/>
                      <a:pt x="57150" y="0"/>
                    </a:cubicBezTo>
                    <a:close/>
                  </a:path>
                </a:pathLst>
              </a:custGeom>
              <a:solidFill>
                <a:srgbClr val="17A673"/>
              </a:solidFill>
              <a:ln>
                <a:noFill/>
              </a:ln>
            </p:spPr>
          </p:sp>
          <p:sp>
            <p:nvSpPr>
              <p:cNvPr id="32" name="TextBox 32"/>
              <p:cNvSpPr txBox="1"/>
              <p:nvPr/>
            </p:nvSpPr>
            <p:spPr>
              <a:xfrm>
                <a:off x="4156710" y="4128135"/>
                <a:ext cx="334118" cy="243840"/>
              </a:xfrm>
              <a:prstGeom prst="rect">
                <a:avLst/>
              </a:prstGeom>
              <a:noFill/>
              <a:ln>
                <a:noFill/>
              </a:ln>
            </p:spPr>
            <p:txBody>
              <a:bodyPr wrap="none" lIns="0" tIns="0" rIns="0" bIns="0" anchor="t" anchorCtr="0">
                <a:spAutoFit/>
              </a:bodyPr>
              <a:lstStyle/>
              <a:p>
                <a:pPr algn="l"/>
                <a:r>
                  <a:rPr lang="zh-CN" sz="1200" b="1" dirty="0">
                    <a:solidFill>
                      <a:srgbClr val="12304A"/>
                    </a:solidFill>
                    <a:latin typeface="Arial"/>
                    <a:ea typeface="Microsoft YaHei"/>
                    <a:cs typeface="Arial"/>
                  </a:rPr>
                  <a:t>40%</a:t>
                </a:r>
              </a:p>
            </p:txBody>
          </p:sp>
          <p:sp>
            <p:nvSpPr>
              <p:cNvPr id="33" name="TextBox 33"/>
              <p:cNvSpPr txBox="1"/>
              <p:nvPr/>
            </p:nvSpPr>
            <p:spPr>
              <a:xfrm>
                <a:off x="6015609" y="4144328"/>
                <a:ext cx="1008126" cy="213360"/>
              </a:xfrm>
              <a:prstGeom prst="rect">
                <a:avLst/>
              </a:prstGeom>
              <a:noFill/>
              <a:ln>
                <a:noFill/>
              </a:ln>
            </p:spPr>
            <p:txBody>
              <a:bodyPr wrap="none" lIns="0" tIns="0" rIns="0" bIns="0" anchor="t" anchorCtr="0">
                <a:spAutoFit/>
              </a:bodyPr>
              <a:lstStyle/>
              <a:p>
                <a:pPr algn="r"/>
                <a:r>
                  <a:rPr lang="zh-CN" sz="1050" dirty="0">
                    <a:solidFill>
                      <a:srgbClr val="5E6B75"/>
                    </a:solidFill>
                    <a:latin typeface="Calibri"/>
                    <a:ea typeface="Microsoft YaHei"/>
                    <a:cs typeface="Calibri"/>
                  </a:rPr>
                  <a:t>1,280 / 3,200</a:t>
                </a:r>
              </a:p>
            </p:txBody>
          </p:sp>
        </p:grpSp>
        <p:grpSp>
          <p:nvGrpSpPr>
            <p:cNvPr id="40" name="Group 40"/>
            <p:cNvGrpSpPr/>
            <p:nvPr/>
          </p:nvGrpSpPr>
          <p:grpSpPr>
            <a:xfrm>
              <a:off x="783908" y="4648200"/>
              <a:ext cx="6239827" cy="340519"/>
              <a:chOff x="783908" y="4648200"/>
              <a:chExt cx="6239827" cy="340519"/>
            </a:xfrm>
          </p:grpSpPr>
          <p:sp>
            <p:nvSpPr>
              <p:cNvPr id="35" name="TextBox 35"/>
              <p:cNvSpPr txBox="1"/>
              <p:nvPr/>
            </p:nvSpPr>
            <p:spPr>
              <a:xfrm>
                <a:off x="783908" y="4729639"/>
                <a:ext cx="462539" cy="259080"/>
              </a:xfrm>
              <a:prstGeom prst="rect">
                <a:avLst/>
              </a:prstGeom>
              <a:noFill/>
              <a:ln>
                <a:noFill/>
              </a:ln>
            </p:spPr>
            <p:txBody>
              <a:bodyPr wrap="none" lIns="0" tIns="0" rIns="0" bIns="0" anchor="t" anchorCtr="0">
                <a:spAutoFit/>
              </a:bodyPr>
              <a:lstStyle/>
              <a:p>
                <a:pPr algn="l"/>
                <a:r>
                  <a:rPr lang="zh-CN" sz="1275" b="1" dirty="0">
                    <a:solidFill>
                      <a:srgbClr val="17212B"/>
                    </a:solidFill>
                    <a:latin typeface="Arial"/>
                    <a:ea typeface="Microsoft YaHei"/>
                    <a:cs typeface="Arial"/>
                  </a:rPr>
                  <a:t>Peak</a:t>
                </a:r>
              </a:p>
            </p:txBody>
          </p:sp>
          <p:sp>
            <p:nvSpPr>
              <p:cNvPr id="36" name="Freeform 36"/>
              <p:cNvSpPr/>
              <p:nvPr/>
            </p:nvSpPr>
            <p:spPr>
              <a:xfrm>
                <a:off x="2057400" y="4648200"/>
                <a:ext cx="4953000" cy="304800"/>
              </a:xfrm>
              <a:custGeom>
                <a:avLst/>
                <a:gdLst/>
                <a:ahLst/>
                <a:cxnLst/>
                <a:rect l="l" t="t" r="r" b="b"/>
                <a:pathLst>
                  <a:path w="4953000" h="304800">
                    <a:moveTo>
                      <a:pt x="57150" y="0"/>
                    </a:moveTo>
                    <a:lnTo>
                      <a:pt x="4895850" y="0"/>
                    </a:lnTo>
                    <a:cubicBezTo>
                      <a:pt x="4927413" y="0"/>
                      <a:pt x="4953000" y="25587"/>
                      <a:pt x="4953000" y="57150"/>
                    </a:cubicBezTo>
                    <a:lnTo>
                      <a:pt x="4953000" y="247650"/>
                    </a:lnTo>
                    <a:cubicBezTo>
                      <a:pt x="4953000" y="279213"/>
                      <a:pt x="4927413" y="304800"/>
                      <a:pt x="4895850" y="304800"/>
                    </a:cubicBezTo>
                    <a:lnTo>
                      <a:pt x="57150" y="304800"/>
                    </a:lnTo>
                    <a:cubicBezTo>
                      <a:pt x="25587" y="304800"/>
                      <a:pt x="0" y="279213"/>
                      <a:pt x="0" y="247650"/>
                    </a:cubicBezTo>
                    <a:lnTo>
                      <a:pt x="0" y="57150"/>
                    </a:lnTo>
                    <a:cubicBezTo>
                      <a:pt x="0" y="25587"/>
                      <a:pt x="25587" y="0"/>
                      <a:pt x="57150" y="0"/>
                    </a:cubicBezTo>
                    <a:close/>
                  </a:path>
                </a:pathLst>
              </a:custGeom>
              <a:solidFill>
                <a:srgbClr val="EAF0ED"/>
              </a:solidFill>
              <a:ln>
                <a:noFill/>
              </a:ln>
            </p:spPr>
          </p:sp>
          <p:sp>
            <p:nvSpPr>
              <p:cNvPr id="37" name="Freeform 37"/>
              <p:cNvSpPr/>
              <p:nvPr/>
            </p:nvSpPr>
            <p:spPr>
              <a:xfrm>
                <a:off x="2057400" y="4648200"/>
                <a:ext cx="3962400" cy="304800"/>
              </a:xfrm>
              <a:custGeom>
                <a:avLst/>
                <a:gdLst/>
                <a:ahLst/>
                <a:cxnLst/>
                <a:rect l="l" t="t" r="r" b="b"/>
                <a:pathLst>
                  <a:path w="3962400" h="304800">
                    <a:moveTo>
                      <a:pt x="57150" y="0"/>
                    </a:moveTo>
                    <a:lnTo>
                      <a:pt x="3905250" y="0"/>
                    </a:lnTo>
                    <a:cubicBezTo>
                      <a:pt x="3936813" y="0"/>
                      <a:pt x="3962400" y="25587"/>
                      <a:pt x="3962400" y="57150"/>
                    </a:cubicBezTo>
                    <a:lnTo>
                      <a:pt x="3962400" y="247650"/>
                    </a:lnTo>
                    <a:cubicBezTo>
                      <a:pt x="3962400" y="279213"/>
                      <a:pt x="3936813" y="304800"/>
                      <a:pt x="3905250" y="304800"/>
                    </a:cubicBezTo>
                    <a:lnTo>
                      <a:pt x="57150" y="304800"/>
                    </a:lnTo>
                    <a:cubicBezTo>
                      <a:pt x="25587" y="304800"/>
                      <a:pt x="0" y="279213"/>
                      <a:pt x="0" y="247650"/>
                    </a:cubicBezTo>
                    <a:lnTo>
                      <a:pt x="0" y="57150"/>
                    </a:lnTo>
                    <a:cubicBezTo>
                      <a:pt x="0" y="25587"/>
                      <a:pt x="25587" y="0"/>
                      <a:pt x="57150" y="0"/>
                    </a:cubicBezTo>
                    <a:close/>
                  </a:path>
                </a:pathLst>
              </a:custGeom>
              <a:solidFill>
                <a:srgbClr val="12304A"/>
              </a:solidFill>
              <a:ln>
                <a:noFill/>
              </a:ln>
            </p:spPr>
          </p:sp>
          <p:sp>
            <p:nvSpPr>
              <p:cNvPr id="38" name="TextBox 38"/>
              <p:cNvSpPr txBox="1"/>
              <p:nvPr/>
            </p:nvSpPr>
            <p:spPr>
              <a:xfrm>
                <a:off x="5699760" y="4737735"/>
                <a:ext cx="334118"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80%</a:t>
                </a:r>
              </a:p>
            </p:txBody>
          </p:sp>
          <p:sp>
            <p:nvSpPr>
              <p:cNvPr id="39" name="TextBox 39"/>
              <p:cNvSpPr txBox="1"/>
              <p:nvPr/>
            </p:nvSpPr>
            <p:spPr>
              <a:xfrm>
                <a:off x="6053947" y="4753928"/>
                <a:ext cx="969788" cy="213360"/>
              </a:xfrm>
              <a:prstGeom prst="rect">
                <a:avLst/>
              </a:prstGeom>
              <a:noFill/>
              <a:ln>
                <a:noFill/>
              </a:ln>
            </p:spPr>
            <p:txBody>
              <a:bodyPr wrap="none" lIns="0" tIns="0" rIns="0" bIns="0" anchor="t" anchorCtr="0">
                <a:spAutoFit/>
              </a:bodyPr>
              <a:lstStyle/>
              <a:p>
                <a:pPr algn="r"/>
                <a:r>
                  <a:rPr lang="zh-CN" sz="1050" dirty="0">
                    <a:solidFill>
                      <a:srgbClr val="5E6B75"/>
                    </a:solidFill>
                    <a:latin typeface="Calibri"/>
                    <a:ea typeface="Microsoft YaHei"/>
                    <a:cs typeface="Calibri"/>
                  </a:rPr>
                  <a:t>1,040 / 1,280</a:t>
                </a:r>
              </a:p>
            </p:txBody>
          </p:sp>
        </p:grpSp>
        <p:sp>
          <p:nvSpPr>
            <p:cNvPr id="41" name="Line 41"/>
            <p:cNvSpPr/>
            <p:nvPr/>
          </p:nvSpPr>
          <p:spPr>
            <a:xfrm>
              <a:off x="800100" y="5219700"/>
              <a:ext cx="6705600" cy="9525"/>
            </a:xfrm>
            <a:custGeom>
              <a:avLst/>
              <a:gdLst/>
              <a:ahLst/>
              <a:cxnLst/>
              <a:rect l="l" t="t" r="r" b="b"/>
              <a:pathLst>
                <a:path w="6705600" h="9525">
                  <a:moveTo>
                    <a:pt x="0" y="0"/>
                  </a:moveTo>
                  <a:lnTo>
                    <a:pt x="6705600" y="0"/>
                  </a:lnTo>
                </a:path>
              </a:pathLst>
            </a:custGeom>
            <a:noFill/>
            <a:ln w="9525">
              <a:solidFill>
                <a:srgbClr val="CED8D3"/>
              </a:solidFill>
            </a:ln>
          </p:spPr>
        </p:sp>
        <p:sp>
          <p:nvSpPr>
            <p:cNvPr id="42" name="TextBox 42"/>
            <p:cNvSpPr txBox="1"/>
            <p:nvPr/>
          </p:nvSpPr>
          <p:spPr>
            <a:xfrm>
              <a:off x="784860" y="5394960"/>
              <a:ext cx="5449957" cy="243840"/>
            </a:xfrm>
            <a:prstGeom prst="rect">
              <a:avLst/>
            </a:prstGeom>
            <a:noFill/>
            <a:ln>
              <a:noFill/>
            </a:ln>
          </p:spPr>
          <p:txBody>
            <a:bodyPr wrap="none" lIns="0" tIns="0" rIns="0" bIns="0" anchor="t" anchorCtr="0">
              <a:spAutoFit/>
            </a:bodyPr>
            <a:lstStyle/>
            <a:p>
              <a:pPr algn="l"/>
              <a:r>
                <a:rPr lang="zh-CN" sz="1200" b="1" dirty="0">
                  <a:solidFill>
                    <a:srgbClr val="17A673"/>
                  </a:solidFill>
                  <a:latin typeface="Arial"/>
                  <a:ea typeface="Microsoft YaHei"/>
                  <a:cs typeface="Arial"/>
                </a:rPr>
                <a:t>The addressable pool is concentrated in off-peak inventory.</a:t>
              </a:r>
            </a:p>
          </p:txBody>
        </p:sp>
        <p:sp>
          <p:nvSpPr>
            <p:cNvPr id="43" name="TextBox 43"/>
            <p:cNvSpPr txBox="1"/>
            <p:nvPr/>
          </p:nvSpPr>
          <p:spPr>
            <a:xfrm>
              <a:off x="785812" y="5631656"/>
              <a:ext cx="4727734" cy="228600"/>
            </a:xfrm>
            <a:prstGeom prst="rect">
              <a:avLst/>
            </a:prstGeom>
            <a:noFill/>
            <a:ln>
              <a:noFill/>
            </a:ln>
          </p:spPr>
          <p:txBody>
            <a:bodyPr wrap="none" lIns="0" tIns="0" rIns="0" bIns="0" anchor="t" anchorCtr="0">
              <a:spAutoFit/>
            </a:bodyPr>
            <a:lstStyle/>
            <a:p>
              <a:pPr algn="l"/>
              <a:r>
                <a:rPr lang="zh-CN" sz="1125" dirty="0">
                  <a:solidFill>
                    <a:srgbClr val="5E6B75"/>
                  </a:solidFill>
                  <a:latin typeface="Calibri"/>
                  <a:ea typeface="Microsoft YaHei"/>
                  <a:cs typeface="Calibri"/>
                </a:rPr>
                <a:t>Shift flexible demand here before adding broad incentives.</a:t>
              </a:r>
            </a:p>
          </p:txBody>
        </p:sp>
      </p:grpSp>
      <p:grpSp>
        <p:nvGrpSpPr>
          <p:cNvPr id="55" name="Group 55"/>
          <p:cNvGrpSpPr/>
          <p:nvPr/>
        </p:nvGrpSpPr>
        <p:grpSpPr>
          <a:xfrm>
            <a:off x="8039100" y="3143250"/>
            <a:ext cx="3835765" cy="2781300"/>
            <a:chOff x="8039100" y="3143250"/>
            <a:chExt cx="3835765" cy="2781300"/>
          </a:xfrm>
        </p:grpSpPr>
        <p:sp>
          <p:nvSpPr>
            <p:cNvPr id="45" name="Freeform 45"/>
            <p:cNvSpPr/>
            <p:nvPr/>
          </p:nvSpPr>
          <p:spPr>
            <a:xfrm>
              <a:off x="8039100" y="3143250"/>
              <a:ext cx="3619500" cy="2781300"/>
            </a:xfrm>
            <a:custGeom>
              <a:avLst/>
              <a:gdLst/>
              <a:ahLst/>
              <a:cxnLst/>
              <a:rect l="l" t="t" r="r" b="b"/>
              <a:pathLst>
                <a:path w="3619500" h="2781300">
                  <a:moveTo>
                    <a:pt x="133350" y="0"/>
                  </a:moveTo>
                  <a:lnTo>
                    <a:pt x="3486150" y="0"/>
                  </a:lnTo>
                  <a:cubicBezTo>
                    <a:pt x="3559797" y="0"/>
                    <a:pt x="3619500" y="59703"/>
                    <a:pt x="3619500" y="133350"/>
                  </a:cubicBezTo>
                  <a:lnTo>
                    <a:pt x="3619500" y="2647950"/>
                  </a:lnTo>
                  <a:cubicBezTo>
                    <a:pt x="3619500" y="2721597"/>
                    <a:pt x="3559797" y="2781300"/>
                    <a:pt x="3486150" y="2781300"/>
                  </a:cubicBezTo>
                  <a:lnTo>
                    <a:pt x="133350" y="2781300"/>
                  </a:lnTo>
                  <a:cubicBezTo>
                    <a:pt x="59703" y="2781300"/>
                    <a:pt x="0" y="2721597"/>
                    <a:pt x="0" y="2647950"/>
                  </a:cubicBezTo>
                  <a:lnTo>
                    <a:pt x="0" y="133350"/>
                  </a:lnTo>
                  <a:cubicBezTo>
                    <a:pt x="0" y="59703"/>
                    <a:pt x="59703" y="0"/>
                    <a:pt x="133350" y="0"/>
                  </a:cubicBezTo>
                  <a:close/>
                </a:path>
              </a:pathLst>
            </a:custGeom>
            <a:solidFill>
              <a:srgbClr val="12304A"/>
            </a:solidFill>
            <a:ln>
              <a:noFill/>
            </a:ln>
          </p:spPr>
        </p:sp>
        <p:sp>
          <p:nvSpPr>
            <p:cNvPr id="46" name="Freeform 46"/>
            <p:cNvSpPr/>
            <p:nvPr/>
          </p:nvSpPr>
          <p:spPr>
            <a:xfrm>
              <a:off x="8370094" y="3486150"/>
              <a:ext cx="366712" cy="419100"/>
            </a:xfrm>
            <a:custGeom>
              <a:avLst/>
              <a:gdLst/>
              <a:ahLst/>
              <a:cxnLst/>
              <a:rect l="l" t="t" r="r" b="b"/>
              <a:pathLst>
                <a:path w="366712" h="419100">
                  <a:moveTo>
                    <a:pt x="183356" y="419100"/>
                  </a:moveTo>
                  <a:lnTo>
                    <a:pt x="87751" y="350810"/>
                  </a:lnTo>
                  <a:cubicBezTo>
                    <a:pt x="32683" y="311475"/>
                    <a:pt x="0" y="247968"/>
                    <a:pt x="0" y="180293"/>
                  </a:cubicBezTo>
                  <a:lnTo>
                    <a:pt x="0" y="78581"/>
                  </a:lnTo>
                  <a:lnTo>
                    <a:pt x="183356" y="0"/>
                  </a:lnTo>
                  <a:lnTo>
                    <a:pt x="366712" y="78581"/>
                  </a:lnTo>
                  <a:lnTo>
                    <a:pt x="366712" y="180293"/>
                  </a:lnTo>
                  <a:cubicBezTo>
                    <a:pt x="366712" y="247968"/>
                    <a:pt x="334031" y="311475"/>
                    <a:pt x="278961" y="350810"/>
                  </a:cubicBezTo>
                  <a:lnTo>
                    <a:pt x="183356" y="419100"/>
                  </a:lnTo>
                  <a:close/>
                  <a:moveTo>
                    <a:pt x="293556" y="149491"/>
                  </a:moveTo>
                  <a:lnTo>
                    <a:pt x="256513" y="112447"/>
                  </a:lnTo>
                  <a:lnTo>
                    <a:pt x="157162" y="211797"/>
                  </a:lnTo>
                  <a:lnTo>
                    <a:pt x="110200" y="164834"/>
                  </a:lnTo>
                  <a:lnTo>
                    <a:pt x="73156" y="201878"/>
                  </a:lnTo>
                  <a:lnTo>
                    <a:pt x="157162" y="285884"/>
                  </a:lnTo>
                  <a:lnTo>
                    <a:pt x="293556" y="149491"/>
                  </a:lnTo>
                  <a:close/>
                </a:path>
              </a:pathLst>
            </a:custGeom>
            <a:solidFill>
              <a:srgbClr val="B7E43C"/>
            </a:solidFill>
            <a:ln>
              <a:noFill/>
            </a:ln>
          </p:spPr>
        </p:sp>
        <p:sp>
          <p:nvSpPr>
            <p:cNvPr id="47" name="TextBox 47"/>
            <p:cNvSpPr txBox="1"/>
            <p:nvPr/>
          </p:nvSpPr>
          <p:spPr>
            <a:xfrm>
              <a:off x="8915400" y="3495675"/>
              <a:ext cx="2959465"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Protect full-price demand</a:t>
              </a:r>
            </a:p>
          </p:txBody>
        </p:sp>
        <p:sp>
          <p:nvSpPr>
            <p:cNvPr id="48" name="TextBox 48"/>
            <p:cNvSpPr txBox="1"/>
            <p:nvPr/>
          </p:nvSpPr>
          <p:spPr>
            <a:xfrm>
              <a:off x="8292465" y="3849052"/>
              <a:ext cx="972379" cy="822960"/>
            </a:xfrm>
            <a:prstGeom prst="rect">
              <a:avLst/>
            </a:prstGeom>
            <a:noFill/>
            <a:ln>
              <a:noFill/>
            </a:ln>
          </p:spPr>
          <p:txBody>
            <a:bodyPr wrap="none" lIns="0" tIns="0" rIns="0" bIns="0" anchor="t" anchorCtr="0">
              <a:spAutoFit/>
            </a:bodyPr>
            <a:lstStyle/>
            <a:p>
              <a:pPr algn="l"/>
              <a:r>
                <a:rPr lang="zh-CN" sz="4050" b="1" dirty="0">
                  <a:solidFill>
                    <a:srgbClr val="B7E43C"/>
                  </a:solidFill>
                  <a:latin typeface="Arial"/>
                  <a:ea typeface="Microsoft YaHei"/>
                  <a:cs typeface="Arial"/>
                </a:rPr>
                <a:t>100</a:t>
              </a:r>
            </a:p>
          </p:txBody>
        </p:sp>
        <p:sp>
          <p:nvSpPr>
            <p:cNvPr id="49" name="TextBox 49"/>
            <p:cNvSpPr txBox="1"/>
            <p:nvPr/>
          </p:nvSpPr>
          <p:spPr>
            <a:xfrm>
              <a:off x="9246870" y="4027170"/>
              <a:ext cx="263385" cy="487680"/>
            </a:xfrm>
            <a:prstGeom prst="rect">
              <a:avLst/>
            </a:prstGeom>
            <a:noFill/>
            <a:ln>
              <a:noFill/>
            </a:ln>
          </p:spPr>
          <p:txBody>
            <a:bodyPr wrap="none" lIns="0" tIns="0" rIns="0" bIns="0" anchor="t" anchorCtr="0">
              <a:spAutoFit/>
            </a:bodyPr>
            <a:lstStyle/>
            <a:p>
              <a:pPr algn="l"/>
              <a:r>
                <a:rPr lang="zh-CN" sz="2400" b="1" dirty="0">
                  <a:solidFill>
                    <a:srgbClr val="B7E43C"/>
                  </a:solidFill>
                  <a:latin typeface="Arial"/>
                  <a:ea typeface="Microsoft YaHei"/>
                  <a:cs typeface="Arial"/>
                </a:rPr>
                <a:t>%</a:t>
              </a:r>
            </a:p>
          </p:txBody>
        </p:sp>
        <p:sp>
          <p:nvSpPr>
            <p:cNvPr id="50" name="TextBox 50"/>
            <p:cNvSpPr txBox="1"/>
            <p:nvPr/>
          </p:nvSpPr>
          <p:spPr>
            <a:xfrm>
              <a:off x="8327708" y="4443889"/>
              <a:ext cx="2583513"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Calibri"/>
                  <a:ea typeface="Microsoft YaHei"/>
                  <a:cs typeface="Calibri"/>
                </a:rPr>
                <a:t>weekend demand after 16:00</a:t>
              </a:r>
            </a:p>
          </p:txBody>
        </p:sp>
        <p:sp>
          <p:nvSpPr>
            <p:cNvPr id="51" name="TextBox 51"/>
            <p:cNvSpPr txBox="1"/>
            <p:nvPr/>
          </p:nvSpPr>
          <p:spPr>
            <a:xfrm>
              <a:off x="8327708" y="4882039"/>
              <a:ext cx="2918698" cy="259080"/>
            </a:xfrm>
            <a:prstGeom prst="rect">
              <a:avLst/>
            </a:prstGeom>
            <a:noFill/>
            <a:ln>
              <a:noFill/>
            </a:ln>
          </p:spPr>
          <p:txBody>
            <a:bodyPr wrap="none" lIns="0" tIns="0" rIns="0" bIns="0" anchor="t" anchorCtr="0">
              <a:spAutoFit/>
            </a:bodyPr>
            <a:lstStyle/>
            <a:p>
              <a:pPr algn="l"/>
              <a:r>
                <a:rPr lang="zh-CN" sz="1275" dirty="0">
                  <a:solidFill>
                    <a:srgbClr val="DCE6E1"/>
                  </a:solidFill>
                  <a:latin typeface="Calibri"/>
                  <a:ea typeface="Microsoft YaHei"/>
                  <a:cs typeface="Calibri"/>
                </a:rPr>
                <a:t>Discounting these periods would</a:t>
              </a:r>
            </a:p>
          </p:txBody>
        </p:sp>
        <p:sp>
          <p:nvSpPr>
            <p:cNvPr id="52" name="TextBox 52"/>
            <p:cNvSpPr txBox="1"/>
            <p:nvPr/>
          </p:nvSpPr>
          <p:spPr>
            <a:xfrm>
              <a:off x="8327708" y="5120164"/>
              <a:ext cx="3123533" cy="259080"/>
            </a:xfrm>
            <a:prstGeom prst="rect">
              <a:avLst/>
            </a:prstGeom>
            <a:noFill/>
            <a:ln>
              <a:noFill/>
            </a:ln>
          </p:spPr>
          <p:txBody>
            <a:bodyPr wrap="none" lIns="0" tIns="0" rIns="0" bIns="0" anchor="t" anchorCtr="0">
              <a:spAutoFit/>
            </a:bodyPr>
            <a:lstStyle/>
            <a:p>
              <a:pPr algn="l"/>
              <a:r>
                <a:rPr lang="zh-CN" sz="1275" dirty="0">
                  <a:solidFill>
                    <a:srgbClr val="DCE6E1"/>
                  </a:solidFill>
                  <a:latin typeface="Calibri"/>
                  <a:ea typeface="Microsoft YaHei"/>
                  <a:cs typeface="Calibri"/>
                </a:rPr>
                <a:t>give away revenue, not create it.</a:t>
              </a:r>
            </a:p>
          </p:txBody>
        </p:sp>
        <p:sp>
          <p:nvSpPr>
            <p:cNvPr id="53" name="Freeform 53"/>
            <p:cNvSpPr/>
            <p:nvPr/>
          </p:nvSpPr>
          <p:spPr>
            <a:xfrm>
              <a:off x="8343900" y="5467350"/>
              <a:ext cx="3009900" cy="285750"/>
            </a:xfrm>
            <a:custGeom>
              <a:avLst/>
              <a:gdLst/>
              <a:ahLst/>
              <a:cxnLst/>
              <a:rect l="l" t="t" r="r" b="b"/>
              <a:pathLst>
                <a:path w="3009900" h="285750">
                  <a:moveTo>
                    <a:pt x="142875" y="0"/>
                  </a:moveTo>
                  <a:lnTo>
                    <a:pt x="2867025" y="0"/>
                  </a:lnTo>
                  <a:cubicBezTo>
                    <a:pt x="2945933" y="0"/>
                    <a:pt x="3009900" y="63967"/>
                    <a:pt x="3009900" y="142875"/>
                  </a:cubicBezTo>
                  <a:lnTo>
                    <a:pt x="3009900" y="142875"/>
                  </a:lnTo>
                  <a:cubicBezTo>
                    <a:pt x="3009900" y="221783"/>
                    <a:pt x="2945933" y="285750"/>
                    <a:pt x="2867025" y="285750"/>
                  </a:cubicBezTo>
                  <a:lnTo>
                    <a:pt x="142875" y="285750"/>
                  </a:lnTo>
                  <a:cubicBezTo>
                    <a:pt x="63967" y="285750"/>
                    <a:pt x="0" y="221783"/>
                    <a:pt x="0" y="142875"/>
                  </a:cubicBezTo>
                  <a:lnTo>
                    <a:pt x="0" y="142875"/>
                  </a:lnTo>
                  <a:cubicBezTo>
                    <a:pt x="0" y="63967"/>
                    <a:pt x="63967" y="0"/>
                    <a:pt x="142875" y="0"/>
                  </a:cubicBezTo>
                  <a:close/>
                </a:path>
              </a:pathLst>
            </a:custGeom>
            <a:solidFill>
              <a:srgbClr val="FFFFFF">
                <a:alpha val="10000"/>
              </a:srgbClr>
            </a:solidFill>
            <a:ln>
              <a:noFill/>
            </a:ln>
          </p:spPr>
        </p:sp>
        <p:sp>
          <p:nvSpPr>
            <p:cNvPr id="54" name="TextBox 54"/>
            <p:cNvSpPr txBox="1"/>
            <p:nvPr/>
          </p:nvSpPr>
          <p:spPr>
            <a:xfrm>
              <a:off x="8241416" y="5554028"/>
              <a:ext cx="3214868"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Optimize contribution, not raw bookings</a:t>
              </a:r>
            </a:p>
          </p:txBody>
        </p:sp>
      </p:grpSp>
      <p:grpSp>
        <p:nvGrpSpPr>
          <p:cNvPr id="58" name="Group 58"/>
          <p:cNvGrpSpPr/>
          <p:nvPr/>
        </p:nvGrpSpPr>
        <p:grpSpPr>
          <a:xfrm>
            <a:off x="522922" y="6483191"/>
            <a:ext cx="11146155" cy="167640"/>
            <a:chOff x="522922" y="6483191"/>
            <a:chExt cx="11146155" cy="167640"/>
          </a:xfrm>
        </p:grpSpPr>
        <p:sp>
          <p:nvSpPr>
            <p:cNvPr id="56" name="TextBox 56"/>
            <p:cNvSpPr txBox="1"/>
            <p:nvPr/>
          </p:nvSpPr>
          <p:spPr>
            <a:xfrm>
              <a:off x="522922" y="6483191"/>
              <a:ext cx="4093559" cy="167640"/>
            </a:xfrm>
            <a:prstGeom prst="rect">
              <a:avLst/>
            </a:prstGeom>
            <a:noFill/>
            <a:ln>
              <a:noFill/>
            </a:ln>
          </p:spPr>
          <p:txBody>
            <a:bodyPr wrap="none" lIns="0" tIns="0" rIns="0" bIns="0" anchor="t" anchorCtr="0">
              <a:spAutoFit/>
            </a:bodyPr>
            <a:lstStyle/>
            <a:p>
              <a:pPr algn="l"/>
              <a:r>
                <a:rPr lang="zh-CN" sz="825" dirty="0">
                  <a:solidFill>
                    <a:srgbClr val="89949C"/>
                  </a:solidFill>
                  <a:latin typeface="Calibri"/>
                  <a:ea typeface="Microsoft YaHei"/>
                  <a:cs typeface="Calibri"/>
                </a:rPr>
                <a:t>Source: synthetic four-week occupancy baseline in prototype outline</a:t>
              </a:r>
            </a:p>
          </p:txBody>
        </p:sp>
        <p:sp>
          <p:nvSpPr>
            <p:cNvPr id="57" name="TextBox 57"/>
            <p:cNvSpPr txBox="1"/>
            <p:nvPr/>
          </p:nvSpPr>
          <p:spPr>
            <a:xfrm>
              <a:off x="11515582" y="6483191"/>
              <a:ext cx="153495" cy="167640"/>
            </a:xfrm>
            <a:prstGeom prst="rect">
              <a:avLst/>
            </a:prstGeom>
            <a:noFill/>
            <a:ln>
              <a:noFill/>
            </a:ln>
          </p:spPr>
          <p:txBody>
            <a:bodyPr wrap="none" lIns="0" tIns="0" rIns="0" bIns="0" anchor="t" anchorCtr="0">
              <a:spAutoFit/>
            </a:bodyPr>
            <a:lstStyle/>
            <a:p>
              <a:pPr algn="r"/>
              <a:r>
                <a:rPr lang="zh-CN" sz="825" dirty="0">
                  <a:solidFill>
                    <a:srgbClr val="89949C"/>
                  </a:solidFill>
                  <a:latin typeface="Arial"/>
                  <a:ea typeface="Microsoft YaHei"/>
                  <a:cs typeface="Arial"/>
                </a:rPr>
                <a:t>04</a:t>
              </a:r>
            </a:p>
          </p:txBody>
        </p:sp>
      </p:grpSp>
    </p:spTree>
  </p:cSld>
  <p:clrMapOvr>
    <a:masterClrMapping/>
  </p:clrMapOvr>
  <p:transition 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8F7"/>
          </a:solidFill>
          <a:ln>
            <a:noFill/>
          </a:ln>
        </p:spPr>
      </p:sp>
      <p:sp>
        <p:nvSpPr>
          <p:cNvPr id="3" name="Rectangle 3"/>
          <p:cNvSpPr/>
          <p:nvPr/>
        </p:nvSpPr>
        <p:spPr>
          <a:xfrm>
            <a:off x="0" y="0"/>
            <a:ext cx="12192000" cy="66675"/>
          </a:xfrm>
          <a:prstGeom prst="rect">
            <a:avLst/>
          </a:prstGeom>
          <a:solidFill>
            <a:srgbClr val="17A673"/>
          </a:solidFill>
          <a:ln>
            <a:noFill/>
          </a:ln>
        </p:spPr>
      </p:sp>
      <p:grpSp>
        <p:nvGrpSpPr>
          <p:cNvPr id="7" name="Group 7"/>
          <p:cNvGrpSpPr/>
          <p:nvPr/>
        </p:nvGrpSpPr>
        <p:grpSpPr>
          <a:xfrm>
            <a:off x="501015" y="248602"/>
            <a:ext cx="11157585" cy="894398"/>
            <a:chOff x="501015" y="248602"/>
            <a:chExt cx="11157585" cy="894398"/>
          </a:xfrm>
        </p:grpSpPr>
        <p:sp>
          <p:nvSpPr>
            <p:cNvPr id="4" name="TextBox 4"/>
            <p:cNvSpPr txBox="1"/>
            <p:nvPr/>
          </p:nvSpPr>
          <p:spPr>
            <a:xfrm>
              <a:off x="501015" y="248602"/>
              <a:ext cx="8746055" cy="518160"/>
            </a:xfrm>
            <a:prstGeom prst="rect">
              <a:avLst/>
            </a:prstGeom>
            <a:noFill/>
            <a:ln>
              <a:noFill/>
            </a:ln>
          </p:spPr>
          <p:txBody>
            <a:bodyPr wrap="none" lIns="0" tIns="0" rIns="0" bIns="0" anchor="t" anchorCtr="0">
              <a:spAutoFit/>
            </a:bodyPr>
            <a:lstStyle/>
            <a:p>
              <a:pPr algn="l"/>
              <a:r>
                <a:rPr lang="zh-CN" sz="2550" b="1" dirty="0">
                  <a:solidFill>
                    <a:srgbClr val="12304A"/>
                  </a:solidFill>
                  <a:latin typeface="Arial"/>
                  <a:ea typeface="Microsoft YaHei"/>
                  <a:cs typeface="Arial"/>
                </a:rPr>
                <a:t>Flexibility Exists When the Trade-Off Is Clear</a:t>
              </a:r>
            </a:p>
          </p:txBody>
        </p:sp>
        <p:sp>
          <p:nvSpPr>
            <p:cNvPr id="5" name="Freeform 5"/>
            <p:cNvSpPr/>
            <p:nvPr/>
          </p:nvSpPr>
          <p:spPr>
            <a:xfrm>
              <a:off x="533400" y="723900"/>
              <a:ext cx="11125200" cy="419100"/>
            </a:xfrm>
            <a:custGeom>
              <a:avLst/>
              <a:gdLst/>
              <a:ahLst/>
              <a:cxnLst/>
              <a:rect l="l" t="t" r="r" b="b"/>
              <a:pathLst>
                <a:path w="11125200" h="419100">
                  <a:moveTo>
                    <a:pt x="66675" y="0"/>
                  </a:moveTo>
                  <a:lnTo>
                    <a:pt x="11058525" y="0"/>
                  </a:lnTo>
                  <a:cubicBezTo>
                    <a:pt x="11095349" y="0"/>
                    <a:pt x="11125200" y="29851"/>
                    <a:pt x="11125200" y="66675"/>
                  </a:cubicBezTo>
                  <a:lnTo>
                    <a:pt x="11125200" y="352425"/>
                  </a:lnTo>
                  <a:cubicBezTo>
                    <a:pt x="11125200" y="389249"/>
                    <a:pt x="11095349" y="419100"/>
                    <a:pt x="11058525" y="419100"/>
                  </a:cubicBezTo>
                  <a:lnTo>
                    <a:pt x="66675" y="419100"/>
                  </a:lnTo>
                  <a:cubicBezTo>
                    <a:pt x="29851" y="419100"/>
                    <a:pt x="0" y="389249"/>
                    <a:pt x="0" y="352425"/>
                  </a:cubicBezTo>
                  <a:lnTo>
                    <a:pt x="0" y="66675"/>
                  </a:lnTo>
                  <a:cubicBezTo>
                    <a:pt x="0" y="29851"/>
                    <a:pt x="29851" y="0"/>
                    <a:pt x="66675" y="0"/>
                  </a:cubicBezTo>
                  <a:close/>
                </a:path>
              </a:pathLst>
            </a:custGeom>
            <a:solidFill>
              <a:srgbClr val="12304A"/>
            </a:solidFill>
            <a:ln>
              <a:noFill/>
            </a:ln>
          </p:spPr>
        </p:sp>
        <p:sp>
          <p:nvSpPr>
            <p:cNvPr id="6" name="TextBox 6"/>
            <p:cNvSpPr txBox="1"/>
            <p:nvPr/>
          </p:nvSpPr>
          <p:spPr>
            <a:xfrm>
              <a:off x="706755" y="844868"/>
              <a:ext cx="10043991"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Calibri"/>
                  <a:ea typeface="Microsoft YaHei"/>
                  <a:cs typeface="Calibri"/>
                </a:rPr>
                <a:t>Players will shift when the alternative is relevant, transparent, and easy to explain to the group.</a:t>
              </a:r>
            </a:p>
          </p:txBody>
        </p:sp>
      </p:grpSp>
      <p:grpSp>
        <p:nvGrpSpPr>
          <p:cNvPr id="30" name="Group 30"/>
          <p:cNvGrpSpPr/>
          <p:nvPr/>
        </p:nvGrpSpPr>
        <p:grpSpPr>
          <a:xfrm>
            <a:off x="99441" y="1428750"/>
            <a:ext cx="4742830" cy="4552950"/>
            <a:chOff x="99441" y="1428750"/>
            <a:chExt cx="4742830" cy="4552950"/>
          </a:xfrm>
          <a:effectLst>
            <a:outerShdw blurRad="152400" dist="38100" dir="10799140" algn="tl" rotWithShape="0">
              <a:srgbClr val="12304A">
                <a:alpha val="12000"/>
              </a:srgbClr>
            </a:outerShdw>
          </a:effectLst>
        </p:grpSpPr>
        <p:sp>
          <p:nvSpPr>
            <p:cNvPr id="8" name="Freeform 8"/>
            <p:cNvSpPr/>
            <p:nvPr/>
          </p:nvSpPr>
          <p:spPr>
            <a:xfrm>
              <a:off x="533400" y="1428750"/>
              <a:ext cx="3333750" cy="4552950"/>
            </a:xfrm>
            <a:custGeom>
              <a:avLst/>
              <a:gdLst/>
              <a:ahLst/>
              <a:cxnLst/>
              <a:rect l="l" t="t" r="r" b="b"/>
              <a:pathLst>
                <a:path w="3333750" h="4552950">
                  <a:moveTo>
                    <a:pt x="152400" y="0"/>
                  </a:moveTo>
                  <a:lnTo>
                    <a:pt x="3181350" y="0"/>
                  </a:lnTo>
                  <a:cubicBezTo>
                    <a:pt x="3265518" y="0"/>
                    <a:pt x="3333750" y="68232"/>
                    <a:pt x="3333750" y="152400"/>
                  </a:cubicBezTo>
                  <a:lnTo>
                    <a:pt x="3333750" y="4400550"/>
                  </a:lnTo>
                  <a:cubicBezTo>
                    <a:pt x="3333750" y="4484718"/>
                    <a:pt x="3265518" y="4552950"/>
                    <a:pt x="3181350" y="4552950"/>
                  </a:cubicBezTo>
                  <a:lnTo>
                    <a:pt x="152400" y="4552950"/>
                  </a:lnTo>
                  <a:cubicBezTo>
                    <a:pt x="68232" y="4552950"/>
                    <a:pt x="0" y="4484718"/>
                    <a:pt x="0" y="4400550"/>
                  </a:cubicBezTo>
                  <a:lnTo>
                    <a:pt x="0" y="152400"/>
                  </a:lnTo>
                  <a:cubicBezTo>
                    <a:pt x="0" y="68232"/>
                    <a:pt x="68232" y="0"/>
                    <a:pt x="152400" y="0"/>
                  </a:cubicBezTo>
                  <a:close/>
                </a:path>
              </a:pathLst>
            </a:custGeom>
            <a:solidFill>
              <a:srgbClr val="FFFFFF"/>
            </a:solidFill>
            <a:ln>
              <a:noFill/>
            </a:ln>
            <a:effectLst>
              <a:outerShdw blurRad="152400" dist="38100" dir="10799140" algn="tl" rotWithShape="0">
                <a:srgbClr val="12304A">
                  <a:alpha val="12000"/>
                </a:srgbClr>
              </a:outerShdw>
            </a:effectLst>
          </p:spPr>
        </p:sp>
        <p:sp>
          <p:nvSpPr>
            <p:cNvPr id="9" name="Ellipse 9"/>
            <p:cNvSpPr/>
            <p:nvPr/>
          </p:nvSpPr>
          <p:spPr>
            <a:xfrm>
              <a:off x="1685925" y="1600200"/>
              <a:ext cx="1028700" cy="1028700"/>
            </a:xfrm>
            <a:prstGeom prst="ellipse">
              <a:avLst/>
            </a:prstGeom>
            <a:solidFill>
              <a:srgbClr val="EAF0ED"/>
            </a:solidFill>
            <a:ln>
              <a:noFill/>
            </a:ln>
            <a:effectLst>
              <a:outerShdw blurRad="152400" dist="38100" dir="10799140" algn="tl" rotWithShape="0">
                <a:srgbClr val="12304A">
                  <a:alpha val="12000"/>
                </a:srgbClr>
              </a:outerShdw>
            </a:effectLst>
          </p:spPr>
        </p:sp>
        <p:grpSp>
          <p:nvGrpSpPr>
            <p:cNvPr id="14" name="Group 14"/>
            <p:cNvGrpSpPr/>
            <p:nvPr/>
          </p:nvGrpSpPr>
          <p:grpSpPr>
            <a:xfrm>
              <a:off x="1857375" y="1814512"/>
              <a:ext cx="685800" cy="600076"/>
              <a:chOff x="1857375" y="1814512"/>
              <a:chExt cx="685800" cy="600076"/>
            </a:xfrm>
          </p:grpSpPr>
          <p:sp>
            <p:nvSpPr>
              <p:cNvPr id="10" name="Freeform 10"/>
              <p:cNvSpPr/>
              <p:nvPr/>
            </p:nvSpPr>
            <p:spPr>
              <a:xfrm>
                <a:off x="1985962" y="1814512"/>
                <a:ext cx="214312" cy="214312"/>
              </a:xfrm>
              <a:custGeom>
                <a:avLst/>
                <a:gdLst/>
                <a:ahLst/>
                <a:cxnLst/>
                <a:rect l="l" t="t" r="r" b="b"/>
                <a:pathLst>
                  <a:path w="214312" h="214312">
                    <a:moveTo>
                      <a:pt x="214312" y="107156"/>
                    </a:moveTo>
                    <a:cubicBezTo>
                      <a:pt x="214312" y="166337"/>
                      <a:pt x="166337" y="214312"/>
                      <a:pt x="107156" y="214312"/>
                    </a:cubicBezTo>
                    <a:cubicBezTo>
                      <a:pt x="47976" y="214312"/>
                      <a:pt x="0" y="166337"/>
                      <a:pt x="0" y="107156"/>
                    </a:cubicBezTo>
                    <a:cubicBezTo>
                      <a:pt x="0" y="47976"/>
                      <a:pt x="47976" y="0"/>
                      <a:pt x="107156" y="0"/>
                    </a:cubicBezTo>
                    <a:cubicBezTo>
                      <a:pt x="166337" y="0"/>
                      <a:pt x="214312" y="47976"/>
                      <a:pt x="214312" y="107156"/>
                    </a:cubicBezTo>
                    <a:close/>
                  </a:path>
                </a:pathLst>
              </a:custGeom>
              <a:solidFill>
                <a:srgbClr val="17A673"/>
              </a:solidFill>
              <a:ln>
                <a:noFill/>
              </a:ln>
              <a:effectLst>
                <a:outerShdw blurRad="152400" dist="38100" dir="10799140" algn="tl" rotWithShape="0">
                  <a:srgbClr val="12304A">
                    <a:alpha val="12000"/>
                  </a:srgbClr>
                </a:outerShdw>
              </a:effectLst>
            </p:spPr>
          </p:sp>
          <p:sp>
            <p:nvSpPr>
              <p:cNvPr id="11" name="Freeform 11"/>
              <p:cNvSpPr/>
              <p:nvPr/>
            </p:nvSpPr>
            <p:spPr>
              <a:xfrm>
                <a:off x="1857375" y="2114550"/>
                <a:ext cx="342900" cy="300038"/>
              </a:xfrm>
              <a:custGeom>
                <a:avLst/>
                <a:gdLst/>
                <a:ahLst/>
                <a:cxnLst/>
                <a:rect l="l" t="t" r="r" b="b"/>
                <a:pathLst>
                  <a:path w="342900" h="300038">
                    <a:moveTo>
                      <a:pt x="128588" y="0"/>
                    </a:moveTo>
                    <a:cubicBezTo>
                      <a:pt x="57571" y="0"/>
                      <a:pt x="0" y="57571"/>
                      <a:pt x="0" y="128588"/>
                    </a:cubicBezTo>
                    <a:lnTo>
                      <a:pt x="0" y="300038"/>
                    </a:lnTo>
                    <a:lnTo>
                      <a:pt x="342900" y="300038"/>
                    </a:lnTo>
                    <a:lnTo>
                      <a:pt x="342900" y="0"/>
                    </a:lnTo>
                    <a:lnTo>
                      <a:pt x="128588" y="0"/>
                    </a:lnTo>
                    <a:close/>
                  </a:path>
                </a:pathLst>
              </a:custGeom>
              <a:solidFill>
                <a:srgbClr val="17A673"/>
              </a:solidFill>
              <a:ln>
                <a:noFill/>
              </a:ln>
              <a:effectLst>
                <a:outerShdw blurRad="152400" dist="38100" dir="10799140" algn="tl" rotWithShape="0">
                  <a:srgbClr val="12304A">
                    <a:alpha val="12000"/>
                  </a:srgbClr>
                </a:outerShdw>
              </a:effectLst>
            </p:spPr>
          </p:sp>
          <p:sp>
            <p:nvSpPr>
              <p:cNvPr id="12" name="Freeform 12"/>
              <p:cNvSpPr/>
              <p:nvPr/>
            </p:nvSpPr>
            <p:spPr>
              <a:xfrm>
                <a:off x="2286000" y="2114550"/>
                <a:ext cx="257175" cy="300038"/>
              </a:xfrm>
              <a:custGeom>
                <a:avLst/>
                <a:gdLst/>
                <a:ahLst/>
                <a:cxnLst/>
                <a:rect l="l" t="t" r="r" b="b"/>
                <a:pathLst>
                  <a:path w="257175" h="300038">
                    <a:moveTo>
                      <a:pt x="128588" y="0"/>
                    </a:moveTo>
                    <a:lnTo>
                      <a:pt x="0" y="0"/>
                    </a:lnTo>
                    <a:lnTo>
                      <a:pt x="0" y="300038"/>
                    </a:lnTo>
                    <a:lnTo>
                      <a:pt x="257175" y="300038"/>
                    </a:lnTo>
                    <a:lnTo>
                      <a:pt x="257175" y="128588"/>
                    </a:lnTo>
                    <a:cubicBezTo>
                      <a:pt x="257175" y="57571"/>
                      <a:pt x="199606" y="0"/>
                      <a:pt x="128588" y="0"/>
                    </a:cubicBezTo>
                    <a:close/>
                  </a:path>
                </a:pathLst>
              </a:custGeom>
              <a:solidFill>
                <a:srgbClr val="17A673"/>
              </a:solidFill>
              <a:ln>
                <a:noFill/>
              </a:ln>
              <a:effectLst>
                <a:outerShdw blurRad="152400" dist="38100" dir="10799140" algn="tl" rotWithShape="0">
                  <a:srgbClr val="12304A">
                    <a:alpha val="12000"/>
                  </a:srgbClr>
                </a:outerShdw>
              </a:effectLst>
            </p:spPr>
          </p:sp>
          <p:sp>
            <p:nvSpPr>
              <p:cNvPr id="13" name="Freeform 13"/>
              <p:cNvSpPr/>
              <p:nvPr/>
            </p:nvSpPr>
            <p:spPr>
              <a:xfrm>
                <a:off x="2286000" y="1857375"/>
                <a:ext cx="171450" cy="171450"/>
              </a:xfrm>
              <a:custGeom>
                <a:avLst/>
                <a:gdLst/>
                <a:ahLst/>
                <a:cxnLst/>
                <a:rect l="l" t="t" r="r" b="b"/>
                <a:pathLst>
                  <a:path w="171450" h="171450">
                    <a:moveTo>
                      <a:pt x="85725" y="171450"/>
                    </a:moveTo>
                    <a:cubicBezTo>
                      <a:pt x="133071" y="171450"/>
                      <a:pt x="171450" y="133070"/>
                      <a:pt x="171450" y="85725"/>
                    </a:cubicBezTo>
                    <a:cubicBezTo>
                      <a:pt x="171450" y="38380"/>
                      <a:pt x="133071" y="0"/>
                      <a:pt x="85725" y="0"/>
                    </a:cubicBezTo>
                    <a:cubicBezTo>
                      <a:pt x="38379" y="0"/>
                      <a:pt x="0" y="38380"/>
                      <a:pt x="0" y="85725"/>
                    </a:cubicBezTo>
                    <a:cubicBezTo>
                      <a:pt x="0" y="133070"/>
                      <a:pt x="38379" y="171450"/>
                      <a:pt x="85725" y="171450"/>
                    </a:cubicBezTo>
                    <a:close/>
                  </a:path>
                </a:pathLst>
              </a:custGeom>
              <a:solidFill>
                <a:srgbClr val="17A673"/>
              </a:solidFill>
              <a:ln>
                <a:noFill/>
              </a:ln>
              <a:effectLst>
                <a:outerShdw blurRad="152400" dist="38100" dir="10799140" algn="tl" rotWithShape="0">
                  <a:srgbClr val="12304A">
                    <a:alpha val="12000"/>
                  </a:srgbClr>
                </a:outerShdw>
              </a:effectLst>
            </p:spPr>
          </p:sp>
        </p:grpSp>
        <p:sp>
          <p:nvSpPr>
            <p:cNvPr id="15" name="TextBox 15"/>
            <p:cNvSpPr txBox="1"/>
            <p:nvPr/>
          </p:nvSpPr>
          <p:spPr>
            <a:xfrm>
              <a:off x="838648" y="2682240"/>
              <a:ext cx="2723255" cy="365760"/>
            </a:xfrm>
            <a:prstGeom prst="rect">
              <a:avLst/>
            </a:prstGeom>
            <a:noFill/>
            <a:ln>
              <a:noFill/>
            </a:ln>
            <a:effectLst>
              <a:outerShdw blurRad="152400" dist="38100" dir="10799140" algn="tl" rotWithShape="0">
                <a:srgbClr val="12304A">
                  <a:alpha val="12000"/>
                </a:srgbClr>
              </a:outerShdw>
            </a:effectLst>
          </p:spPr>
          <p:txBody>
            <a:bodyPr wrap="none" lIns="0" tIns="0" rIns="0" bIns="0" anchor="t" anchorCtr="0">
              <a:spAutoFit/>
            </a:bodyPr>
            <a:lstStyle/>
            <a:p>
              <a:pPr algn="ctr"/>
              <a:r>
                <a:rPr lang="zh-CN" sz="1800" b="1" dirty="0">
                  <a:solidFill>
                    <a:srgbClr val="12304A"/>
                  </a:solidFill>
                  <a:latin typeface="Arial"/>
                  <a:ea typeface="Microsoft YaHei"/>
                  <a:cs typeface="Arial"/>
                </a:rPr>
                <a:t>The group organizer</a:t>
              </a:r>
            </a:p>
          </p:txBody>
        </p:sp>
        <p:sp>
          <p:nvSpPr>
            <p:cNvPr id="16" name="TextBox 16"/>
            <p:cNvSpPr txBox="1"/>
            <p:nvPr/>
          </p:nvSpPr>
          <p:spPr>
            <a:xfrm>
              <a:off x="99441" y="3013710"/>
              <a:ext cx="4201668" cy="243840"/>
            </a:xfrm>
            <a:prstGeom prst="rect">
              <a:avLst/>
            </a:prstGeom>
            <a:noFill/>
            <a:ln>
              <a:noFill/>
            </a:ln>
            <a:effectLst>
              <a:outerShdw blurRad="152400" dist="38100" dir="10799140" algn="tl" rotWithShape="0">
                <a:srgbClr val="12304A">
                  <a:alpha val="12000"/>
                </a:srgbClr>
              </a:outerShdw>
            </a:effectLst>
          </p:spPr>
          <p:txBody>
            <a:bodyPr wrap="none" lIns="0" tIns="0" rIns="0" bIns="0" anchor="t" anchorCtr="0">
              <a:spAutoFit/>
            </a:bodyPr>
            <a:lstStyle/>
            <a:p>
              <a:pPr algn="ctr"/>
              <a:r>
                <a:rPr lang="zh-CN" sz="1200" dirty="0">
                  <a:solidFill>
                    <a:srgbClr val="5E6B75"/>
                  </a:solidFill>
                  <a:latin typeface="Calibri"/>
                  <a:ea typeface="Microsoft YaHei"/>
                  <a:cs typeface="Calibri"/>
                </a:rPr>
                <a:t>Convenience-first • time-poor • trust-sensitive</a:t>
              </a:r>
            </a:p>
          </p:txBody>
        </p:sp>
        <p:sp>
          <p:nvSpPr>
            <p:cNvPr id="17" name="Line 17"/>
            <p:cNvSpPr/>
            <p:nvPr/>
          </p:nvSpPr>
          <p:spPr>
            <a:xfrm>
              <a:off x="838200" y="3371850"/>
              <a:ext cx="2724150" cy="9525"/>
            </a:xfrm>
            <a:custGeom>
              <a:avLst/>
              <a:gdLst/>
              <a:ahLst/>
              <a:cxnLst/>
              <a:rect l="l" t="t" r="r" b="b"/>
              <a:pathLst>
                <a:path w="2724150" h="9525">
                  <a:moveTo>
                    <a:pt x="0" y="0"/>
                  </a:moveTo>
                  <a:lnTo>
                    <a:pt x="2724150" y="0"/>
                  </a:lnTo>
                </a:path>
              </a:pathLst>
            </a:custGeom>
            <a:noFill/>
            <a:ln w="9525">
              <a:solidFill>
                <a:srgbClr val="CED8D3"/>
              </a:solidFill>
            </a:ln>
          </p:spPr>
        </p:sp>
        <p:grpSp>
          <p:nvGrpSpPr>
            <p:cNvPr id="27" name="Group 27"/>
            <p:cNvGrpSpPr/>
            <p:nvPr/>
          </p:nvGrpSpPr>
          <p:grpSpPr>
            <a:xfrm>
              <a:off x="876300" y="3638550"/>
              <a:ext cx="3965971" cy="1793081"/>
              <a:chOff x="876300" y="3638550"/>
              <a:chExt cx="3965971" cy="1793081"/>
            </a:xfrm>
          </p:grpSpPr>
          <p:sp>
            <p:nvSpPr>
              <p:cNvPr id="18" name="Freeform 18"/>
              <p:cNvSpPr/>
              <p:nvPr/>
            </p:nvSpPr>
            <p:spPr>
              <a:xfrm>
                <a:off x="876300" y="3638550"/>
                <a:ext cx="266700" cy="266700"/>
              </a:xfrm>
              <a:custGeom>
                <a:avLst/>
                <a:gdLst/>
                <a:ahLst/>
                <a:cxnLst/>
                <a:rect l="l" t="t" r="r" b="b"/>
                <a:pathLst>
                  <a:path w="266700" h="266700">
                    <a:moveTo>
                      <a:pt x="133350" y="266700"/>
                    </a:moveTo>
                    <a:cubicBezTo>
                      <a:pt x="206998" y="266700"/>
                      <a:pt x="266700" y="206998"/>
                      <a:pt x="266700" y="133350"/>
                    </a:cubicBezTo>
                    <a:cubicBezTo>
                      <a:pt x="266700" y="59703"/>
                      <a:pt x="206998" y="0"/>
                      <a:pt x="133350" y="0"/>
                    </a:cubicBezTo>
                    <a:cubicBezTo>
                      <a:pt x="59703" y="0"/>
                      <a:pt x="0" y="59703"/>
                      <a:pt x="0" y="133350"/>
                    </a:cubicBezTo>
                    <a:cubicBezTo>
                      <a:pt x="0" y="206998"/>
                      <a:pt x="59703" y="266700"/>
                      <a:pt x="133350" y="266700"/>
                    </a:cubicBezTo>
                    <a:close/>
                    <a:moveTo>
                      <a:pt x="116681" y="50006"/>
                    </a:moveTo>
                    <a:lnTo>
                      <a:pt x="116681" y="140254"/>
                    </a:lnTo>
                    <a:lnTo>
                      <a:pt x="171570" y="195143"/>
                    </a:lnTo>
                    <a:lnTo>
                      <a:pt x="195143" y="171570"/>
                    </a:lnTo>
                    <a:lnTo>
                      <a:pt x="150019" y="126446"/>
                    </a:lnTo>
                    <a:lnTo>
                      <a:pt x="150019" y="50006"/>
                    </a:lnTo>
                    <a:lnTo>
                      <a:pt x="116681" y="50006"/>
                    </a:lnTo>
                    <a:close/>
                  </a:path>
                </a:pathLst>
              </a:custGeom>
              <a:solidFill>
                <a:srgbClr val="12304A"/>
              </a:solidFill>
              <a:ln>
                <a:noFill/>
              </a:ln>
              <a:effectLst>
                <a:outerShdw blurRad="152400" dist="38100" dir="10799140" algn="tl" rotWithShape="0">
                  <a:srgbClr val="12304A">
                    <a:alpha val="12000"/>
                  </a:srgbClr>
                </a:outerShdw>
              </a:effectLst>
            </p:spPr>
          </p:sp>
          <p:sp>
            <p:nvSpPr>
              <p:cNvPr id="19" name="TextBox 19"/>
              <p:cNvSpPr txBox="1"/>
              <p:nvPr/>
            </p:nvSpPr>
            <p:spPr>
              <a:xfrm>
                <a:off x="1279208" y="3681889"/>
                <a:ext cx="1489042" cy="259080"/>
              </a:xfrm>
              <a:prstGeom prst="rect">
                <a:avLst/>
              </a:prstGeom>
              <a:noFill/>
              <a:ln>
                <a:noFill/>
              </a:ln>
              <a:effectLst>
                <a:outerShdw blurRad="152400" dist="38100" dir="10799140" algn="tl" rotWithShape="0">
                  <a:srgbClr val="12304A">
                    <a:alpha val="12000"/>
                  </a:srgbClr>
                </a:outerShdw>
              </a:effectLst>
            </p:spPr>
            <p:txBody>
              <a:bodyPr wrap="none" lIns="0" tIns="0" rIns="0" bIns="0" anchor="t" anchorCtr="0">
                <a:spAutoFit/>
              </a:bodyPr>
              <a:lstStyle/>
              <a:p>
                <a:pPr algn="l"/>
                <a:r>
                  <a:rPr lang="zh-CN" sz="1275" b="1" dirty="0">
                    <a:solidFill>
                      <a:srgbClr val="17212B"/>
                    </a:solidFill>
                    <a:latin typeface="Calibri"/>
                    <a:ea typeface="Microsoft YaHei"/>
                    <a:cs typeface="Calibri"/>
                  </a:rPr>
                  <a:t>Confirm quickly</a:t>
                </a:r>
              </a:p>
            </p:txBody>
          </p:sp>
          <p:sp>
            <p:nvSpPr>
              <p:cNvPr id="20" name="TextBox 20"/>
              <p:cNvSpPr txBox="1"/>
              <p:nvPr/>
            </p:nvSpPr>
            <p:spPr>
              <a:xfrm>
                <a:off x="1281112" y="3907631"/>
                <a:ext cx="3561159" cy="228600"/>
              </a:xfrm>
              <a:prstGeom prst="rect">
                <a:avLst/>
              </a:prstGeom>
              <a:noFill/>
              <a:ln>
                <a:noFill/>
              </a:ln>
              <a:effectLst>
                <a:outerShdw blurRad="152400" dist="38100" dir="10799140" algn="tl" rotWithShape="0">
                  <a:srgbClr val="12304A">
                    <a:alpha val="12000"/>
                  </a:srgbClr>
                </a:outerShdw>
              </a:effectLst>
            </p:spPr>
            <p:txBody>
              <a:bodyPr wrap="none" lIns="0" tIns="0" rIns="0" bIns="0" anchor="t" anchorCtr="0">
                <a:spAutoFit/>
              </a:bodyPr>
              <a:lstStyle/>
              <a:p>
                <a:pPr algn="l"/>
                <a:r>
                  <a:rPr lang="zh-CN" sz="1125" dirty="0">
                    <a:solidFill>
                      <a:srgbClr val="5E6B75"/>
                    </a:solidFill>
                    <a:latin typeface="Calibri"/>
                    <a:ea typeface="Microsoft YaHei"/>
                    <a:cs typeface="Calibri"/>
                  </a:rPr>
                  <a:t>Certainty matters more than endless choice</a:t>
                </a:r>
              </a:p>
            </p:txBody>
          </p:sp>
          <p:sp>
            <p:nvSpPr>
              <p:cNvPr id="21" name="Freeform 21"/>
              <p:cNvSpPr/>
              <p:nvPr/>
            </p:nvSpPr>
            <p:spPr>
              <a:xfrm>
                <a:off x="909638" y="4286250"/>
                <a:ext cx="200025" cy="266700"/>
              </a:xfrm>
              <a:custGeom>
                <a:avLst/>
                <a:gdLst/>
                <a:ahLst/>
                <a:cxnLst/>
                <a:rect l="l" t="t" r="r" b="b"/>
                <a:pathLst>
                  <a:path w="200025" h="266700">
                    <a:moveTo>
                      <a:pt x="22985" y="170415"/>
                    </a:moveTo>
                    <a:lnTo>
                      <a:pt x="100012" y="266700"/>
                    </a:lnTo>
                    <a:lnTo>
                      <a:pt x="177040" y="170415"/>
                    </a:lnTo>
                    <a:cubicBezTo>
                      <a:pt x="191919" y="151817"/>
                      <a:pt x="200025" y="128708"/>
                      <a:pt x="200025" y="104891"/>
                    </a:cubicBezTo>
                    <a:lnTo>
                      <a:pt x="200025" y="100012"/>
                    </a:lnTo>
                    <a:cubicBezTo>
                      <a:pt x="200025" y="44777"/>
                      <a:pt x="155248" y="0"/>
                      <a:pt x="100012" y="0"/>
                    </a:cubicBezTo>
                    <a:cubicBezTo>
                      <a:pt x="44777" y="0"/>
                      <a:pt x="0" y="44777"/>
                      <a:pt x="0" y="100012"/>
                    </a:cubicBezTo>
                    <a:lnTo>
                      <a:pt x="0" y="104891"/>
                    </a:lnTo>
                    <a:cubicBezTo>
                      <a:pt x="0" y="128708"/>
                      <a:pt x="8106" y="151817"/>
                      <a:pt x="22985" y="170415"/>
                    </a:cubicBezTo>
                    <a:close/>
                    <a:moveTo>
                      <a:pt x="100012" y="133350"/>
                    </a:moveTo>
                    <a:cubicBezTo>
                      <a:pt x="118424" y="133350"/>
                      <a:pt x="133350" y="118424"/>
                      <a:pt x="133350" y="100012"/>
                    </a:cubicBezTo>
                    <a:cubicBezTo>
                      <a:pt x="133350" y="81601"/>
                      <a:pt x="118424" y="66675"/>
                      <a:pt x="100012" y="66675"/>
                    </a:cubicBezTo>
                    <a:cubicBezTo>
                      <a:pt x="81601" y="66675"/>
                      <a:pt x="66675" y="81601"/>
                      <a:pt x="66675" y="100012"/>
                    </a:cubicBezTo>
                    <a:cubicBezTo>
                      <a:pt x="66675" y="118424"/>
                      <a:pt x="81601" y="133350"/>
                      <a:pt x="100012" y="133350"/>
                    </a:cubicBezTo>
                    <a:close/>
                  </a:path>
                </a:pathLst>
              </a:custGeom>
              <a:solidFill>
                <a:srgbClr val="12304A"/>
              </a:solidFill>
              <a:ln>
                <a:noFill/>
              </a:ln>
              <a:effectLst>
                <a:outerShdw blurRad="152400" dist="38100" dir="10799140" algn="tl" rotWithShape="0">
                  <a:srgbClr val="12304A">
                    <a:alpha val="12000"/>
                  </a:srgbClr>
                </a:outerShdw>
              </a:effectLst>
            </p:spPr>
          </p:sp>
          <p:sp>
            <p:nvSpPr>
              <p:cNvPr id="22" name="TextBox 22"/>
              <p:cNvSpPr txBox="1"/>
              <p:nvPr/>
            </p:nvSpPr>
            <p:spPr>
              <a:xfrm>
                <a:off x="1279208" y="4329589"/>
                <a:ext cx="2095168" cy="259080"/>
              </a:xfrm>
              <a:prstGeom prst="rect">
                <a:avLst/>
              </a:prstGeom>
              <a:noFill/>
              <a:ln>
                <a:noFill/>
              </a:ln>
              <a:effectLst>
                <a:outerShdw blurRad="152400" dist="38100" dir="10799140" algn="tl" rotWithShape="0">
                  <a:srgbClr val="12304A">
                    <a:alpha val="12000"/>
                  </a:srgbClr>
                </a:outerShdw>
              </a:effectLst>
            </p:spPr>
            <p:txBody>
              <a:bodyPr wrap="none" lIns="0" tIns="0" rIns="0" bIns="0" anchor="t" anchorCtr="0">
                <a:spAutoFit/>
              </a:bodyPr>
              <a:lstStyle/>
              <a:p>
                <a:pPr algn="l"/>
                <a:r>
                  <a:rPr lang="zh-CN" sz="1275" b="1" dirty="0">
                    <a:solidFill>
                      <a:srgbClr val="17212B"/>
                    </a:solidFill>
                    <a:latin typeface="Calibri"/>
                    <a:ea typeface="Microsoft YaHei"/>
                    <a:cs typeface="Calibri"/>
                  </a:rPr>
                  <a:t>Stay reasonably close</a:t>
                </a:r>
              </a:p>
            </p:txBody>
          </p:sp>
          <p:sp>
            <p:nvSpPr>
              <p:cNvPr id="23" name="TextBox 23"/>
              <p:cNvSpPr txBox="1"/>
              <p:nvPr/>
            </p:nvSpPr>
            <p:spPr>
              <a:xfrm>
                <a:off x="1281112" y="4555331"/>
                <a:ext cx="3125748" cy="228600"/>
              </a:xfrm>
              <a:prstGeom prst="rect">
                <a:avLst/>
              </a:prstGeom>
              <a:noFill/>
              <a:ln>
                <a:noFill/>
              </a:ln>
              <a:effectLst>
                <a:outerShdw blurRad="152400" dist="38100" dir="10799140" algn="tl" rotWithShape="0">
                  <a:srgbClr val="12304A">
                    <a:alpha val="12000"/>
                  </a:srgbClr>
                </a:outerShdw>
              </a:effectLst>
            </p:spPr>
            <p:txBody>
              <a:bodyPr wrap="none" lIns="0" tIns="0" rIns="0" bIns="0" anchor="t" anchorCtr="0">
                <a:spAutoFit/>
              </a:bodyPr>
              <a:lstStyle/>
              <a:p>
                <a:pPr algn="l"/>
                <a:r>
                  <a:rPr lang="zh-CN" sz="1125" dirty="0">
                    <a:solidFill>
                      <a:srgbClr val="5E6B75"/>
                    </a:solidFill>
                    <a:latin typeface="Calibri"/>
                    <a:ea typeface="Microsoft YaHei"/>
                    <a:cs typeface="Calibri"/>
                  </a:rPr>
                  <a:t>Small travel changes can be acceptable</a:t>
                </a:r>
              </a:p>
            </p:txBody>
          </p:sp>
          <p:sp>
            <p:nvSpPr>
              <p:cNvPr id="24" name="Freeform 24"/>
              <p:cNvSpPr/>
              <p:nvPr/>
            </p:nvSpPr>
            <p:spPr>
              <a:xfrm>
                <a:off x="892969" y="4933950"/>
                <a:ext cx="233362" cy="266700"/>
              </a:xfrm>
              <a:custGeom>
                <a:avLst/>
                <a:gdLst/>
                <a:ahLst/>
                <a:cxnLst/>
                <a:rect l="l" t="t" r="r" b="b"/>
                <a:pathLst>
                  <a:path w="233362" h="266700">
                    <a:moveTo>
                      <a:pt x="116681" y="266700"/>
                    </a:moveTo>
                    <a:lnTo>
                      <a:pt x="55842" y="223243"/>
                    </a:lnTo>
                    <a:cubicBezTo>
                      <a:pt x="20798" y="198211"/>
                      <a:pt x="0" y="157798"/>
                      <a:pt x="0" y="114732"/>
                    </a:cubicBezTo>
                    <a:lnTo>
                      <a:pt x="0" y="50006"/>
                    </a:lnTo>
                    <a:lnTo>
                      <a:pt x="116681" y="0"/>
                    </a:lnTo>
                    <a:lnTo>
                      <a:pt x="233362" y="50006"/>
                    </a:lnTo>
                    <a:lnTo>
                      <a:pt x="233362" y="114732"/>
                    </a:lnTo>
                    <a:cubicBezTo>
                      <a:pt x="233362" y="157798"/>
                      <a:pt x="212565" y="198211"/>
                      <a:pt x="177521" y="223243"/>
                    </a:cubicBezTo>
                    <a:lnTo>
                      <a:pt x="116681" y="266700"/>
                    </a:lnTo>
                    <a:close/>
                    <a:moveTo>
                      <a:pt x="186808" y="95130"/>
                    </a:moveTo>
                    <a:lnTo>
                      <a:pt x="163235" y="71557"/>
                    </a:lnTo>
                    <a:lnTo>
                      <a:pt x="100012" y="134780"/>
                    </a:lnTo>
                    <a:lnTo>
                      <a:pt x="70127" y="104895"/>
                    </a:lnTo>
                    <a:lnTo>
                      <a:pt x="46554" y="128468"/>
                    </a:lnTo>
                    <a:lnTo>
                      <a:pt x="100012" y="181926"/>
                    </a:lnTo>
                    <a:lnTo>
                      <a:pt x="186808" y="95130"/>
                    </a:lnTo>
                    <a:close/>
                  </a:path>
                </a:pathLst>
              </a:custGeom>
              <a:solidFill>
                <a:srgbClr val="12304A"/>
              </a:solidFill>
              <a:ln>
                <a:noFill/>
              </a:ln>
              <a:effectLst>
                <a:outerShdw blurRad="152400" dist="38100" dir="10799140" algn="tl" rotWithShape="0">
                  <a:srgbClr val="12304A">
                    <a:alpha val="12000"/>
                  </a:srgbClr>
                </a:outerShdw>
              </a:effectLst>
            </p:spPr>
          </p:sp>
          <p:sp>
            <p:nvSpPr>
              <p:cNvPr id="25" name="TextBox 25"/>
              <p:cNvSpPr txBox="1"/>
              <p:nvPr/>
            </p:nvSpPr>
            <p:spPr>
              <a:xfrm>
                <a:off x="1279208" y="4977289"/>
                <a:ext cx="1997406" cy="259080"/>
              </a:xfrm>
              <a:prstGeom prst="rect">
                <a:avLst/>
              </a:prstGeom>
              <a:noFill/>
              <a:ln>
                <a:noFill/>
              </a:ln>
              <a:effectLst>
                <a:outerShdw blurRad="152400" dist="38100" dir="10799140" algn="tl" rotWithShape="0">
                  <a:srgbClr val="12304A">
                    <a:alpha val="12000"/>
                  </a:srgbClr>
                </a:outerShdw>
              </a:effectLst>
            </p:spPr>
            <p:txBody>
              <a:bodyPr wrap="none" lIns="0" tIns="0" rIns="0" bIns="0" anchor="t" anchorCtr="0">
                <a:spAutoFit/>
              </a:bodyPr>
              <a:lstStyle/>
              <a:p>
                <a:pPr algn="l"/>
                <a:r>
                  <a:rPr lang="zh-CN" sz="1275" b="1" dirty="0">
                    <a:solidFill>
                      <a:srgbClr val="17212B"/>
                    </a:solidFill>
                    <a:latin typeface="Calibri"/>
                    <a:ea typeface="Microsoft YaHei"/>
                    <a:cs typeface="Calibri"/>
                  </a:rPr>
                  <a:t>Trust the final price</a:t>
                </a:r>
              </a:p>
            </p:txBody>
          </p:sp>
          <p:sp>
            <p:nvSpPr>
              <p:cNvPr id="26" name="TextBox 26"/>
              <p:cNvSpPr txBox="1"/>
              <p:nvPr/>
            </p:nvSpPr>
            <p:spPr>
              <a:xfrm>
                <a:off x="1281112" y="5203031"/>
                <a:ext cx="3183255" cy="228600"/>
              </a:xfrm>
              <a:prstGeom prst="rect">
                <a:avLst/>
              </a:prstGeom>
              <a:noFill/>
              <a:ln>
                <a:noFill/>
              </a:ln>
              <a:effectLst>
                <a:outerShdw blurRad="152400" dist="38100" dir="10799140" algn="tl" rotWithShape="0">
                  <a:srgbClr val="12304A">
                    <a:alpha val="12000"/>
                  </a:srgbClr>
                </a:outerShdw>
              </a:effectLst>
            </p:spPr>
            <p:txBody>
              <a:bodyPr wrap="none" lIns="0" tIns="0" rIns="0" bIns="0" anchor="t" anchorCtr="0">
                <a:spAutoFit/>
              </a:bodyPr>
              <a:lstStyle/>
              <a:p>
                <a:pPr algn="l"/>
                <a:r>
                  <a:rPr lang="zh-CN" sz="1125" dirty="0">
                    <a:solidFill>
                      <a:srgbClr val="5E6B75"/>
                    </a:solidFill>
                    <a:latin typeface="Calibri"/>
                    <a:ea typeface="Microsoft YaHei"/>
                    <a:cs typeface="Calibri"/>
                  </a:rPr>
                  <a:t>No hidden fees or unexplained targeting</a:t>
                </a:r>
              </a:p>
            </p:txBody>
          </p:sp>
        </p:grpSp>
        <p:sp>
          <p:nvSpPr>
            <p:cNvPr id="28" name="Freeform 28"/>
            <p:cNvSpPr/>
            <p:nvPr/>
          </p:nvSpPr>
          <p:spPr>
            <a:xfrm>
              <a:off x="838200" y="5562600"/>
              <a:ext cx="2724150" cy="266700"/>
            </a:xfrm>
            <a:custGeom>
              <a:avLst/>
              <a:gdLst/>
              <a:ahLst/>
              <a:cxnLst/>
              <a:rect l="l" t="t" r="r" b="b"/>
              <a:pathLst>
                <a:path w="2724150" h="266700">
                  <a:moveTo>
                    <a:pt x="133350" y="0"/>
                  </a:moveTo>
                  <a:lnTo>
                    <a:pt x="2590800" y="0"/>
                  </a:lnTo>
                  <a:cubicBezTo>
                    <a:pt x="2664447" y="0"/>
                    <a:pt x="2724150" y="59703"/>
                    <a:pt x="2724150" y="133350"/>
                  </a:cubicBezTo>
                  <a:lnTo>
                    <a:pt x="2724150" y="133350"/>
                  </a:lnTo>
                  <a:cubicBezTo>
                    <a:pt x="2724150" y="206997"/>
                    <a:pt x="2664447" y="266700"/>
                    <a:pt x="2590800" y="266700"/>
                  </a:cubicBezTo>
                  <a:lnTo>
                    <a:pt x="133350" y="266700"/>
                  </a:lnTo>
                  <a:cubicBezTo>
                    <a:pt x="59703" y="266700"/>
                    <a:pt x="0" y="206997"/>
                    <a:pt x="0" y="133350"/>
                  </a:cubicBezTo>
                  <a:lnTo>
                    <a:pt x="0" y="133350"/>
                  </a:lnTo>
                  <a:cubicBezTo>
                    <a:pt x="0" y="59703"/>
                    <a:pt x="59703" y="0"/>
                    <a:pt x="133350" y="0"/>
                  </a:cubicBezTo>
                  <a:close/>
                </a:path>
              </a:pathLst>
            </a:custGeom>
            <a:solidFill>
              <a:srgbClr val="17A673">
                <a:alpha val="12000"/>
              </a:srgbClr>
            </a:solidFill>
            <a:ln>
              <a:noFill/>
            </a:ln>
            <a:effectLst>
              <a:outerShdw blurRad="152400" dist="38100" dir="10799140" algn="tl" rotWithShape="0">
                <a:srgbClr val="12304A">
                  <a:alpha val="12000"/>
                </a:srgbClr>
              </a:outerShdw>
            </a:effectLst>
          </p:spPr>
        </p:sp>
        <p:sp>
          <p:nvSpPr>
            <p:cNvPr id="29" name="TextBox 29"/>
            <p:cNvSpPr txBox="1"/>
            <p:nvPr/>
          </p:nvSpPr>
          <p:spPr>
            <a:xfrm>
              <a:off x="637121" y="5639752"/>
              <a:ext cx="3126307" cy="213360"/>
            </a:xfrm>
            <a:prstGeom prst="rect">
              <a:avLst/>
            </a:prstGeom>
            <a:noFill/>
            <a:ln>
              <a:noFill/>
            </a:ln>
            <a:effectLst>
              <a:outerShdw blurRad="152400" dist="38100" dir="10799140" algn="tl" rotWithShape="0">
                <a:srgbClr val="12304A">
                  <a:alpha val="12000"/>
                </a:srgbClr>
              </a:outerShdw>
            </a:effectLst>
          </p:spPr>
          <p:txBody>
            <a:bodyPr wrap="none" lIns="0" tIns="0" rIns="0" bIns="0" anchor="t" anchorCtr="0">
              <a:spAutoFit/>
            </a:bodyPr>
            <a:lstStyle/>
            <a:p>
              <a:pPr algn="ctr"/>
              <a:r>
                <a:rPr lang="zh-CN" sz="1050" b="1" dirty="0">
                  <a:solidFill>
                    <a:srgbClr val="117E59"/>
                  </a:solidFill>
                  <a:latin typeface="Arial"/>
                  <a:ea typeface="Microsoft YaHei"/>
                  <a:cs typeface="Arial"/>
                </a:rPr>
                <a:t>Goal: reliable court in under 60 seconds</a:t>
              </a:r>
            </a:p>
          </p:txBody>
        </p:sp>
      </p:grpSp>
      <p:grpSp>
        <p:nvGrpSpPr>
          <p:cNvPr id="64" name="Group 64"/>
          <p:cNvGrpSpPr/>
          <p:nvPr/>
        </p:nvGrpSpPr>
        <p:grpSpPr>
          <a:xfrm>
            <a:off x="4171950" y="1428750"/>
            <a:ext cx="7486650" cy="4552950"/>
            <a:chOff x="4171950" y="1428750"/>
            <a:chExt cx="7486650" cy="4552950"/>
          </a:xfrm>
        </p:grpSpPr>
        <p:sp>
          <p:nvSpPr>
            <p:cNvPr id="31" name="Freeform 31"/>
            <p:cNvSpPr/>
            <p:nvPr/>
          </p:nvSpPr>
          <p:spPr>
            <a:xfrm>
              <a:off x="4171950" y="1428750"/>
              <a:ext cx="7486650" cy="4552950"/>
            </a:xfrm>
            <a:custGeom>
              <a:avLst/>
              <a:gdLst/>
              <a:ahLst/>
              <a:cxnLst/>
              <a:rect l="l" t="t" r="r" b="b"/>
              <a:pathLst>
                <a:path w="7486650" h="4552950">
                  <a:moveTo>
                    <a:pt x="152400" y="0"/>
                  </a:moveTo>
                  <a:lnTo>
                    <a:pt x="7334250" y="0"/>
                  </a:lnTo>
                  <a:cubicBezTo>
                    <a:pt x="7418418" y="0"/>
                    <a:pt x="7486650" y="68232"/>
                    <a:pt x="7486650" y="152400"/>
                  </a:cubicBezTo>
                  <a:lnTo>
                    <a:pt x="7486650" y="4400550"/>
                  </a:lnTo>
                  <a:cubicBezTo>
                    <a:pt x="7486650" y="4484718"/>
                    <a:pt x="7418418" y="4552950"/>
                    <a:pt x="7334250" y="4552950"/>
                  </a:cubicBezTo>
                  <a:lnTo>
                    <a:pt x="152400" y="4552950"/>
                  </a:lnTo>
                  <a:cubicBezTo>
                    <a:pt x="68232" y="4552950"/>
                    <a:pt x="0" y="4484718"/>
                    <a:pt x="0" y="4400550"/>
                  </a:cubicBezTo>
                  <a:lnTo>
                    <a:pt x="0" y="152400"/>
                  </a:lnTo>
                  <a:cubicBezTo>
                    <a:pt x="0" y="68232"/>
                    <a:pt x="68232" y="0"/>
                    <a:pt x="152400" y="0"/>
                  </a:cubicBezTo>
                  <a:close/>
                </a:path>
              </a:pathLst>
            </a:custGeom>
            <a:solidFill>
              <a:srgbClr val="FFFFFF"/>
            </a:solidFill>
            <a:ln w="9525">
              <a:solidFill>
                <a:srgbClr val="CED8D3"/>
              </a:solidFill>
            </a:ln>
          </p:spPr>
        </p:sp>
        <p:sp>
          <p:nvSpPr>
            <p:cNvPr id="32" name="TextBox 32"/>
            <p:cNvSpPr txBox="1"/>
            <p:nvPr/>
          </p:nvSpPr>
          <p:spPr>
            <a:xfrm>
              <a:off x="4456748" y="1639729"/>
              <a:ext cx="5667658" cy="320040"/>
            </a:xfrm>
            <a:prstGeom prst="rect">
              <a:avLst/>
            </a:prstGeom>
            <a:noFill/>
            <a:ln>
              <a:noFill/>
            </a:ln>
          </p:spPr>
          <p:txBody>
            <a:bodyPr wrap="none" lIns="0" tIns="0" rIns="0" bIns="0" anchor="t" anchorCtr="0">
              <a:spAutoFit/>
            </a:bodyPr>
            <a:lstStyle/>
            <a:p>
              <a:pPr algn="l"/>
              <a:r>
                <a:rPr lang="zh-CN" sz="1575" b="1" dirty="0">
                  <a:solidFill>
                    <a:srgbClr val="17212B"/>
                  </a:solidFill>
                  <a:latin typeface="Arial"/>
                  <a:ea typeface="Microsoft YaHei"/>
                  <a:cs typeface="Arial"/>
                </a:rPr>
                <a:t>Preferred option versus best-value alternative</a:t>
              </a:r>
            </a:p>
          </p:txBody>
        </p:sp>
        <p:sp>
          <p:nvSpPr>
            <p:cNvPr id="33" name="TextBox 33"/>
            <p:cNvSpPr txBox="1"/>
            <p:nvPr/>
          </p:nvSpPr>
          <p:spPr>
            <a:xfrm>
              <a:off x="4462462" y="1935956"/>
              <a:ext cx="6510457" cy="228600"/>
            </a:xfrm>
            <a:prstGeom prst="rect">
              <a:avLst/>
            </a:prstGeom>
            <a:noFill/>
            <a:ln>
              <a:noFill/>
            </a:ln>
          </p:spPr>
          <p:txBody>
            <a:bodyPr wrap="none" lIns="0" tIns="0" rIns="0" bIns="0" anchor="t" anchorCtr="0">
              <a:spAutoFit/>
            </a:bodyPr>
            <a:lstStyle/>
            <a:p>
              <a:pPr algn="l"/>
              <a:r>
                <a:rPr lang="zh-CN" sz="1125" dirty="0">
                  <a:solidFill>
                    <a:srgbClr val="5E6B75"/>
                  </a:solidFill>
                  <a:latin typeface="Calibri"/>
                  <a:ea typeface="Microsoft YaHei"/>
                  <a:cs typeface="Calibri"/>
                </a:rPr>
                <a:t>The product makes each trade-off visible instead of hiding it inside a promotion.</a:t>
              </a:r>
            </a:p>
          </p:txBody>
        </p:sp>
        <p:grpSp>
          <p:nvGrpSpPr>
            <p:cNvPr id="40" name="Group 40"/>
            <p:cNvGrpSpPr/>
            <p:nvPr/>
          </p:nvGrpSpPr>
          <p:grpSpPr>
            <a:xfrm>
              <a:off x="4460558" y="2277428"/>
              <a:ext cx="6016942" cy="463391"/>
              <a:chOff x="4460558" y="2277428"/>
              <a:chExt cx="6016942" cy="463391"/>
            </a:xfrm>
          </p:grpSpPr>
          <p:sp>
            <p:nvSpPr>
              <p:cNvPr id="34" name="TextBox 34"/>
              <p:cNvSpPr txBox="1"/>
              <p:nvPr/>
            </p:nvSpPr>
            <p:spPr>
              <a:xfrm>
                <a:off x="4460558" y="2481739"/>
                <a:ext cx="1049112" cy="259080"/>
              </a:xfrm>
              <a:prstGeom prst="rect">
                <a:avLst/>
              </a:prstGeom>
              <a:noFill/>
              <a:ln>
                <a:noFill/>
              </a:ln>
            </p:spPr>
            <p:txBody>
              <a:bodyPr wrap="none" lIns="0" tIns="0" rIns="0" bIns="0" anchor="t" anchorCtr="0">
                <a:spAutoFit/>
              </a:bodyPr>
              <a:lstStyle/>
              <a:p>
                <a:pPr algn="l"/>
                <a:r>
                  <a:rPr lang="zh-CN" sz="1275" b="1" dirty="0">
                    <a:solidFill>
                      <a:srgbClr val="17212B"/>
                    </a:solidFill>
                    <a:latin typeface="Arial"/>
                    <a:ea typeface="Microsoft YaHei"/>
                    <a:cs typeface="Arial"/>
                  </a:rPr>
                  <a:t>Start time</a:t>
                </a:r>
              </a:p>
            </p:txBody>
          </p:sp>
          <p:sp>
            <p:nvSpPr>
              <p:cNvPr id="35" name="Line 35"/>
              <p:cNvSpPr/>
              <p:nvPr/>
            </p:nvSpPr>
            <p:spPr>
              <a:xfrm>
                <a:off x="6000750" y="2571750"/>
                <a:ext cx="4476750" cy="9525"/>
              </a:xfrm>
              <a:custGeom>
                <a:avLst/>
                <a:gdLst/>
                <a:ahLst/>
                <a:cxnLst/>
                <a:rect l="l" t="t" r="r" b="b"/>
                <a:pathLst>
                  <a:path w="4476750" h="9525">
                    <a:moveTo>
                      <a:pt x="0" y="0"/>
                    </a:moveTo>
                    <a:lnTo>
                      <a:pt x="4476750" y="0"/>
                    </a:lnTo>
                  </a:path>
                </a:pathLst>
              </a:custGeom>
              <a:noFill/>
              <a:ln w="47625" cap="rnd">
                <a:solidFill>
                  <a:srgbClr val="CED8D3"/>
                </a:solidFill>
              </a:ln>
            </p:spPr>
          </p:sp>
          <p:sp>
            <p:nvSpPr>
              <p:cNvPr id="36" name="Ellipse 36"/>
              <p:cNvSpPr/>
              <p:nvPr/>
            </p:nvSpPr>
            <p:spPr>
              <a:xfrm>
                <a:off x="9772650" y="2438400"/>
                <a:ext cx="266700" cy="266700"/>
              </a:xfrm>
              <a:prstGeom prst="ellipse">
                <a:avLst/>
              </a:prstGeom>
              <a:solidFill>
                <a:srgbClr val="12304A"/>
              </a:solidFill>
              <a:ln>
                <a:noFill/>
              </a:ln>
            </p:spPr>
          </p:sp>
          <p:sp>
            <p:nvSpPr>
              <p:cNvPr id="37" name="TextBox 37"/>
              <p:cNvSpPr txBox="1"/>
              <p:nvPr/>
            </p:nvSpPr>
            <p:spPr>
              <a:xfrm>
                <a:off x="9700974" y="2277428"/>
                <a:ext cx="410051" cy="213360"/>
              </a:xfrm>
              <a:prstGeom prst="rect">
                <a:avLst/>
              </a:prstGeom>
              <a:noFill/>
              <a:ln>
                <a:noFill/>
              </a:ln>
            </p:spPr>
            <p:txBody>
              <a:bodyPr wrap="none" lIns="0" tIns="0" rIns="0" bIns="0" anchor="t" anchorCtr="0">
                <a:spAutoFit/>
              </a:bodyPr>
              <a:lstStyle/>
              <a:p>
                <a:pPr algn="ctr"/>
                <a:r>
                  <a:rPr lang="zh-CN" sz="1050" dirty="0">
                    <a:solidFill>
                      <a:srgbClr val="12304A"/>
                    </a:solidFill>
                    <a:latin typeface="Calibri"/>
                    <a:ea typeface="Microsoft YaHei"/>
                    <a:cs typeface="Calibri"/>
                  </a:rPr>
                  <a:t>18:00</a:t>
                </a:r>
              </a:p>
            </p:txBody>
          </p:sp>
          <p:sp>
            <p:nvSpPr>
              <p:cNvPr id="38" name="Ellipse 38"/>
              <p:cNvSpPr/>
              <p:nvPr/>
            </p:nvSpPr>
            <p:spPr>
              <a:xfrm>
                <a:off x="7534275" y="2438400"/>
                <a:ext cx="266700" cy="266700"/>
              </a:xfrm>
              <a:prstGeom prst="ellipse">
                <a:avLst/>
              </a:prstGeom>
              <a:solidFill>
                <a:srgbClr val="17A673"/>
              </a:solidFill>
              <a:ln>
                <a:noFill/>
              </a:ln>
            </p:spPr>
          </p:sp>
          <p:sp>
            <p:nvSpPr>
              <p:cNvPr id="39" name="TextBox 39"/>
              <p:cNvSpPr txBox="1"/>
              <p:nvPr/>
            </p:nvSpPr>
            <p:spPr>
              <a:xfrm>
                <a:off x="7462599" y="2277428"/>
                <a:ext cx="410051" cy="213360"/>
              </a:xfrm>
              <a:prstGeom prst="rect">
                <a:avLst/>
              </a:prstGeom>
              <a:noFill/>
              <a:ln>
                <a:noFill/>
              </a:ln>
            </p:spPr>
            <p:txBody>
              <a:bodyPr wrap="none" lIns="0" tIns="0" rIns="0" bIns="0" anchor="t" anchorCtr="0">
                <a:spAutoFit/>
              </a:bodyPr>
              <a:lstStyle/>
              <a:p>
                <a:pPr algn="ctr"/>
                <a:r>
                  <a:rPr lang="zh-CN" sz="1050" dirty="0">
                    <a:solidFill>
                      <a:srgbClr val="17A673"/>
                    </a:solidFill>
                    <a:latin typeface="Calibri"/>
                    <a:ea typeface="Microsoft YaHei"/>
                    <a:cs typeface="Calibri"/>
                  </a:rPr>
                  <a:t>17:00</a:t>
                </a:r>
              </a:p>
            </p:txBody>
          </p:sp>
        </p:grpSp>
        <p:grpSp>
          <p:nvGrpSpPr>
            <p:cNvPr id="47" name="Group 47"/>
            <p:cNvGrpSpPr/>
            <p:nvPr/>
          </p:nvGrpSpPr>
          <p:grpSpPr>
            <a:xfrm>
              <a:off x="4460558" y="3039428"/>
              <a:ext cx="6016942" cy="463391"/>
              <a:chOff x="4460558" y="3039428"/>
              <a:chExt cx="6016942" cy="463391"/>
            </a:xfrm>
          </p:grpSpPr>
          <p:sp>
            <p:nvSpPr>
              <p:cNvPr id="41" name="TextBox 41"/>
              <p:cNvSpPr txBox="1"/>
              <p:nvPr/>
            </p:nvSpPr>
            <p:spPr>
              <a:xfrm>
                <a:off x="4460558" y="3243739"/>
                <a:ext cx="1107769" cy="259080"/>
              </a:xfrm>
              <a:prstGeom prst="rect">
                <a:avLst/>
              </a:prstGeom>
              <a:noFill/>
              <a:ln>
                <a:noFill/>
              </a:ln>
            </p:spPr>
            <p:txBody>
              <a:bodyPr wrap="none" lIns="0" tIns="0" rIns="0" bIns="0" anchor="t" anchorCtr="0">
                <a:spAutoFit/>
              </a:bodyPr>
              <a:lstStyle/>
              <a:p>
                <a:pPr algn="l"/>
                <a:r>
                  <a:rPr lang="zh-CN" sz="1275" b="1" dirty="0">
                    <a:solidFill>
                      <a:srgbClr val="17212B"/>
                    </a:solidFill>
                    <a:latin typeface="Arial"/>
                    <a:ea typeface="Microsoft YaHei"/>
                    <a:cs typeface="Arial"/>
                  </a:rPr>
                  <a:t>Travel time</a:t>
                </a:r>
              </a:p>
            </p:txBody>
          </p:sp>
          <p:sp>
            <p:nvSpPr>
              <p:cNvPr id="42" name="Line 42"/>
              <p:cNvSpPr/>
              <p:nvPr/>
            </p:nvSpPr>
            <p:spPr>
              <a:xfrm>
                <a:off x="6000750" y="3333750"/>
                <a:ext cx="4476750" cy="9525"/>
              </a:xfrm>
              <a:custGeom>
                <a:avLst/>
                <a:gdLst/>
                <a:ahLst/>
                <a:cxnLst/>
                <a:rect l="l" t="t" r="r" b="b"/>
                <a:pathLst>
                  <a:path w="4476750" h="9525">
                    <a:moveTo>
                      <a:pt x="0" y="0"/>
                    </a:moveTo>
                    <a:lnTo>
                      <a:pt x="4476750" y="0"/>
                    </a:lnTo>
                  </a:path>
                </a:pathLst>
              </a:custGeom>
              <a:noFill/>
              <a:ln w="47625" cap="rnd">
                <a:solidFill>
                  <a:srgbClr val="CED8D3"/>
                </a:solidFill>
              </a:ln>
            </p:spPr>
          </p:sp>
          <p:sp>
            <p:nvSpPr>
              <p:cNvPr id="43" name="Ellipse 43"/>
              <p:cNvSpPr/>
              <p:nvPr/>
            </p:nvSpPr>
            <p:spPr>
              <a:xfrm>
                <a:off x="6724650" y="3200400"/>
                <a:ext cx="266700" cy="266700"/>
              </a:xfrm>
              <a:prstGeom prst="ellipse">
                <a:avLst/>
              </a:prstGeom>
              <a:solidFill>
                <a:srgbClr val="12304A"/>
              </a:solidFill>
              <a:ln>
                <a:noFill/>
              </a:ln>
            </p:spPr>
          </p:sp>
          <p:sp>
            <p:nvSpPr>
              <p:cNvPr id="44" name="TextBox 44"/>
              <p:cNvSpPr txBox="1"/>
              <p:nvPr/>
            </p:nvSpPr>
            <p:spPr>
              <a:xfrm>
                <a:off x="6656808" y="3039428"/>
                <a:ext cx="402384" cy="213360"/>
              </a:xfrm>
              <a:prstGeom prst="rect">
                <a:avLst/>
              </a:prstGeom>
              <a:noFill/>
              <a:ln>
                <a:noFill/>
              </a:ln>
            </p:spPr>
            <p:txBody>
              <a:bodyPr wrap="none" lIns="0" tIns="0" rIns="0" bIns="0" anchor="t" anchorCtr="0">
                <a:spAutoFit/>
              </a:bodyPr>
              <a:lstStyle/>
              <a:p>
                <a:pPr algn="ctr"/>
                <a:r>
                  <a:rPr lang="zh-CN" sz="1050" dirty="0">
                    <a:solidFill>
                      <a:srgbClr val="12304A"/>
                    </a:solidFill>
                    <a:latin typeface="Calibri"/>
                    <a:ea typeface="Microsoft YaHei"/>
                    <a:cs typeface="Calibri"/>
                  </a:rPr>
                  <a:t>5 min</a:t>
                </a:r>
              </a:p>
            </p:txBody>
          </p:sp>
          <p:sp>
            <p:nvSpPr>
              <p:cNvPr id="45" name="Ellipse 45"/>
              <p:cNvSpPr/>
              <p:nvPr/>
            </p:nvSpPr>
            <p:spPr>
              <a:xfrm>
                <a:off x="7391400" y="3200400"/>
                <a:ext cx="266700" cy="266700"/>
              </a:xfrm>
              <a:prstGeom prst="ellipse">
                <a:avLst/>
              </a:prstGeom>
              <a:solidFill>
                <a:srgbClr val="17A673"/>
              </a:solidFill>
              <a:ln>
                <a:noFill/>
              </a:ln>
            </p:spPr>
          </p:sp>
          <p:sp>
            <p:nvSpPr>
              <p:cNvPr id="46" name="TextBox 46"/>
              <p:cNvSpPr txBox="1"/>
              <p:nvPr/>
            </p:nvSpPr>
            <p:spPr>
              <a:xfrm>
                <a:off x="7323558" y="3039428"/>
                <a:ext cx="402384" cy="213360"/>
              </a:xfrm>
              <a:prstGeom prst="rect">
                <a:avLst/>
              </a:prstGeom>
              <a:noFill/>
              <a:ln>
                <a:noFill/>
              </a:ln>
            </p:spPr>
            <p:txBody>
              <a:bodyPr wrap="none" lIns="0" tIns="0" rIns="0" bIns="0" anchor="t" anchorCtr="0">
                <a:spAutoFit/>
              </a:bodyPr>
              <a:lstStyle/>
              <a:p>
                <a:pPr algn="ctr"/>
                <a:r>
                  <a:rPr lang="zh-CN" sz="1050" dirty="0">
                    <a:solidFill>
                      <a:srgbClr val="17A673"/>
                    </a:solidFill>
                    <a:latin typeface="Calibri"/>
                    <a:ea typeface="Microsoft YaHei"/>
                    <a:cs typeface="Calibri"/>
                  </a:rPr>
                  <a:t>8 min</a:t>
                </a:r>
              </a:p>
            </p:txBody>
          </p:sp>
        </p:grpSp>
        <p:grpSp>
          <p:nvGrpSpPr>
            <p:cNvPr id="54" name="Group 54"/>
            <p:cNvGrpSpPr/>
            <p:nvPr/>
          </p:nvGrpSpPr>
          <p:grpSpPr>
            <a:xfrm>
              <a:off x="4460558" y="3801428"/>
              <a:ext cx="6016942" cy="463391"/>
              <a:chOff x="4460558" y="3801428"/>
              <a:chExt cx="6016942" cy="463391"/>
            </a:xfrm>
          </p:grpSpPr>
          <p:sp>
            <p:nvSpPr>
              <p:cNvPr id="48" name="TextBox 48"/>
              <p:cNvSpPr txBox="1"/>
              <p:nvPr/>
            </p:nvSpPr>
            <p:spPr>
              <a:xfrm>
                <a:off x="4460558" y="4005739"/>
                <a:ext cx="1283741" cy="259080"/>
              </a:xfrm>
              <a:prstGeom prst="rect">
                <a:avLst/>
              </a:prstGeom>
              <a:noFill/>
              <a:ln>
                <a:noFill/>
              </a:ln>
            </p:spPr>
            <p:txBody>
              <a:bodyPr wrap="none" lIns="0" tIns="0" rIns="0" bIns="0" anchor="t" anchorCtr="0">
                <a:spAutoFit/>
              </a:bodyPr>
              <a:lstStyle/>
              <a:p>
                <a:pPr algn="l"/>
                <a:r>
                  <a:rPr lang="zh-CN" sz="1275" b="1" dirty="0">
                    <a:solidFill>
                      <a:srgbClr val="17212B"/>
                    </a:solidFill>
                    <a:latin typeface="Arial"/>
                    <a:ea typeface="Microsoft YaHei"/>
                    <a:cs typeface="Arial"/>
                  </a:rPr>
                  <a:t>Venue quality</a:t>
                </a:r>
              </a:p>
            </p:txBody>
          </p:sp>
          <p:sp>
            <p:nvSpPr>
              <p:cNvPr id="49" name="Line 49"/>
              <p:cNvSpPr/>
              <p:nvPr/>
            </p:nvSpPr>
            <p:spPr>
              <a:xfrm>
                <a:off x="6000750" y="4095750"/>
                <a:ext cx="4476750" cy="9525"/>
              </a:xfrm>
              <a:custGeom>
                <a:avLst/>
                <a:gdLst/>
                <a:ahLst/>
                <a:cxnLst/>
                <a:rect l="l" t="t" r="r" b="b"/>
                <a:pathLst>
                  <a:path w="4476750" h="9525">
                    <a:moveTo>
                      <a:pt x="0" y="0"/>
                    </a:moveTo>
                    <a:lnTo>
                      <a:pt x="4476750" y="0"/>
                    </a:lnTo>
                  </a:path>
                </a:pathLst>
              </a:custGeom>
              <a:noFill/>
              <a:ln w="47625" cap="rnd">
                <a:solidFill>
                  <a:srgbClr val="CED8D3"/>
                </a:solidFill>
              </a:ln>
            </p:spPr>
          </p:sp>
          <p:sp>
            <p:nvSpPr>
              <p:cNvPr id="50" name="Ellipse 50"/>
              <p:cNvSpPr/>
              <p:nvPr/>
            </p:nvSpPr>
            <p:spPr>
              <a:xfrm>
                <a:off x="9010650" y="3962400"/>
                <a:ext cx="266700" cy="266700"/>
              </a:xfrm>
              <a:prstGeom prst="ellipse">
                <a:avLst/>
              </a:prstGeom>
              <a:solidFill>
                <a:srgbClr val="12304A"/>
              </a:solidFill>
              <a:ln>
                <a:noFill/>
              </a:ln>
            </p:spPr>
          </p:sp>
          <p:sp>
            <p:nvSpPr>
              <p:cNvPr id="51" name="TextBox 51"/>
              <p:cNvSpPr txBox="1"/>
              <p:nvPr/>
            </p:nvSpPr>
            <p:spPr>
              <a:xfrm>
                <a:off x="9004149" y="3801428"/>
                <a:ext cx="279702" cy="213360"/>
              </a:xfrm>
              <a:prstGeom prst="rect">
                <a:avLst/>
              </a:prstGeom>
              <a:noFill/>
              <a:ln>
                <a:noFill/>
              </a:ln>
            </p:spPr>
            <p:txBody>
              <a:bodyPr wrap="none" lIns="0" tIns="0" rIns="0" bIns="0" anchor="t" anchorCtr="0">
                <a:spAutoFit/>
              </a:bodyPr>
              <a:lstStyle/>
              <a:p>
                <a:pPr algn="ctr"/>
                <a:r>
                  <a:rPr lang="zh-CN" sz="1050" dirty="0">
                    <a:solidFill>
                      <a:srgbClr val="12304A"/>
                    </a:solidFill>
                    <a:latin typeface="Calibri"/>
                    <a:ea typeface="Microsoft YaHei"/>
                    <a:cs typeface="Calibri"/>
                  </a:rPr>
                  <a:t>4.7</a:t>
                </a:r>
              </a:p>
            </p:txBody>
          </p:sp>
          <p:sp>
            <p:nvSpPr>
              <p:cNvPr id="52" name="Ellipse 52"/>
              <p:cNvSpPr/>
              <p:nvPr/>
            </p:nvSpPr>
            <p:spPr>
              <a:xfrm>
                <a:off x="8629650" y="3962400"/>
                <a:ext cx="266700" cy="266700"/>
              </a:xfrm>
              <a:prstGeom prst="ellipse">
                <a:avLst/>
              </a:prstGeom>
              <a:solidFill>
                <a:srgbClr val="17A673"/>
              </a:solidFill>
              <a:ln>
                <a:noFill/>
              </a:ln>
            </p:spPr>
          </p:sp>
          <p:sp>
            <p:nvSpPr>
              <p:cNvPr id="53" name="TextBox 53"/>
              <p:cNvSpPr txBox="1"/>
              <p:nvPr/>
            </p:nvSpPr>
            <p:spPr>
              <a:xfrm>
                <a:off x="8623149" y="3801428"/>
                <a:ext cx="279702" cy="213360"/>
              </a:xfrm>
              <a:prstGeom prst="rect">
                <a:avLst/>
              </a:prstGeom>
              <a:noFill/>
              <a:ln>
                <a:noFill/>
              </a:ln>
            </p:spPr>
            <p:txBody>
              <a:bodyPr wrap="none" lIns="0" tIns="0" rIns="0" bIns="0" anchor="t" anchorCtr="0">
                <a:spAutoFit/>
              </a:bodyPr>
              <a:lstStyle/>
              <a:p>
                <a:pPr algn="ctr"/>
                <a:r>
                  <a:rPr lang="zh-CN" sz="1050" dirty="0">
                    <a:solidFill>
                      <a:srgbClr val="17A673"/>
                    </a:solidFill>
                    <a:latin typeface="Calibri"/>
                    <a:ea typeface="Microsoft YaHei"/>
                    <a:cs typeface="Calibri"/>
                  </a:rPr>
                  <a:t>4.6</a:t>
                </a:r>
              </a:p>
            </p:txBody>
          </p:sp>
        </p:grpSp>
        <p:grpSp>
          <p:nvGrpSpPr>
            <p:cNvPr id="61" name="Group 61"/>
            <p:cNvGrpSpPr/>
            <p:nvPr/>
          </p:nvGrpSpPr>
          <p:grpSpPr>
            <a:xfrm>
              <a:off x="4460558" y="4563428"/>
              <a:ext cx="6016942" cy="463391"/>
              <a:chOff x="4460558" y="4563428"/>
              <a:chExt cx="6016942" cy="463391"/>
            </a:xfrm>
          </p:grpSpPr>
          <p:sp>
            <p:nvSpPr>
              <p:cNvPr id="55" name="TextBox 55"/>
              <p:cNvSpPr txBox="1"/>
              <p:nvPr/>
            </p:nvSpPr>
            <p:spPr>
              <a:xfrm>
                <a:off x="4460558" y="4767739"/>
                <a:ext cx="1019783" cy="259080"/>
              </a:xfrm>
              <a:prstGeom prst="rect">
                <a:avLst/>
              </a:prstGeom>
              <a:noFill/>
              <a:ln>
                <a:noFill/>
              </a:ln>
            </p:spPr>
            <p:txBody>
              <a:bodyPr wrap="none" lIns="0" tIns="0" rIns="0" bIns="0" anchor="t" anchorCtr="0">
                <a:spAutoFit/>
              </a:bodyPr>
              <a:lstStyle/>
              <a:p>
                <a:pPr algn="l"/>
                <a:r>
                  <a:rPr lang="zh-CN" sz="1275" b="1" dirty="0">
                    <a:solidFill>
                      <a:srgbClr val="17212B"/>
                    </a:solidFill>
                    <a:latin typeface="Arial"/>
                    <a:ea typeface="Microsoft YaHei"/>
                    <a:cs typeface="Arial"/>
                  </a:rPr>
                  <a:t>Final price</a:t>
                </a:r>
              </a:p>
            </p:txBody>
          </p:sp>
          <p:sp>
            <p:nvSpPr>
              <p:cNvPr id="56" name="Line 56"/>
              <p:cNvSpPr/>
              <p:nvPr/>
            </p:nvSpPr>
            <p:spPr>
              <a:xfrm>
                <a:off x="6000750" y="4857750"/>
                <a:ext cx="4476750" cy="9525"/>
              </a:xfrm>
              <a:custGeom>
                <a:avLst/>
                <a:gdLst/>
                <a:ahLst/>
                <a:cxnLst/>
                <a:rect l="l" t="t" r="r" b="b"/>
                <a:pathLst>
                  <a:path w="4476750" h="9525">
                    <a:moveTo>
                      <a:pt x="0" y="0"/>
                    </a:moveTo>
                    <a:lnTo>
                      <a:pt x="4476750" y="0"/>
                    </a:lnTo>
                  </a:path>
                </a:pathLst>
              </a:custGeom>
              <a:noFill/>
              <a:ln w="47625" cap="rnd">
                <a:solidFill>
                  <a:srgbClr val="CED8D3"/>
                </a:solidFill>
              </a:ln>
            </p:spPr>
          </p:sp>
          <p:sp>
            <p:nvSpPr>
              <p:cNvPr id="57" name="Ellipse 57"/>
              <p:cNvSpPr/>
              <p:nvPr/>
            </p:nvSpPr>
            <p:spPr>
              <a:xfrm>
                <a:off x="9486900" y="4724400"/>
                <a:ext cx="266700" cy="266700"/>
              </a:xfrm>
              <a:prstGeom prst="ellipse">
                <a:avLst/>
              </a:prstGeom>
              <a:solidFill>
                <a:srgbClr val="12304A"/>
              </a:solidFill>
              <a:ln>
                <a:noFill/>
              </a:ln>
            </p:spPr>
          </p:sp>
          <p:sp>
            <p:nvSpPr>
              <p:cNvPr id="58" name="TextBox 58"/>
              <p:cNvSpPr txBox="1"/>
              <p:nvPr/>
            </p:nvSpPr>
            <p:spPr>
              <a:xfrm>
                <a:off x="9438227" y="4563428"/>
                <a:ext cx="364046" cy="213360"/>
              </a:xfrm>
              <a:prstGeom prst="rect">
                <a:avLst/>
              </a:prstGeom>
              <a:noFill/>
              <a:ln>
                <a:noFill/>
              </a:ln>
            </p:spPr>
            <p:txBody>
              <a:bodyPr wrap="none" lIns="0" tIns="0" rIns="0" bIns="0" anchor="t" anchorCtr="0">
                <a:spAutoFit/>
              </a:bodyPr>
              <a:lstStyle/>
              <a:p>
                <a:pPr algn="ctr"/>
                <a:r>
                  <a:rPr lang="zh-CN" sz="1050" dirty="0">
                    <a:solidFill>
                      <a:srgbClr val="12304A"/>
                    </a:solidFill>
                    <a:latin typeface="Calibri"/>
                    <a:ea typeface="Microsoft YaHei"/>
                    <a:cs typeface="Calibri"/>
                  </a:rPr>
                  <a:t>200k</a:t>
                </a:r>
              </a:p>
            </p:txBody>
          </p:sp>
          <p:sp>
            <p:nvSpPr>
              <p:cNvPr id="59" name="Ellipse 59"/>
              <p:cNvSpPr/>
              <p:nvPr/>
            </p:nvSpPr>
            <p:spPr>
              <a:xfrm>
                <a:off x="7105650" y="4724400"/>
                <a:ext cx="266700" cy="266700"/>
              </a:xfrm>
              <a:prstGeom prst="ellipse">
                <a:avLst/>
              </a:prstGeom>
              <a:solidFill>
                <a:srgbClr val="17A673"/>
              </a:solidFill>
              <a:ln>
                <a:noFill/>
              </a:ln>
            </p:spPr>
          </p:sp>
          <p:sp>
            <p:nvSpPr>
              <p:cNvPr id="60" name="TextBox 60"/>
              <p:cNvSpPr txBox="1"/>
              <p:nvPr/>
            </p:nvSpPr>
            <p:spPr>
              <a:xfrm>
                <a:off x="7076146" y="4563428"/>
                <a:ext cx="325707" cy="213360"/>
              </a:xfrm>
              <a:prstGeom prst="rect">
                <a:avLst/>
              </a:prstGeom>
              <a:noFill/>
              <a:ln>
                <a:noFill/>
              </a:ln>
            </p:spPr>
            <p:txBody>
              <a:bodyPr wrap="none" lIns="0" tIns="0" rIns="0" bIns="0" anchor="t" anchorCtr="0">
                <a:spAutoFit/>
              </a:bodyPr>
              <a:lstStyle/>
              <a:p>
                <a:pPr algn="ctr"/>
                <a:r>
                  <a:rPr lang="zh-CN" sz="1050" dirty="0">
                    <a:solidFill>
                      <a:srgbClr val="17A673"/>
                    </a:solidFill>
                    <a:latin typeface="Calibri"/>
                    <a:ea typeface="Microsoft YaHei"/>
                    <a:cs typeface="Calibri"/>
                  </a:rPr>
                  <a:t>160k</a:t>
                </a:r>
              </a:p>
            </p:txBody>
          </p:sp>
        </p:grpSp>
        <p:sp>
          <p:nvSpPr>
            <p:cNvPr id="62" name="Freeform 62"/>
            <p:cNvSpPr/>
            <p:nvPr/>
          </p:nvSpPr>
          <p:spPr>
            <a:xfrm>
              <a:off x="4476750" y="5314950"/>
              <a:ext cx="6877050" cy="457200"/>
            </a:xfrm>
            <a:custGeom>
              <a:avLst/>
              <a:gdLst/>
              <a:ahLst/>
              <a:cxnLst/>
              <a:rect l="l" t="t" r="r" b="b"/>
              <a:pathLst>
                <a:path w="6877050" h="457200">
                  <a:moveTo>
                    <a:pt x="95250" y="0"/>
                  </a:moveTo>
                  <a:lnTo>
                    <a:pt x="6781800" y="0"/>
                  </a:lnTo>
                  <a:cubicBezTo>
                    <a:pt x="6834405" y="0"/>
                    <a:pt x="6877050" y="42645"/>
                    <a:pt x="6877050" y="95250"/>
                  </a:cubicBezTo>
                  <a:lnTo>
                    <a:pt x="6877050" y="361950"/>
                  </a:lnTo>
                  <a:cubicBezTo>
                    <a:pt x="6877050" y="414555"/>
                    <a:pt x="6834405" y="457200"/>
                    <a:pt x="6781800" y="457200"/>
                  </a:cubicBezTo>
                  <a:lnTo>
                    <a:pt x="95250" y="457200"/>
                  </a:lnTo>
                  <a:cubicBezTo>
                    <a:pt x="42645" y="457200"/>
                    <a:pt x="0" y="414555"/>
                    <a:pt x="0" y="361950"/>
                  </a:cubicBezTo>
                  <a:lnTo>
                    <a:pt x="0" y="95250"/>
                  </a:lnTo>
                  <a:cubicBezTo>
                    <a:pt x="0" y="42645"/>
                    <a:pt x="42645" y="0"/>
                    <a:pt x="95250" y="0"/>
                  </a:cubicBezTo>
                  <a:close/>
                </a:path>
              </a:pathLst>
            </a:custGeom>
            <a:solidFill>
              <a:srgbClr val="B7E43C">
                <a:alpha val="24000"/>
              </a:srgbClr>
            </a:solidFill>
            <a:ln>
              <a:noFill/>
            </a:ln>
          </p:spPr>
        </p:sp>
        <p:sp>
          <p:nvSpPr>
            <p:cNvPr id="63" name="TextBox 63"/>
            <p:cNvSpPr txBox="1"/>
            <p:nvPr/>
          </p:nvSpPr>
          <p:spPr>
            <a:xfrm>
              <a:off x="4948011" y="5454968"/>
              <a:ext cx="5934527" cy="274320"/>
            </a:xfrm>
            <a:prstGeom prst="rect">
              <a:avLst/>
            </a:prstGeom>
            <a:noFill/>
            <a:ln>
              <a:noFill/>
            </a:ln>
          </p:spPr>
          <p:txBody>
            <a:bodyPr wrap="none" lIns="0" tIns="0" rIns="0" bIns="0" anchor="t" anchorCtr="0">
              <a:spAutoFit/>
            </a:bodyPr>
            <a:lstStyle/>
            <a:p>
              <a:pPr algn="ctr"/>
              <a:r>
                <a:rPr lang="zh-CN" sz="1350" b="1" dirty="0">
                  <a:solidFill>
                    <a:srgbClr val="12304A"/>
                  </a:solidFill>
                  <a:latin typeface="Arial"/>
                  <a:ea typeface="Microsoft YaHei"/>
                  <a:cs typeface="Arial"/>
                </a:rPr>
                <a:t>One hour earlier + three extra minutes = 40,000 VND saved</a:t>
              </a:r>
            </a:p>
          </p:txBody>
        </p:sp>
      </p:grpSp>
      <p:grpSp>
        <p:nvGrpSpPr>
          <p:cNvPr id="67" name="Group 67"/>
          <p:cNvGrpSpPr/>
          <p:nvPr/>
        </p:nvGrpSpPr>
        <p:grpSpPr>
          <a:xfrm>
            <a:off x="522922" y="6483191"/>
            <a:ext cx="11146155" cy="167640"/>
            <a:chOff x="522922" y="6483191"/>
            <a:chExt cx="11146155" cy="167640"/>
          </a:xfrm>
        </p:grpSpPr>
        <p:sp>
          <p:nvSpPr>
            <p:cNvPr id="65" name="TextBox 65"/>
            <p:cNvSpPr txBox="1"/>
            <p:nvPr/>
          </p:nvSpPr>
          <p:spPr>
            <a:xfrm>
              <a:off x="522922" y="6483191"/>
              <a:ext cx="3647742" cy="167640"/>
            </a:xfrm>
            <a:prstGeom prst="rect">
              <a:avLst/>
            </a:prstGeom>
            <a:noFill/>
            <a:ln>
              <a:noFill/>
            </a:ln>
          </p:spPr>
          <p:txBody>
            <a:bodyPr wrap="none" lIns="0" tIns="0" rIns="0" bIns="0" anchor="t" anchorCtr="0">
              <a:spAutoFit/>
            </a:bodyPr>
            <a:lstStyle/>
            <a:p>
              <a:pPr algn="l"/>
              <a:r>
                <a:rPr lang="zh-CN" sz="825" dirty="0">
                  <a:solidFill>
                    <a:srgbClr val="89949C"/>
                  </a:solidFill>
                  <a:latin typeface="Calibri"/>
                  <a:ea typeface="Microsoft YaHei"/>
                  <a:cs typeface="Calibri"/>
                </a:rPr>
                <a:t>Illustrative recommendation trade-off for prototype testing</a:t>
              </a:r>
            </a:p>
          </p:txBody>
        </p:sp>
        <p:sp>
          <p:nvSpPr>
            <p:cNvPr id="66" name="TextBox 66"/>
            <p:cNvSpPr txBox="1"/>
            <p:nvPr/>
          </p:nvSpPr>
          <p:spPr>
            <a:xfrm>
              <a:off x="11515582" y="6483191"/>
              <a:ext cx="153495" cy="167640"/>
            </a:xfrm>
            <a:prstGeom prst="rect">
              <a:avLst/>
            </a:prstGeom>
            <a:noFill/>
            <a:ln>
              <a:noFill/>
            </a:ln>
          </p:spPr>
          <p:txBody>
            <a:bodyPr wrap="none" lIns="0" tIns="0" rIns="0" bIns="0" anchor="t" anchorCtr="0">
              <a:spAutoFit/>
            </a:bodyPr>
            <a:lstStyle/>
            <a:p>
              <a:pPr algn="r"/>
              <a:r>
                <a:rPr lang="zh-CN" sz="825" dirty="0">
                  <a:solidFill>
                    <a:srgbClr val="89949C"/>
                  </a:solidFill>
                  <a:latin typeface="Arial"/>
                  <a:ea typeface="Microsoft YaHei"/>
                  <a:cs typeface="Arial"/>
                </a:rPr>
                <a:t>05</a:t>
              </a:r>
            </a:p>
          </p:txBody>
        </p:sp>
      </p:grpSp>
    </p:spTree>
  </p:cSld>
  <p:clrMapOvr>
    <a:masterClrMapping/>
  </p:clrMapOvr>
  <p:transition 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8F7"/>
          </a:solidFill>
          <a:ln>
            <a:noFill/>
          </a:ln>
        </p:spPr>
      </p:sp>
      <p:sp>
        <p:nvSpPr>
          <p:cNvPr id="3" name="Rectangle 3"/>
          <p:cNvSpPr/>
          <p:nvPr/>
        </p:nvSpPr>
        <p:spPr>
          <a:xfrm>
            <a:off x="0" y="0"/>
            <a:ext cx="12192000" cy="66675"/>
          </a:xfrm>
          <a:prstGeom prst="rect">
            <a:avLst/>
          </a:prstGeom>
          <a:solidFill>
            <a:srgbClr val="17A673"/>
          </a:solidFill>
          <a:ln>
            <a:noFill/>
          </a:ln>
        </p:spPr>
      </p:sp>
      <p:grpSp>
        <p:nvGrpSpPr>
          <p:cNvPr id="7" name="Group 7"/>
          <p:cNvGrpSpPr/>
          <p:nvPr/>
        </p:nvGrpSpPr>
        <p:grpSpPr>
          <a:xfrm>
            <a:off x="501015" y="248602"/>
            <a:ext cx="12547718" cy="970598"/>
            <a:chOff x="501015" y="248602"/>
            <a:chExt cx="12547718" cy="970598"/>
          </a:xfrm>
        </p:grpSpPr>
        <p:sp>
          <p:nvSpPr>
            <p:cNvPr id="4" name="TextBox 4"/>
            <p:cNvSpPr txBox="1"/>
            <p:nvPr/>
          </p:nvSpPr>
          <p:spPr>
            <a:xfrm>
              <a:off x="501015" y="248602"/>
              <a:ext cx="10955481" cy="518160"/>
            </a:xfrm>
            <a:prstGeom prst="rect">
              <a:avLst/>
            </a:prstGeom>
            <a:noFill/>
            <a:ln>
              <a:noFill/>
            </a:ln>
          </p:spPr>
          <p:txBody>
            <a:bodyPr wrap="none" lIns="0" tIns="0" rIns="0" bIns="0" anchor="t" anchorCtr="0">
              <a:spAutoFit/>
            </a:bodyPr>
            <a:lstStyle/>
            <a:p>
              <a:pPr algn="l"/>
              <a:r>
                <a:rPr lang="zh-CN" sz="2550" b="1" dirty="0">
                  <a:solidFill>
                    <a:srgbClr val="12304A"/>
                  </a:solidFill>
                  <a:latin typeface="Arial"/>
                  <a:ea typeface="Microsoft YaHei"/>
                  <a:cs typeface="Arial"/>
                </a:rPr>
                <a:t>Test Whether Transparent Alternatives Can Shift Demand</a:t>
              </a:r>
            </a:p>
          </p:txBody>
        </p:sp>
        <p:sp>
          <p:nvSpPr>
            <p:cNvPr id="5" name="Freeform 5"/>
            <p:cNvSpPr/>
            <p:nvPr/>
          </p:nvSpPr>
          <p:spPr>
            <a:xfrm>
              <a:off x="533400" y="723900"/>
              <a:ext cx="11125200" cy="495300"/>
            </a:xfrm>
            <a:custGeom>
              <a:avLst/>
              <a:gdLst/>
              <a:ahLst/>
              <a:cxnLst/>
              <a:rect l="l" t="t" r="r" b="b"/>
              <a:pathLst>
                <a:path w="11125200" h="495300">
                  <a:moveTo>
                    <a:pt x="76200" y="0"/>
                  </a:moveTo>
                  <a:lnTo>
                    <a:pt x="11049000" y="0"/>
                  </a:lnTo>
                  <a:cubicBezTo>
                    <a:pt x="11091084" y="0"/>
                    <a:pt x="11125200" y="34116"/>
                    <a:pt x="11125200" y="76200"/>
                  </a:cubicBezTo>
                  <a:lnTo>
                    <a:pt x="11125200" y="419100"/>
                  </a:lnTo>
                  <a:cubicBezTo>
                    <a:pt x="11125200" y="461184"/>
                    <a:pt x="11091084" y="495300"/>
                    <a:pt x="11049000" y="495300"/>
                  </a:cubicBezTo>
                  <a:lnTo>
                    <a:pt x="76200" y="495300"/>
                  </a:lnTo>
                  <a:cubicBezTo>
                    <a:pt x="34116" y="495300"/>
                    <a:pt x="0" y="461184"/>
                    <a:pt x="0" y="419100"/>
                  </a:cubicBezTo>
                  <a:lnTo>
                    <a:pt x="0" y="76200"/>
                  </a:lnTo>
                  <a:cubicBezTo>
                    <a:pt x="0" y="34116"/>
                    <a:pt x="34116" y="0"/>
                    <a:pt x="76200" y="0"/>
                  </a:cubicBezTo>
                  <a:close/>
                </a:path>
              </a:pathLst>
            </a:custGeom>
            <a:solidFill>
              <a:srgbClr val="12304A"/>
            </a:solidFill>
            <a:ln>
              <a:noFill/>
            </a:ln>
          </p:spPr>
        </p:sp>
        <p:sp>
          <p:nvSpPr>
            <p:cNvPr id="6" name="TextBox 6"/>
            <p:cNvSpPr txBox="1"/>
            <p:nvPr/>
          </p:nvSpPr>
          <p:spPr>
            <a:xfrm>
              <a:off x="706755" y="882968"/>
              <a:ext cx="12341978"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Calibri"/>
                  <a:ea typeface="Microsoft YaHei"/>
                  <a:cs typeface="Calibri"/>
                </a:rPr>
                <a:t>Hypothesis: players will accept a different court-hour when schedule, travel, quality, and savings are clearly explained.</a:t>
              </a:r>
            </a:p>
          </p:txBody>
        </p:sp>
      </p:grpSp>
      <p:grpSp>
        <p:nvGrpSpPr>
          <p:cNvPr id="29" name="Group 29"/>
          <p:cNvGrpSpPr/>
          <p:nvPr/>
        </p:nvGrpSpPr>
        <p:grpSpPr>
          <a:xfrm>
            <a:off x="876300" y="1466850"/>
            <a:ext cx="2724150" cy="4267200"/>
            <a:chOff x="876300" y="1466850"/>
            <a:chExt cx="2724150" cy="4267200"/>
          </a:xfrm>
          <a:effectLst>
            <a:outerShdw blurRad="171450" dist="57150" dir="10799427" algn="tl" rotWithShape="0">
              <a:srgbClr val="12304A">
                <a:alpha val="17000"/>
              </a:srgbClr>
            </a:outerShdw>
          </a:effectLst>
        </p:grpSpPr>
        <p:sp>
          <p:nvSpPr>
            <p:cNvPr id="8" name="Freeform 8"/>
            <p:cNvSpPr/>
            <p:nvPr/>
          </p:nvSpPr>
          <p:spPr>
            <a:xfrm>
              <a:off x="876300" y="1466850"/>
              <a:ext cx="2724150" cy="4267200"/>
            </a:xfrm>
            <a:custGeom>
              <a:avLst/>
              <a:gdLst/>
              <a:ahLst/>
              <a:cxnLst/>
              <a:rect l="l" t="t" r="r" b="b"/>
              <a:pathLst>
                <a:path w="2724150" h="4267200">
                  <a:moveTo>
                    <a:pt x="323850" y="0"/>
                  </a:moveTo>
                  <a:lnTo>
                    <a:pt x="2400300" y="0"/>
                  </a:lnTo>
                  <a:cubicBezTo>
                    <a:pt x="2579157" y="0"/>
                    <a:pt x="2724150" y="144993"/>
                    <a:pt x="2724150" y="323850"/>
                  </a:cubicBezTo>
                  <a:lnTo>
                    <a:pt x="2724150" y="3943350"/>
                  </a:lnTo>
                  <a:cubicBezTo>
                    <a:pt x="2724150" y="4122207"/>
                    <a:pt x="2579157" y="4267200"/>
                    <a:pt x="2400300" y="4267200"/>
                  </a:cubicBezTo>
                  <a:lnTo>
                    <a:pt x="323850" y="4267200"/>
                  </a:lnTo>
                  <a:cubicBezTo>
                    <a:pt x="144993" y="4267200"/>
                    <a:pt x="0" y="4122207"/>
                    <a:pt x="0" y="3943350"/>
                  </a:cubicBezTo>
                  <a:lnTo>
                    <a:pt x="0" y="323850"/>
                  </a:lnTo>
                  <a:cubicBezTo>
                    <a:pt x="0" y="144993"/>
                    <a:pt x="144993" y="0"/>
                    <a:pt x="323850" y="0"/>
                  </a:cubicBezTo>
                  <a:close/>
                </a:path>
              </a:pathLst>
            </a:custGeom>
            <a:solidFill>
              <a:srgbClr val="17212B"/>
            </a:solidFill>
            <a:ln>
              <a:noFill/>
            </a:ln>
            <a:effectLst>
              <a:outerShdw blurRad="171450" dist="57150" dir="10799427" algn="tl" rotWithShape="0">
                <a:srgbClr val="12304A">
                  <a:alpha val="17000"/>
                </a:srgbClr>
              </a:outerShdw>
            </a:effectLst>
          </p:spPr>
        </p:sp>
        <p:sp>
          <p:nvSpPr>
            <p:cNvPr id="9" name="Freeform 9"/>
            <p:cNvSpPr/>
            <p:nvPr/>
          </p:nvSpPr>
          <p:spPr>
            <a:xfrm>
              <a:off x="1009650" y="1619250"/>
              <a:ext cx="2457450" cy="3962400"/>
            </a:xfrm>
            <a:custGeom>
              <a:avLst/>
              <a:gdLst/>
              <a:ahLst/>
              <a:cxnLst/>
              <a:rect l="l" t="t" r="r" b="b"/>
              <a:pathLst>
                <a:path w="2457450" h="3962400">
                  <a:moveTo>
                    <a:pt x="228600" y="0"/>
                  </a:moveTo>
                  <a:lnTo>
                    <a:pt x="2228850" y="0"/>
                  </a:lnTo>
                  <a:cubicBezTo>
                    <a:pt x="2355102" y="0"/>
                    <a:pt x="2457450" y="102348"/>
                    <a:pt x="2457450" y="228600"/>
                  </a:cubicBezTo>
                  <a:lnTo>
                    <a:pt x="2457450" y="3733800"/>
                  </a:lnTo>
                  <a:cubicBezTo>
                    <a:pt x="2457450" y="3860052"/>
                    <a:pt x="2355102" y="3962400"/>
                    <a:pt x="2228850" y="3962400"/>
                  </a:cubicBezTo>
                  <a:lnTo>
                    <a:pt x="228600" y="3962400"/>
                  </a:lnTo>
                  <a:cubicBezTo>
                    <a:pt x="102348" y="3962400"/>
                    <a:pt x="0" y="3860052"/>
                    <a:pt x="0" y="3733800"/>
                  </a:cubicBezTo>
                  <a:lnTo>
                    <a:pt x="0" y="228600"/>
                  </a:lnTo>
                  <a:cubicBezTo>
                    <a:pt x="0" y="102348"/>
                    <a:pt x="102348" y="0"/>
                    <a:pt x="228600" y="0"/>
                  </a:cubicBezTo>
                  <a:close/>
                </a:path>
              </a:pathLst>
            </a:custGeom>
            <a:solidFill>
              <a:srgbClr val="FFFFFF"/>
            </a:solidFill>
            <a:ln>
              <a:noFill/>
            </a:ln>
            <a:effectLst>
              <a:outerShdw blurRad="171450" dist="57150" dir="10799427" algn="tl" rotWithShape="0">
                <a:srgbClr val="12304A">
                  <a:alpha val="17000"/>
                </a:srgbClr>
              </a:outerShdw>
            </a:effectLst>
          </p:spPr>
        </p:sp>
        <p:sp>
          <p:nvSpPr>
            <p:cNvPr id="10" name="Freeform 10"/>
            <p:cNvSpPr/>
            <p:nvPr/>
          </p:nvSpPr>
          <p:spPr>
            <a:xfrm>
              <a:off x="1809750" y="1695450"/>
              <a:ext cx="857250" cy="76200"/>
            </a:xfrm>
            <a:custGeom>
              <a:avLst/>
              <a:gdLst/>
              <a:ahLst/>
              <a:cxnLst/>
              <a:rect l="l" t="t" r="r" b="b"/>
              <a:pathLst>
                <a:path w="857250" h="76200">
                  <a:moveTo>
                    <a:pt x="38100" y="0"/>
                  </a:moveTo>
                  <a:lnTo>
                    <a:pt x="819150" y="0"/>
                  </a:lnTo>
                  <a:cubicBezTo>
                    <a:pt x="840192" y="0"/>
                    <a:pt x="857250" y="17058"/>
                    <a:pt x="857250" y="38100"/>
                  </a:cubicBezTo>
                  <a:lnTo>
                    <a:pt x="857250" y="38100"/>
                  </a:lnTo>
                  <a:cubicBezTo>
                    <a:pt x="857250" y="59142"/>
                    <a:pt x="840192" y="76200"/>
                    <a:pt x="819150" y="76200"/>
                  </a:cubicBezTo>
                  <a:lnTo>
                    <a:pt x="38100" y="76200"/>
                  </a:lnTo>
                  <a:cubicBezTo>
                    <a:pt x="17058" y="76200"/>
                    <a:pt x="0" y="59142"/>
                    <a:pt x="0" y="38100"/>
                  </a:cubicBezTo>
                  <a:lnTo>
                    <a:pt x="0" y="38100"/>
                  </a:lnTo>
                  <a:cubicBezTo>
                    <a:pt x="0" y="17058"/>
                    <a:pt x="17058" y="0"/>
                    <a:pt x="38100" y="0"/>
                  </a:cubicBezTo>
                  <a:close/>
                </a:path>
              </a:pathLst>
            </a:custGeom>
            <a:solidFill>
              <a:srgbClr val="CED8D3"/>
            </a:solidFill>
            <a:ln>
              <a:noFill/>
            </a:ln>
            <a:effectLst>
              <a:outerShdw blurRad="171450" dist="57150" dir="10799427" algn="tl" rotWithShape="0">
                <a:srgbClr val="12304A">
                  <a:alpha val="17000"/>
                </a:srgbClr>
              </a:outerShdw>
            </a:effectLst>
          </p:spPr>
        </p:sp>
        <p:sp>
          <p:nvSpPr>
            <p:cNvPr id="11" name="TextBox 11"/>
            <p:cNvSpPr txBox="1"/>
            <p:nvPr/>
          </p:nvSpPr>
          <p:spPr>
            <a:xfrm>
              <a:off x="1200150" y="1952625"/>
              <a:ext cx="1383768" cy="304800"/>
            </a:xfrm>
            <a:prstGeom prst="rect">
              <a:avLst/>
            </a:prstGeom>
            <a:noFill/>
            <a:ln>
              <a:noFill/>
            </a:ln>
            <a:effectLst>
              <a:outerShdw blurRad="171450" dist="57150" dir="10799427" algn="tl" rotWithShape="0">
                <a:srgbClr val="12304A">
                  <a:alpha val="17000"/>
                </a:srgbClr>
              </a:outerShdw>
            </a:effectLst>
          </p:spPr>
          <p:txBody>
            <a:bodyPr wrap="none" lIns="0" tIns="0" rIns="0" bIns="0" anchor="t" anchorCtr="0">
              <a:spAutoFit/>
            </a:bodyPr>
            <a:lstStyle/>
            <a:p>
              <a:pPr algn="l"/>
              <a:r>
                <a:rPr lang="zh-CN" sz="1500" b="1" dirty="0">
                  <a:solidFill>
                    <a:srgbClr val="12304A"/>
                  </a:solidFill>
                  <a:latin typeface="Arial"/>
                  <a:ea typeface="Microsoft YaHei"/>
                  <a:cs typeface="Arial"/>
                </a:rPr>
                <a:t>Find a court</a:t>
              </a:r>
            </a:p>
          </p:txBody>
        </p:sp>
        <p:sp>
          <p:nvSpPr>
            <p:cNvPr id="12" name="TextBox 12"/>
            <p:cNvSpPr txBox="1"/>
            <p:nvPr/>
          </p:nvSpPr>
          <p:spPr>
            <a:xfrm>
              <a:off x="1206818" y="2237899"/>
              <a:ext cx="1519952" cy="198120"/>
            </a:xfrm>
            <a:prstGeom prst="rect">
              <a:avLst/>
            </a:prstGeom>
            <a:noFill/>
            <a:ln>
              <a:noFill/>
            </a:ln>
            <a:effectLst>
              <a:outerShdw blurRad="171450" dist="57150" dir="10799427" algn="tl" rotWithShape="0">
                <a:srgbClr val="12304A">
                  <a:alpha val="17000"/>
                </a:srgbClr>
              </a:outerShdw>
            </a:effectLst>
          </p:spPr>
          <p:txBody>
            <a:bodyPr wrap="none" lIns="0" tIns="0" rIns="0" bIns="0" anchor="t" anchorCtr="0">
              <a:spAutoFit/>
            </a:bodyPr>
            <a:lstStyle/>
            <a:p>
              <a:pPr algn="l"/>
              <a:r>
                <a:rPr lang="zh-CN" sz="975" dirty="0">
                  <a:solidFill>
                    <a:srgbClr val="5E6B75"/>
                  </a:solidFill>
                  <a:latin typeface="Calibri"/>
                  <a:ea typeface="Microsoft YaHei"/>
                  <a:cs typeface="Calibri"/>
                </a:rPr>
                <a:t>Badminton • 4 players</a:t>
              </a:r>
            </a:p>
          </p:txBody>
        </p:sp>
        <p:grpSp>
          <p:nvGrpSpPr>
            <p:cNvPr id="28" name="Group 28"/>
            <p:cNvGrpSpPr/>
            <p:nvPr/>
          </p:nvGrpSpPr>
          <p:grpSpPr>
            <a:xfrm>
              <a:off x="1205865" y="2571750"/>
              <a:ext cx="2282738" cy="2571750"/>
              <a:chOff x="1205865" y="2571750"/>
              <a:chExt cx="2282738" cy="2571750"/>
            </a:xfrm>
          </p:grpSpPr>
          <p:sp>
            <p:nvSpPr>
              <p:cNvPr id="13" name="Freeform 13"/>
              <p:cNvSpPr/>
              <p:nvPr/>
            </p:nvSpPr>
            <p:spPr>
              <a:xfrm>
                <a:off x="1219200" y="2571750"/>
                <a:ext cx="2038350" cy="457200"/>
              </a:xfrm>
              <a:custGeom>
                <a:avLst/>
                <a:gdLst/>
                <a:ahLst/>
                <a:cxnLst/>
                <a:rect l="l" t="t" r="r" b="b"/>
                <a:pathLst>
                  <a:path w="2038350" h="457200">
                    <a:moveTo>
                      <a:pt x="85725" y="0"/>
                    </a:moveTo>
                    <a:lnTo>
                      <a:pt x="1952625" y="0"/>
                    </a:lnTo>
                    <a:cubicBezTo>
                      <a:pt x="1999970" y="0"/>
                      <a:pt x="2038350" y="38380"/>
                      <a:pt x="2038350" y="85725"/>
                    </a:cubicBezTo>
                    <a:lnTo>
                      <a:pt x="2038350" y="371475"/>
                    </a:lnTo>
                    <a:cubicBezTo>
                      <a:pt x="2038350" y="418820"/>
                      <a:pt x="1999970" y="457200"/>
                      <a:pt x="1952625" y="457200"/>
                    </a:cubicBezTo>
                    <a:lnTo>
                      <a:pt x="85725" y="457200"/>
                    </a:lnTo>
                    <a:cubicBezTo>
                      <a:pt x="38380" y="457200"/>
                      <a:pt x="0" y="418820"/>
                      <a:pt x="0" y="371475"/>
                    </a:cubicBezTo>
                    <a:lnTo>
                      <a:pt x="0" y="85725"/>
                    </a:lnTo>
                    <a:cubicBezTo>
                      <a:pt x="0" y="38380"/>
                      <a:pt x="38380" y="0"/>
                      <a:pt x="85725" y="0"/>
                    </a:cubicBezTo>
                    <a:close/>
                  </a:path>
                </a:pathLst>
              </a:custGeom>
              <a:solidFill>
                <a:srgbClr val="EAF0ED"/>
              </a:solidFill>
              <a:ln>
                <a:noFill/>
              </a:ln>
              <a:effectLst>
                <a:outerShdw blurRad="171450" dist="57150" dir="10799427" algn="tl" rotWithShape="0">
                  <a:srgbClr val="12304A">
                    <a:alpha val="17000"/>
                  </a:srgbClr>
                </a:outerShdw>
              </a:effectLst>
            </p:spPr>
          </p:sp>
          <p:sp>
            <p:nvSpPr>
              <p:cNvPr id="14" name="Freeform 14"/>
              <p:cNvSpPr/>
              <p:nvPr/>
            </p:nvSpPr>
            <p:spPr>
              <a:xfrm>
                <a:off x="1362075" y="2686050"/>
                <a:ext cx="171450" cy="228600"/>
              </a:xfrm>
              <a:custGeom>
                <a:avLst/>
                <a:gdLst/>
                <a:ahLst/>
                <a:cxnLst/>
                <a:rect l="l" t="t" r="r" b="b"/>
                <a:pathLst>
                  <a:path w="171450" h="228600">
                    <a:moveTo>
                      <a:pt x="19701" y="146070"/>
                    </a:moveTo>
                    <a:lnTo>
                      <a:pt x="85725" y="228600"/>
                    </a:lnTo>
                    <a:lnTo>
                      <a:pt x="151749" y="146070"/>
                    </a:lnTo>
                    <a:cubicBezTo>
                      <a:pt x="164502" y="130129"/>
                      <a:pt x="171450" y="110322"/>
                      <a:pt x="171450" y="89906"/>
                    </a:cubicBezTo>
                    <a:lnTo>
                      <a:pt x="171450" y="85725"/>
                    </a:lnTo>
                    <a:cubicBezTo>
                      <a:pt x="171450" y="38380"/>
                      <a:pt x="133069" y="0"/>
                      <a:pt x="85725" y="0"/>
                    </a:cubicBezTo>
                    <a:cubicBezTo>
                      <a:pt x="38380" y="0"/>
                      <a:pt x="0" y="38380"/>
                      <a:pt x="0" y="85725"/>
                    </a:cubicBezTo>
                    <a:lnTo>
                      <a:pt x="0" y="89906"/>
                    </a:lnTo>
                    <a:cubicBezTo>
                      <a:pt x="0" y="110322"/>
                      <a:pt x="6948" y="130129"/>
                      <a:pt x="19701" y="146070"/>
                    </a:cubicBezTo>
                    <a:close/>
                    <a:moveTo>
                      <a:pt x="85725" y="114300"/>
                    </a:moveTo>
                    <a:cubicBezTo>
                      <a:pt x="101507" y="114300"/>
                      <a:pt x="114300" y="101507"/>
                      <a:pt x="114300" y="85725"/>
                    </a:cubicBezTo>
                    <a:cubicBezTo>
                      <a:pt x="114300" y="69943"/>
                      <a:pt x="101507" y="57150"/>
                      <a:pt x="85725" y="57150"/>
                    </a:cubicBezTo>
                    <a:cubicBezTo>
                      <a:pt x="69943" y="57150"/>
                      <a:pt x="57150" y="69943"/>
                      <a:pt x="57150" y="85725"/>
                    </a:cubicBezTo>
                    <a:cubicBezTo>
                      <a:pt x="57150" y="101507"/>
                      <a:pt x="69943" y="114300"/>
                      <a:pt x="85725" y="114300"/>
                    </a:cubicBezTo>
                    <a:close/>
                  </a:path>
                </a:pathLst>
              </a:custGeom>
              <a:solidFill>
                <a:srgbClr val="12304A"/>
              </a:solidFill>
              <a:ln>
                <a:noFill/>
              </a:ln>
              <a:effectLst>
                <a:outerShdw blurRad="171450" dist="57150" dir="10799427" algn="tl" rotWithShape="0">
                  <a:srgbClr val="12304A">
                    <a:alpha val="17000"/>
                  </a:srgbClr>
                </a:outerShdw>
              </a:effectLst>
            </p:spPr>
          </p:sp>
          <p:sp>
            <p:nvSpPr>
              <p:cNvPr id="15" name="TextBox 15"/>
              <p:cNvSpPr txBox="1"/>
              <p:nvPr/>
            </p:nvSpPr>
            <p:spPr>
              <a:xfrm>
                <a:off x="1643062" y="2736056"/>
                <a:ext cx="1762006" cy="228600"/>
              </a:xfrm>
              <a:prstGeom prst="rect">
                <a:avLst/>
              </a:prstGeom>
              <a:noFill/>
              <a:ln>
                <a:noFill/>
              </a:ln>
              <a:effectLst>
                <a:outerShdw blurRad="171450" dist="57150" dir="10799427" algn="tl" rotWithShape="0">
                  <a:srgbClr val="12304A">
                    <a:alpha val="17000"/>
                  </a:srgbClr>
                </a:outerShdw>
              </a:effectLst>
            </p:spPr>
            <p:txBody>
              <a:bodyPr wrap="none" lIns="0" tIns="0" rIns="0" bIns="0" anchor="t" anchorCtr="0">
                <a:spAutoFit/>
              </a:bodyPr>
              <a:lstStyle/>
              <a:p>
                <a:pPr algn="l"/>
                <a:r>
                  <a:rPr lang="zh-CN" sz="1125" dirty="0">
                    <a:solidFill>
                      <a:srgbClr val="17212B"/>
                    </a:solidFill>
                    <a:latin typeface="Calibri"/>
                    <a:ea typeface="Microsoft YaHei"/>
                    <a:cs typeface="Calibri"/>
                  </a:rPr>
                  <a:t>Near work • District 1</a:t>
                </a:r>
              </a:p>
            </p:txBody>
          </p:sp>
          <p:sp>
            <p:nvSpPr>
              <p:cNvPr id="16" name="Freeform 16"/>
              <p:cNvSpPr/>
              <p:nvPr/>
            </p:nvSpPr>
            <p:spPr>
              <a:xfrm>
                <a:off x="1219200" y="3143250"/>
                <a:ext cx="2038350" cy="457200"/>
              </a:xfrm>
              <a:custGeom>
                <a:avLst/>
                <a:gdLst/>
                <a:ahLst/>
                <a:cxnLst/>
                <a:rect l="l" t="t" r="r" b="b"/>
                <a:pathLst>
                  <a:path w="2038350" h="457200">
                    <a:moveTo>
                      <a:pt x="85725" y="0"/>
                    </a:moveTo>
                    <a:lnTo>
                      <a:pt x="1952625" y="0"/>
                    </a:lnTo>
                    <a:cubicBezTo>
                      <a:pt x="1999970" y="0"/>
                      <a:pt x="2038350" y="38380"/>
                      <a:pt x="2038350" y="85725"/>
                    </a:cubicBezTo>
                    <a:lnTo>
                      <a:pt x="2038350" y="371475"/>
                    </a:lnTo>
                    <a:cubicBezTo>
                      <a:pt x="2038350" y="418820"/>
                      <a:pt x="1999970" y="457200"/>
                      <a:pt x="1952625" y="457200"/>
                    </a:cubicBezTo>
                    <a:lnTo>
                      <a:pt x="85725" y="457200"/>
                    </a:lnTo>
                    <a:cubicBezTo>
                      <a:pt x="38380" y="457200"/>
                      <a:pt x="0" y="418820"/>
                      <a:pt x="0" y="371475"/>
                    </a:cubicBezTo>
                    <a:lnTo>
                      <a:pt x="0" y="85725"/>
                    </a:lnTo>
                    <a:cubicBezTo>
                      <a:pt x="0" y="38380"/>
                      <a:pt x="38380" y="0"/>
                      <a:pt x="85725" y="0"/>
                    </a:cubicBezTo>
                    <a:close/>
                  </a:path>
                </a:pathLst>
              </a:custGeom>
              <a:solidFill>
                <a:srgbClr val="EAF0ED"/>
              </a:solidFill>
              <a:ln>
                <a:noFill/>
              </a:ln>
              <a:effectLst>
                <a:outerShdw blurRad="171450" dist="57150" dir="10799427" algn="tl" rotWithShape="0">
                  <a:srgbClr val="12304A">
                    <a:alpha val="17000"/>
                  </a:srgbClr>
                </a:outerShdw>
              </a:effectLst>
            </p:spPr>
          </p:sp>
          <p:grpSp>
            <p:nvGrpSpPr>
              <p:cNvPr id="19" name="Group 19"/>
              <p:cNvGrpSpPr/>
              <p:nvPr/>
            </p:nvGrpSpPr>
            <p:grpSpPr>
              <a:xfrm>
                <a:off x="1347788" y="3257550"/>
                <a:ext cx="200025" cy="214312"/>
                <a:chOff x="1347788" y="3257550"/>
                <a:chExt cx="200025" cy="214312"/>
              </a:xfrm>
            </p:grpSpPr>
            <p:sp>
              <p:nvSpPr>
                <p:cNvPr id="17" name="Freeform 17"/>
                <p:cNvSpPr/>
                <p:nvPr/>
              </p:nvSpPr>
              <p:spPr>
                <a:xfrm>
                  <a:off x="1347788" y="3257550"/>
                  <a:ext cx="200025" cy="71438"/>
                </a:xfrm>
                <a:custGeom>
                  <a:avLst/>
                  <a:gdLst/>
                  <a:ahLst/>
                  <a:cxnLst/>
                  <a:rect l="l" t="t" r="r" b="b"/>
                  <a:pathLst>
                    <a:path w="200025" h="71438">
                      <a:moveTo>
                        <a:pt x="71438" y="0"/>
                      </a:moveTo>
                      <a:lnTo>
                        <a:pt x="28575" y="0"/>
                      </a:lnTo>
                      <a:lnTo>
                        <a:pt x="28575" y="28575"/>
                      </a:lnTo>
                      <a:lnTo>
                        <a:pt x="0" y="28575"/>
                      </a:lnTo>
                      <a:lnTo>
                        <a:pt x="0" y="71438"/>
                      </a:lnTo>
                      <a:lnTo>
                        <a:pt x="200025" y="71438"/>
                      </a:lnTo>
                      <a:lnTo>
                        <a:pt x="200025" y="28575"/>
                      </a:lnTo>
                      <a:lnTo>
                        <a:pt x="171450" y="28575"/>
                      </a:lnTo>
                      <a:lnTo>
                        <a:pt x="171450" y="0"/>
                      </a:lnTo>
                      <a:lnTo>
                        <a:pt x="128588" y="0"/>
                      </a:lnTo>
                      <a:lnTo>
                        <a:pt x="128588" y="28575"/>
                      </a:lnTo>
                      <a:lnTo>
                        <a:pt x="71438" y="28575"/>
                      </a:lnTo>
                      <a:lnTo>
                        <a:pt x="71438" y="0"/>
                      </a:lnTo>
                      <a:close/>
                    </a:path>
                  </a:pathLst>
                </a:custGeom>
                <a:solidFill>
                  <a:srgbClr val="12304A"/>
                </a:solidFill>
                <a:ln>
                  <a:noFill/>
                </a:ln>
                <a:effectLst>
                  <a:outerShdw blurRad="171450" dist="57150" dir="10799427" algn="tl" rotWithShape="0">
                    <a:srgbClr val="12304A">
                      <a:alpha val="17000"/>
                    </a:srgbClr>
                  </a:outerShdw>
                </a:effectLst>
              </p:spPr>
            </p:sp>
            <p:sp>
              <p:nvSpPr>
                <p:cNvPr id="18" name="Freeform 18"/>
                <p:cNvSpPr/>
                <p:nvPr/>
              </p:nvSpPr>
              <p:spPr>
                <a:xfrm>
                  <a:off x="1347788" y="3357562"/>
                  <a:ext cx="200025" cy="114300"/>
                </a:xfrm>
                <a:custGeom>
                  <a:avLst/>
                  <a:gdLst/>
                  <a:ahLst/>
                  <a:cxnLst/>
                  <a:rect l="l" t="t" r="r" b="b"/>
                  <a:pathLst>
                    <a:path w="200025" h="114300">
                      <a:moveTo>
                        <a:pt x="200025" y="0"/>
                      </a:moveTo>
                      <a:lnTo>
                        <a:pt x="0" y="0"/>
                      </a:lnTo>
                      <a:lnTo>
                        <a:pt x="0" y="114300"/>
                      </a:lnTo>
                      <a:lnTo>
                        <a:pt x="200025" y="114300"/>
                      </a:lnTo>
                      <a:lnTo>
                        <a:pt x="200025" y="0"/>
                      </a:lnTo>
                      <a:close/>
                    </a:path>
                  </a:pathLst>
                </a:custGeom>
                <a:solidFill>
                  <a:srgbClr val="12304A"/>
                </a:solidFill>
                <a:ln>
                  <a:noFill/>
                </a:ln>
                <a:effectLst>
                  <a:outerShdw blurRad="171450" dist="57150" dir="10799427" algn="tl" rotWithShape="0">
                    <a:srgbClr val="12304A">
                      <a:alpha val="17000"/>
                    </a:srgbClr>
                  </a:outerShdw>
                </a:effectLst>
              </p:spPr>
            </p:sp>
          </p:grpSp>
          <p:sp>
            <p:nvSpPr>
              <p:cNvPr id="20" name="TextBox 20"/>
              <p:cNvSpPr txBox="1"/>
              <p:nvPr/>
            </p:nvSpPr>
            <p:spPr>
              <a:xfrm>
                <a:off x="1643062" y="3307556"/>
                <a:ext cx="1416963" cy="228600"/>
              </a:xfrm>
              <a:prstGeom prst="rect">
                <a:avLst/>
              </a:prstGeom>
              <a:noFill/>
              <a:ln>
                <a:noFill/>
              </a:ln>
              <a:effectLst>
                <a:outerShdw blurRad="171450" dist="57150" dir="10799427" algn="tl" rotWithShape="0">
                  <a:srgbClr val="12304A">
                    <a:alpha val="17000"/>
                  </a:srgbClr>
                </a:outerShdw>
              </a:effectLst>
            </p:spPr>
            <p:txBody>
              <a:bodyPr wrap="none" lIns="0" tIns="0" rIns="0" bIns="0" anchor="t" anchorCtr="0">
                <a:spAutoFit/>
              </a:bodyPr>
              <a:lstStyle/>
              <a:p>
                <a:pPr algn="l"/>
                <a:r>
                  <a:rPr lang="zh-CN" sz="1125" dirty="0">
                    <a:solidFill>
                      <a:srgbClr val="17212B"/>
                    </a:solidFill>
                    <a:latin typeface="Calibri"/>
                    <a:ea typeface="Microsoft YaHei"/>
                    <a:cs typeface="Calibri"/>
                  </a:rPr>
                  <a:t>Tomorrow • 18:00</a:t>
                </a:r>
              </a:p>
            </p:txBody>
          </p:sp>
          <p:sp>
            <p:nvSpPr>
              <p:cNvPr id="21" name="TextBox 21"/>
              <p:cNvSpPr txBox="1"/>
              <p:nvPr/>
            </p:nvSpPr>
            <p:spPr>
              <a:xfrm>
                <a:off x="1205865" y="3791902"/>
                <a:ext cx="1725432" cy="213360"/>
              </a:xfrm>
              <a:prstGeom prst="rect">
                <a:avLst/>
              </a:prstGeom>
              <a:noFill/>
              <a:ln>
                <a:noFill/>
              </a:ln>
              <a:effectLst>
                <a:outerShdw blurRad="171450" dist="57150" dir="10799427" algn="tl" rotWithShape="0">
                  <a:srgbClr val="12304A">
                    <a:alpha val="17000"/>
                  </a:srgbClr>
                </a:outerShdw>
              </a:effectLst>
            </p:spPr>
            <p:txBody>
              <a:bodyPr wrap="none" lIns="0" tIns="0" rIns="0" bIns="0" anchor="t" anchorCtr="0">
                <a:spAutoFit/>
              </a:bodyPr>
              <a:lstStyle/>
              <a:p>
                <a:pPr algn="l"/>
                <a:r>
                  <a:rPr lang="zh-CN" sz="1050" b="1" dirty="0">
                    <a:solidFill>
                      <a:srgbClr val="17212B"/>
                    </a:solidFill>
                    <a:latin typeface="Calibri"/>
                    <a:ea typeface="Microsoft YaHei"/>
                    <a:cs typeface="Calibri"/>
                  </a:rPr>
                  <a:t>Start-time flexibility</a:t>
                </a:r>
              </a:p>
            </p:txBody>
          </p:sp>
          <p:sp>
            <p:nvSpPr>
              <p:cNvPr id="22" name="Freeform 22"/>
              <p:cNvSpPr/>
              <p:nvPr/>
            </p:nvSpPr>
            <p:spPr>
              <a:xfrm>
                <a:off x="1219200" y="4057650"/>
                <a:ext cx="2038350" cy="76200"/>
              </a:xfrm>
              <a:custGeom>
                <a:avLst/>
                <a:gdLst/>
                <a:ahLst/>
                <a:cxnLst/>
                <a:rect l="l" t="t" r="r" b="b"/>
                <a:pathLst>
                  <a:path w="2038350" h="76200">
                    <a:moveTo>
                      <a:pt x="38100" y="0"/>
                    </a:moveTo>
                    <a:lnTo>
                      <a:pt x="2000250" y="0"/>
                    </a:lnTo>
                    <a:cubicBezTo>
                      <a:pt x="2021292" y="0"/>
                      <a:pt x="2038350" y="17058"/>
                      <a:pt x="2038350" y="38100"/>
                    </a:cubicBezTo>
                    <a:lnTo>
                      <a:pt x="2038350" y="38100"/>
                    </a:lnTo>
                    <a:cubicBezTo>
                      <a:pt x="2038350" y="59142"/>
                      <a:pt x="2021292" y="76200"/>
                      <a:pt x="2000250" y="76200"/>
                    </a:cubicBezTo>
                    <a:lnTo>
                      <a:pt x="38100" y="76200"/>
                    </a:lnTo>
                    <a:cubicBezTo>
                      <a:pt x="17058" y="76200"/>
                      <a:pt x="0" y="59142"/>
                      <a:pt x="0" y="38100"/>
                    </a:cubicBezTo>
                    <a:lnTo>
                      <a:pt x="0" y="38100"/>
                    </a:lnTo>
                    <a:cubicBezTo>
                      <a:pt x="0" y="17058"/>
                      <a:pt x="17058" y="0"/>
                      <a:pt x="38100" y="0"/>
                    </a:cubicBezTo>
                    <a:close/>
                  </a:path>
                </a:pathLst>
              </a:custGeom>
              <a:solidFill>
                <a:srgbClr val="CED8D3"/>
              </a:solidFill>
              <a:ln>
                <a:noFill/>
              </a:ln>
              <a:effectLst>
                <a:outerShdw blurRad="171450" dist="57150" dir="10799427" algn="tl" rotWithShape="0">
                  <a:srgbClr val="12304A">
                    <a:alpha val="17000"/>
                  </a:srgbClr>
                </a:outerShdw>
              </a:effectLst>
            </p:spPr>
          </p:sp>
          <p:sp>
            <p:nvSpPr>
              <p:cNvPr id="23" name="Freeform 23"/>
              <p:cNvSpPr/>
              <p:nvPr/>
            </p:nvSpPr>
            <p:spPr>
              <a:xfrm>
                <a:off x="1219200" y="4057650"/>
                <a:ext cx="1352550" cy="76200"/>
              </a:xfrm>
              <a:custGeom>
                <a:avLst/>
                <a:gdLst/>
                <a:ahLst/>
                <a:cxnLst/>
                <a:rect l="l" t="t" r="r" b="b"/>
                <a:pathLst>
                  <a:path w="1352550" h="76200">
                    <a:moveTo>
                      <a:pt x="38100" y="0"/>
                    </a:moveTo>
                    <a:lnTo>
                      <a:pt x="1314450" y="0"/>
                    </a:lnTo>
                    <a:cubicBezTo>
                      <a:pt x="1335492" y="0"/>
                      <a:pt x="1352550" y="17058"/>
                      <a:pt x="1352550" y="38100"/>
                    </a:cubicBezTo>
                    <a:lnTo>
                      <a:pt x="1352550" y="38100"/>
                    </a:lnTo>
                    <a:cubicBezTo>
                      <a:pt x="1352550" y="59142"/>
                      <a:pt x="1335492" y="76200"/>
                      <a:pt x="1314450" y="76200"/>
                    </a:cubicBezTo>
                    <a:lnTo>
                      <a:pt x="38100" y="76200"/>
                    </a:lnTo>
                    <a:cubicBezTo>
                      <a:pt x="17058" y="76200"/>
                      <a:pt x="0" y="59142"/>
                      <a:pt x="0" y="38100"/>
                    </a:cubicBezTo>
                    <a:lnTo>
                      <a:pt x="0" y="38100"/>
                    </a:lnTo>
                    <a:cubicBezTo>
                      <a:pt x="0" y="17058"/>
                      <a:pt x="17058" y="0"/>
                      <a:pt x="38100" y="0"/>
                    </a:cubicBezTo>
                    <a:close/>
                  </a:path>
                </a:pathLst>
              </a:custGeom>
              <a:solidFill>
                <a:srgbClr val="17A673"/>
              </a:solidFill>
              <a:ln>
                <a:noFill/>
              </a:ln>
              <a:effectLst>
                <a:outerShdw blurRad="171450" dist="57150" dir="10799427" algn="tl" rotWithShape="0">
                  <a:srgbClr val="12304A">
                    <a:alpha val="17000"/>
                  </a:srgbClr>
                </a:outerShdw>
              </a:effectLst>
            </p:spPr>
          </p:sp>
          <p:sp>
            <p:nvSpPr>
              <p:cNvPr id="24" name="Ellipse 24"/>
              <p:cNvSpPr/>
              <p:nvPr/>
            </p:nvSpPr>
            <p:spPr>
              <a:xfrm>
                <a:off x="2476500" y="4000500"/>
                <a:ext cx="190500" cy="190500"/>
              </a:xfrm>
              <a:prstGeom prst="ellipse">
                <a:avLst/>
              </a:prstGeom>
              <a:solidFill>
                <a:srgbClr val="17A673"/>
              </a:solidFill>
              <a:ln>
                <a:noFill/>
              </a:ln>
              <a:effectLst>
                <a:outerShdw blurRad="171450" dist="57150" dir="10799427" algn="tl" rotWithShape="0">
                  <a:srgbClr val="12304A">
                    <a:alpha val="17000"/>
                  </a:srgbClr>
                </a:outerShdw>
              </a:effectLst>
            </p:spPr>
          </p:sp>
          <p:sp>
            <p:nvSpPr>
              <p:cNvPr id="25" name="TextBox 25"/>
              <p:cNvSpPr txBox="1"/>
              <p:nvPr/>
            </p:nvSpPr>
            <p:spPr>
              <a:xfrm>
                <a:off x="1206818" y="4276249"/>
                <a:ext cx="2281785" cy="198120"/>
              </a:xfrm>
              <a:prstGeom prst="rect">
                <a:avLst/>
              </a:prstGeom>
              <a:noFill/>
              <a:ln>
                <a:noFill/>
              </a:ln>
              <a:effectLst>
                <a:outerShdw blurRad="171450" dist="57150" dir="10799427" algn="tl" rotWithShape="0">
                  <a:srgbClr val="12304A">
                    <a:alpha val="17000"/>
                  </a:srgbClr>
                </a:outerShdw>
              </a:effectLst>
            </p:spPr>
            <p:txBody>
              <a:bodyPr wrap="none" lIns="0" tIns="0" rIns="0" bIns="0" anchor="t" anchorCtr="0">
                <a:spAutoFit/>
              </a:bodyPr>
              <a:lstStyle/>
              <a:p>
                <a:pPr algn="l"/>
                <a:r>
                  <a:rPr lang="zh-CN" sz="975" dirty="0">
                    <a:solidFill>
                      <a:srgbClr val="5E6B75"/>
                    </a:solidFill>
                    <a:latin typeface="Calibri"/>
                    <a:ea typeface="Microsoft YaHei"/>
                    <a:cs typeface="Calibri"/>
                  </a:rPr>
                  <a:t>Up to 60 minutes earlier or later</a:t>
                </a:r>
              </a:p>
            </p:txBody>
          </p:sp>
          <p:sp>
            <p:nvSpPr>
              <p:cNvPr id="26" name="Freeform 26"/>
              <p:cNvSpPr/>
              <p:nvPr/>
            </p:nvSpPr>
            <p:spPr>
              <a:xfrm>
                <a:off x="1219200" y="4724400"/>
                <a:ext cx="2038350" cy="419100"/>
              </a:xfrm>
              <a:custGeom>
                <a:avLst/>
                <a:gdLst/>
                <a:ahLst/>
                <a:cxnLst/>
                <a:rect l="l" t="t" r="r" b="b"/>
                <a:pathLst>
                  <a:path w="2038350" h="419100">
                    <a:moveTo>
                      <a:pt x="209550" y="0"/>
                    </a:moveTo>
                    <a:lnTo>
                      <a:pt x="1828800" y="0"/>
                    </a:lnTo>
                    <a:cubicBezTo>
                      <a:pt x="1944531" y="0"/>
                      <a:pt x="2038350" y="93819"/>
                      <a:pt x="2038350" y="209550"/>
                    </a:cubicBezTo>
                    <a:lnTo>
                      <a:pt x="2038350" y="209550"/>
                    </a:lnTo>
                    <a:cubicBezTo>
                      <a:pt x="2038350" y="325281"/>
                      <a:pt x="1944531" y="419100"/>
                      <a:pt x="1828800" y="419100"/>
                    </a:cubicBezTo>
                    <a:lnTo>
                      <a:pt x="209550" y="419100"/>
                    </a:lnTo>
                    <a:cubicBezTo>
                      <a:pt x="93819" y="419100"/>
                      <a:pt x="0" y="325281"/>
                      <a:pt x="0" y="209550"/>
                    </a:cubicBezTo>
                    <a:lnTo>
                      <a:pt x="0" y="209550"/>
                    </a:lnTo>
                    <a:cubicBezTo>
                      <a:pt x="0" y="93819"/>
                      <a:pt x="93819" y="0"/>
                      <a:pt x="209550" y="0"/>
                    </a:cubicBezTo>
                    <a:close/>
                  </a:path>
                </a:pathLst>
              </a:custGeom>
              <a:solidFill>
                <a:srgbClr val="17A673"/>
              </a:solidFill>
              <a:ln>
                <a:noFill/>
              </a:ln>
              <a:effectLst>
                <a:outerShdw blurRad="171450" dist="57150" dir="10799427" algn="tl" rotWithShape="0">
                  <a:srgbClr val="12304A">
                    <a:alpha val="17000"/>
                  </a:srgbClr>
                </a:outerShdw>
              </a:effectLst>
            </p:spPr>
          </p:sp>
          <p:sp>
            <p:nvSpPr>
              <p:cNvPr id="27" name="TextBox 27"/>
              <p:cNvSpPr txBox="1"/>
              <p:nvPr/>
            </p:nvSpPr>
            <p:spPr>
              <a:xfrm>
                <a:off x="1459440" y="4861560"/>
                <a:ext cx="1557871" cy="243840"/>
              </a:xfrm>
              <a:prstGeom prst="rect">
                <a:avLst/>
              </a:prstGeom>
              <a:noFill/>
              <a:ln>
                <a:noFill/>
              </a:ln>
              <a:effectLst>
                <a:outerShdw blurRad="171450" dist="57150" dir="10799427" algn="tl" rotWithShape="0">
                  <a:srgbClr val="12304A">
                    <a:alpha val="17000"/>
                  </a:srgbClr>
                </a:outerShdw>
              </a:effectLst>
            </p:spPr>
            <p:txBody>
              <a:bodyPr wrap="none" lIns="0" tIns="0" rIns="0" bIns="0" anchor="t" anchorCtr="0">
                <a:spAutoFit/>
              </a:bodyPr>
              <a:lstStyle/>
              <a:p>
                <a:pPr algn="ctr"/>
                <a:r>
                  <a:rPr lang="zh-CN" sz="1200" b="1" dirty="0">
                    <a:solidFill>
                      <a:srgbClr val="FFFFFF"/>
                    </a:solidFill>
                    <a:latin typeface="Calibri"/>
                    <a:ea typeface="Microsoft YaHei"/>
                    <a:cs typeface="Calibri"/>
                  </a:rPr>
                  <a:t>Show live options</a:t>
                </a:r>
              </a:p>
            </p:txBody>
          </p:sp>
        </p:grpSp>
      </p:grpSp>
      <p:sp>
        <p:nvSpPr>
          <p:cNvPr id="30" name="TextBox 30"/>
          <p:cNvSpPr txBox="1"/>
          <p:nvPr/>
        </p:nvSpPr>
        <p:spPr>
          <a:xfrm>
            <a:off x="1381230" y="5871210"/>
            <a:ext cx="1714290" cy="243840"/>
          </a:xfrm>
          <a:prstGeom prst="rect">
            <a:avLst/>
          </a:prstGeom>
          <a:noFill/>
          <a:ln>
            <a:noFill/>
          </a:ln>
        </p:spPr>
        <p:txBody>
          <a:bodyPr wrap="none" lIns="0" tIns="0" rIns="0" bIns="0" anchor="t" anchorCtr="0">
            <a:spAutoFit/>
          </a:bodyPr>
          <a:lstStyle/>
          <a:p>
            <a:pPr algn="ctr"/>
            <a:r>
              <a:rPr lang="zh-CN" sz="1200" b="1" dirty="0">
                <a:solidFill>
                  <a:srgbClr val="12304A"/>
                </a:solidFill>
                <a:latin typeface="Arial"/>
                <a:ea typeface="Microsoft YaHei"/>
                <a:cs typeface="Arial"/>
              </a:rPr>
              <a:t>1. Set preferences</a:t>
            </a:r>
          </a:p>
        </p:txBody>
      </p:sp>
      <p:grpSp>
        <p:nvGrpSpPr>
          <p:cNvPr id="52" name="Group 52"/>
          <p:cNvGrpSpPr/>
          <p:nvPr/>
        </p:nvGrpSpPr>
        <p:grpSpPr>
          <a:xfrm>
            <a:off x="4733925" y="1466850"/>
            <a:ext cx="2724150" cy="4267200"/>
            <a:chOff x="4733925" y="1466850"/>
            <a:chExt cx="2724150" cy="4267200"/>
          </a:xfrm>
          <a:effectLst>
            <a:outerShdw blurRad="171450" dist="57150" dir="10799427" algn="tl" rotWithShape="0">
              <a:srgbClr val="12304A">
                <a:alpha val="17000"/>
              </a:srgbClr>
            </a:outerShdw>
          </a:effectLst>
        </p:grpSpPr>
        <p:sp>
          <p:nvSpPr>
            <p:cNvPr id="31" name="Freeform 31"/>
            <p:cNvSpPr/>
            <p:nvPr/>
          </p:nvSpPr>
          <p:spPr>
            <a:xfrm>
              <a:off x="4733925" y="1466850"/>
              <a:ext cx="2724150" cy="4267200"/>
            </a:xfrm>
            <a:custGeom>
              <a:avLst/>
              <a:gdLst/>
              <a:ahLst/>
              <a:cxnLst/>
              <a:rect l="l" t="t" r="r" b="b"/>
              <a:pathLst>
                <a:path w="2724150" h="4267200">
                  <a:moveTo>
                    <a:pt x="323850" y="0"/>
                  </a:moveTo>
                  <a:lnTo>
                    <a:pt x="2400300" y="0"/>
                  </a:lnTo>
                  <a:cubicBezTo>
                    <a:pt x="2579157" y="0"/>
                    <a:pt x="2724150" y="144993"/>
                    <a:pt x="2724150" y="323850"/>
                  </a:cubicBezTo>
                  <a:lnTo>
                    <a:pt x="2724150" y="3943350"/>
                  </a:lnTo>
                  <a:cubicBezTo>
                    <a:pt x="2724150" y="4122207"/>
                    <a:pt x="2579157" y="4267200"/>
                    <a:pt x="2400300" y="4267200"/>
                  </a:cubicBezTo>
                  <a:lnTo>
                    <a:pt x="323850" y="4267200"/>
                  </a:lnTo>
                  <a:cubicBezTo>
                    <a:pt x="144993" y="4267200"/>
                    <a:pt x="0" y="4122207"/>
                    <a:pt x="0" y="3943350"/>
                  </a:cubicBezTo>
                  <a:lnTo>
                    <a:pt x="0" y="323850"/>
                  </a:lnTo>
                  <a:cubicBezTo>
                    <a:pt x="0" y="144993"/>
                    <a:pt x="144993" y="0"/>
                    <a:pt x="323850" y="0"/>
                  </a:cubicBezTo>
                  <a:close/>
                </a:path>
              </a:pathLst>
            </a:custGeom>
            <a:solidFill>
              <a:srgbClr val="17212B"/>
            </a:solidFill>
            <a:ln>
              <a:noFill/>
            </a:ln>
            <a:effectLst>
              <a:outerShdw blurRad="171450" dist="57150" dir="10799427" algn="tl" rotWithShape="0">
                <a:srgbClr val="12304A">
                  <a:alpha val="17000"/>
                </a:srgbClr>
              </a:outerShdw>
            </a:effectLst>
          </p:spPr>
        </p:sp>
        <p:sp>
          <p:nvSpPr>
            <p:cNvPr id="32" name="Freeform 32"/>
            <p:cNvSpPr/>
            <p:nvPr/>
          </p:nvSpPr>
          <p:spPr>
            <a:xfrm>
              <a:off x="4867275" y="1619250"/>
              <a:ext cx="2457450" cy="3962400"/>
            </a:xfrm>
            <a:custGeom>
              <a:avLst/>
              <a:gdLst/>
              <a:ahLst/>
              <a:cxnLst/>
              <a:rect l="l" t="t" r="r" b="b"/>
              <a:pathLst>
                <a:path w="2457450" h="3962400">
                  <a:moveTo>
                    <a:pt x="228600" y="0"/>
                  </a:moveTo>
                  <a:lnTo>
                    <a:pt x="2228850" y="0"/>
                  </a:lnTo>
                  <a:cubicBezTo>
                    <a:pt x="2355102" y="0"/>
                    <a:pt x="2457450" y="102348"/>
                    <a:pt x="2457450" y="228600"/>
                  </a:cubicBezTo>
                  <a:lnTo>
                    <a:pt x="2457450" y="3733800"/>
                  </a:lnTo>
                  <a:cubicBezTo>
                    <a:pt x="2457450" y="3860052"/>
                    <a:pt x="2355102" y="3962400"/>
                    <a:pt x="2228850" y="3962400"/>
                  </a:cubicBezTo>
                  <a:lnTo>
                    <a:pt x="228600" y="3962400"/>
                  </a:lnTo>
                  <a:cubicBezTo>
                    <a:pt x="102348" y="3962400"/>
                    <a:pt x="0" y="3860052"/>
                    <a:pt x="0" y="3733800"/>
                  </a:cubicBezTo>
                  <a:lnTo>
                    <a:pt x="0" y="228600"/>
                  </a:lnTo>
                  <a:cubicBezTo>
                    <a:pt x="0" y="102348"/>
                    <a:pt x="102348" y="0"/>
                    <a:pt x="228600" y="0"/>
                  </a:cubicBezTo>
                  <a:close/>
                </a:path>
              </a:pathLst>
            </a:custGeom>
            <a:solidFill>
              <a:srgbClr val="FFFFFF"/>
            </a:solidFill>
            <a:ln>
              <a:noFill/>
            </a:ln>
            <a:effectLst>
              <a:outerShdw blurRad="171450" dist="57150" dir="10799427" algn="tl" rotWithShape="0">
                <a:srgbClr val="12304A">
                  <a:alpha val="17000"/>
                </a:srgbClr>
              </a:outerShdw>
            </a:effectLst>
          </p:spPr>
        </p:sp>
        <p:sp>
          <p:nvSpPr>
            <p:cNvPr id="33" name="Freeform 33"/>
            <p:cNvSpPr/>
            <p:nvPr/>
          </p:nvSpPr>
          <p:spPr>
            <a:xfrm>
              <a:off x="5667375" y="1695450"/>
              <a:ext cx="857250" cy="76200"/>
            </a:xfrm>
            <a:custGeom>
              <a:avLst/>
              <a:gdLst/>
              <a:ahLst/>
              <a:cxnLst/>
              <a:rect l="l" t="t" r="r" b="b"/>
              <a:pathLst>
                <a:path w="857250" h="76200">
                  <a:moveTo>
                    <a:pt x="38100" y="0"/>
                  </a:moveTo>
                  <a:lnTo>
                    <a:pt x="819150" y="0"/>
                  </a:lnTo>
                  <a:cubicBezTo>
                    <a:pt x="840192" y="0"/>
                    <a:pt x="857250" y="17058"/>
                    <a:pt x="857250" y="38100"/>
                  </a:cubicBezTo>
                  <a:lnTo>
                    <a:pt x="857250" y="38100"/>
                  </a:lnTo>
                  <a:cubicBezTo>
                    <a:pt x="857250" y="59142"/>
                    <a:pt x="840192" y="76200"/>
                    <a:pt x="819150" y="76200"/>
                  </a:cubicBezTo>
                  <a:lnTo>
                    <a:pt x="38100" y="76200"/>
                  </a:lnTo>
                  <a:cubicBezTo>
                    <a:pt x="17058" y="76200"/>
                    <a:pt x="0" y="59142"/>
                    <a:pt x="0" y="38100"/>
                  </a:cubicBezTo>
                  <a:lnTo>
                    <a:pt x="0" y="38100"/>
                  </a:lnTo>
                  <a:cubicBezTo>
                    <a:pt x="0" y="17058"/>
                    <a:pt x="17058" y="0"/>
                    <a:pt x="38100" y="0"/>
                  </a:cubicBezTo>
                  <a:close/>
                </a:path>
              </a:pathLst>
            </a:custGeom>
            <a:solidFill>
              <a:srgbClr val="CED8D3"/>
            </a:solidFill>
            <a:ln>
              <a:noFill/>
            </a:ln>
            <a:effectLst>
              <a:outerShdw blurRad="171450" dist="57150" dir="10799427" algn="tl" rotWithShape="0">
                <a:srgbClr val="12304A">
                  <a:alpha val="17000"/>
                </a:srgbClr>
              </a:outerShdw>
            </a:effectLst>
          </p:spPr>
        </p:sp>
        <p:sp>
          <p:nvSpPr>
            <p:cNvPr id="34" name="TextBox 34"/>
            <p:cNvSpPr txBox="1"/>
            <p:nvPr/>
          </p:nvSpPr>
          <p:spPr>
            <a:xfrm>
              <a:off x="5057775" y="1952625"/>
              <a:ext cx="1889831" cy="304800"/>
            </a:xfrm>
            <a:prstGeom prst="rect">
              <a:avLst/>
            </a:prstGeom>
            <a:noFill/>
            <a:ln>
              <a:noFill/>
            </a:ln>
            <a:effectLst>
              <a:outerShdw blurRad="171450" dist="57150" dir="10799427" algn="tl" rotWithShape="0">
                <a:srgbClr val="12304A">
                  <a:alpha val="17000"/>
                </a:srgbClr>
              </a:outerShdw>
            </a:effectLst>
          </p:spPr>
          <p:txBody>
            <a:bodyPr wrap="none" lIns="0" tIns="0" rIns="0" bIns="0" anchor="t" anchorCtr="0">
              <a:spAutoFit/>
            </a:bodyPr>
            <a:lstStyle/>
            <a:p>
              <a:pPr algn="l"/>
              <a:r>
                <a:rPr lang="zh-CN" sz="1500" b="1" dirty="0">
                  <a:solidFill>
                    <a:srgbClr val="12304A"/>
                  </a:solidFill>
                  <a:latin typeface="Arial"/>
                  <a:ea typeface="Microsoft YaHei"/>
                  <a:cs typeface="Arial"/>
                </a:rPr>
                <a:t>3 options nearby</a:t>
              </a:r>
            </a:p>
          </p:txBody>
        </p:sp>
        <p:sp>
          <p:nvSpPr>
            <p:cNvPr id="35" name="TextBox 35"/>
            <p:cNvSpPr txBox="1"/>
            <p:nvPr/>
          </p:nvSpPr>
          <p:spPr>
            <a:xfrm>
              <a:off x="5064442" y="2228374"/>
              <a:ext cx="2032587" cy="198120"/>
            </a:xfrm>
            <a:prstGeom prst="rect">
              <a:avLst/>
            </a:prstGeom>
            <a:noFill/>
            <a:ln>
              <a:noFill/>
            </a:ln>
            <a:effectLst>
              <a:outerShdw blurRad="171450" dist="57150" dir="10799427" algn="tl" rotWithShape="0">
                <a:srgbClr val="12304A">
                  <a:alpha val="17000"/>
                </a:srgbClr>
              </a:outerShdw>
            </a:effectLst>
          </p:spPr>
          <p:txBody>
            <a:bodyPr wrap="none" lIns="0" tIns="0" rIns="0" bIns="0" anchor="t" anchorCtr="0">
              <a:spAutoFit/>
            </a:bodyPr>
            <a:lstStyle/>
            <a:p>
              <a:pPr algn="l"/>
              <a:r>
                <a:rPr lang="zh-CN" sz="975" dirty="0">
                  <a:solidFill>
                    <a:srgbClr val="5E6B75"/>
                  </a:solidFill>
                  <a:latin typeface="Calibri"/>
                  <a:ea typeface="Microsoft YaHei"/>
                  <a:cs typeface="Calibri"/>
                </a:rPr>
                <a:t>Ranked for your preferences</a:t>
              </a:r>
            </a:p>
          </p:txBody>
        </p:sp>
        <p:grpSp>
          <p:nvGrpSpPr>
            <p:cNvPr id="40" name="Group 40"/>
            <p:cNvGrpSpPr/>
            <p:nvPr/>
          </p:nvGrpSpPr>
          <p:grpSpPr>
            <a:xfrm>
              <a:off x="5076825" y="2533650"/>
              <a:ext cx="2038350" cy="781050"/>
              <a:chOff x="5076825" y="2533650"/>
              <a:chExt cx="2038350" cy="781050"/>
            </a:xfrm>
          </p:grpSpPr>
          <p:sp>
            <p:nvSpPr>
              <p:cNvPr id="36" name="Freeform 36"/>
              <p:cNvSpPr/>
              <p:nvPr/>
            </p:nvSpPr>
            <p:spPr>
              <a:xfrm>
                <a:off x="5076825" y="2533650"/>
                <a:ext cx="2038350" cy="781050"/>
              </a:xfrm>
              <a:custGeom>
                <a:avLst/>
                <a:gdLst/>
                <a:ahLst/>
                <a:cxnLst/>
                <a:rect l="l" t="t" r="r" b="b"/>
                <a:pathLst>
                  <a:path w="2038350" h="781050">
                    <a:moveTo>
                      <a:pt x="95250" y="0"/>
                    </a:moveTo>
                    <a:lnTo>
                      <a:pt x="1943100" y="0"/>
                    </a:lnTo>
                    <a:cubicBezTo>
                      <a:pt x="1995705" y="0"/>
                      <a:pt x="2038350" y="42645"/>
                      <a:pt x="2038350" y="95250"/>
                    </a:cubicBezTo>
                    <a:lnTo>
                      <a:pt x="2038350" y="685800"/>
                    </a:lnTo>
                    <a:cubicBezTo>
                      <a:pt x="2038350" y="738405"/>
                      <a:pt x="1995705" y="781050"/>
                      <a:pt x="1943100" y="781050"/>
                    </a:cubicBezTo>
                    <a:lnTo>
                      <a:pt x="95250" y="781050"/>
                    </a:lnTo>
                    <a:cubicBezTo>
                      <a:pt x="42645" y="781050"/>
                      <a:pt x="0" y="738405"/>
                      <a:pt x="0" y="685800"/>
                    </a:cubicBezTo>
                    <a:lnTo>
                      <a:pt x="0" y="95250"/>
                    </a:lnTo>
                    <a:cubicBezTo>
                      <a:pt x="0" y="42645"/>
                      <a:pt x="42645" y="0"/>
                      <a:pt x="95250" y="0"/>
                    </a:cubicBezTo>
                    <a:close/>
                  </a:path>
                </a:pathLst>
              </a:custGeom>
              <a:solidFill>
                <a:srgbClr val="FFFFFF"/>
              </a:solidFill>
              <a:ln w="9525">
                <a:solidFill>
                  <a:srgbClr val="CED8D3"/>
                </a:solidFill>
              </a:ln>
              <a:effectLst>
                <a:outerShdw blurRad="171450" dist="57150" dir="10799427" algn="tl" rotWithShape="0">
                  <a:srgbClr val="12304A">
                    <a:alpha val="17000"/>
                  </a:srgbClr>
                </a:outerShdw>
              </a:effectLst>
            </p:spPr>
          </p:sp>
          <p:sp>
            <p:nvSpPr>
              <p:cNvPr id="37" name="TextBox 37"/>
              <p:cNvSpPr txBox="1"/>
              <p:nvPr/>
            </p:nvSpPr>
            <p:spPr>
              <a:xfrm>
                <a:off x="5217795" y="2646045"/>
                <a:ext cx="706045" cy="182880"/>
              </a:xfrm>
              <a:prstGeom prst="rect">
                <a:avLst/>
              </a:prstGeom>
              <a:noFill/>
              <a:ln>
                <a:noFill/>
              </a:ln>
              <a:effectLst>
                <a:outerShdw blurRad="171450" dist="57150" dir="10799427" algn="tl" rotWithShape="0">
                  <a:srgbClr val="12304A">
                    <a:alpha val="17000"/>
                  </a:srgbClr>
                </a:outerShdw>
              </a:effectLst>
            </p:spPr>
            <p:txBody>
              <a:bodyPr wrap="none" lIns="0" tIns="0" rIns="0" bIns="0" anchor="t" anchorCtr="0">
                <a:spAutoFit/>
              </a:bodyPr>
              <a:lstStyle/>
              <a:p>
                <a:pPr algn="l"/>
                <a:r>
                  <a:rPr lang="zh-CN" sz="900" b="1" dirty="0">
                    <a:solidFill>
                      <a:srgbClr val="5E6B75"/>
                    </a:solidFill>
                    <a:latin typeface="Arial"/>
                    <a:ea typeface="Microsoft YaHei"/>
                    <a:cs typeface="Arial"/>
                  </a:rPr>
                  <a:t>PREFERRED</a:t>
                </a:r>
              </a:p>
            </p:txBody>
          </p:sp>
          <p:sp>
            <p:nvSpPr>
              <p:cNvPr id="38" name="TextBox 38"/>
              <p:cNvSpPr txBox="1"/>
              <p:nvPr/>
            </p:nvSpPr>
            <p:spPr>
              <a:xfrm>
                <a:off x="5212080" y="2845118"/>
                <a:ext cx="1535228" cy="274320"/>
              </a:xfrm>
              <a:prstGeom prst="rect">
                <a:avLst/>
              </a:prstGeom>
              <a:noFill/>
              <a:ln>
                <a:noFill/>
              </a:ln>
              <a:effectLst>
                <a:outerShdw blurRad="171450" dist="57150" dir="10799427" algn="tl" rotWithShape="0">
                  <a:srgbClr val="12304A">
                    <a:alpha val="17000"/>
                  </a:srgbClr>
                </a:outerShdw>
              </a:effectLst>
            </p:spPr>
            <p:txBody>
              <a:bodyPr wrap="none" lIns="0" tIns="0" rIns="0" bIns="0" anchor="t" anchorCtr="0">
                <a:spAutoFit/>
              </a:bodyPr>
              <a:lstStyle/>
              <a:p>
                <a:pPr algn="l"/>
                <a:r>
                  <a:rPr lang="zh-CN" sz="1350" b="1" dirty="0">
                    <a:solidFill>
                      <a:srgbClr val="17212B"/>
                    </a:solidFill>
                    <a:latin typeface="Arial"/>
                    <a:ea typeface="Microsoft YaHei"/>
                    <a:cs typeface="Arial"/>
                  </a:rPr>
                  <a:t>18:00 • Court A</a:t>
                </a:r>
              </a:p>
            </p:txBody>
          </p:sp>
          <p:sp>
            <p:nvSpPr>
              <p:cNvPr id="39" name="TextBox 39"/>
              <p:cNvSpPr txBox="1"/>
              <p:nvPr/>
            </p:nvSpPr>
            <p:spPr>
              <a:xfrm>
                <a:off x="5215890" y="3087052"/>
                <a:ext cx="1475851" cy="213360"/>
              </a:xfrm>
              <a:prstGeom prst="rect">
                <a:avLst/>
              </a:prstGeom>
              <a:noFill/>
              <a:ln>
                <a:noFill/>
              </a:ln>
              <a:effectLst>
                <a:outerShdw blurRad="171450" dist="57150" dir="10799427" algn="tl" rotWithShape="0">
                  <a:srgbClr val="12304A">
                    <a:alpha val="17000"/>
                  </a:srgbClr>
                </a:outerShdw>
              </a:effectLst>
            </p:spPr>
            <p:txBody>
              <a:bodyPr wrap="none" lIns="0" tIns="0" rIns="0" bIns="0" anchor="t" anchorCtr="0">
                <a:spAutoFit/>
              </a:bodyPr>
              <a:lstStyle/>
              <a:p>
                <a:pPr algn="l"/>
                <a:r>
                  <a:rPr lang="zh-CN" sz="1050" dirty="0">
                    <a:solidFill>
                      <a:srgbClr val="5E6B75"/>
                    </a:solidFill>
                    <a:latin typeface="Calibri"/>
                    <a:ea typeface="Microsoft YaHei"/>
                    <a:cs typeface="Calibri"/>
                  </a:rPr>
                  <a:t>5 min • 4.7 ★ • 200k</a:t>
                </a:r>
              </a:p>
            </p:txBody>
          </p:sp>
        </p:grpSp>
        <p:grpSp>
          <p:nvGrpSpPr>
            <p:cNvPr id="47" name="Group 47"/>
            <p:cNvGrpSpPr/>
            <p:nvPr/>
          </p:nvGrpSpPr>
          <p:grpSpPr>
            <a:xfrm>
              <a:off x="5076825" y="3429000"/>
              <a:ext cx="2038350" cy="990600"/>
              <a:chOff x="5076825" y="3429000"/>
              <a:chExt cx="2038350" cy="990600"/>
            </a:xfrm>
          </p:grpSpPr>
          <p:sp>
            <p:nvSpPr>
              <p:cNvPr id="41" name="Freeform 41"/>
              <p:cNvSpPr/>
              <p:nvPr/>
            </p:nvSpPr>
            <p:spPr>
              <a:xfrm>
                <a:off x="5076825" y="3429000"/>
                <a:ext cx="2038350" cy="990600"/>
              </a:xfrm>
              <a:custGeom>
                <a:avLst/>
                <a:gdLst/>
                <a:ahLst/>
                <a:cxnLst/>
                <a:rect l="l" t="t" r="r" b="b"/>
                <a:pathLst>
                  <a:path w="2038350" h="990600">
                    <a:moveTo>
                      <a:pt x="95250" y="0"/>
                    </a:moveTo>
                    <a:lnTo>
                      <a:pt x="1943100" y="0"/>
                    </a:lnTo>
                    <a:cubicBezTo>
                      <a:pt x="1995705" y="0"/>
                      <a:pt x="2038350" y="42645"/>
                      <a:pt x="2038350" y="95250"/>
                    </a:cubicBezTo>
                    <a:lnTo>
                      <a:pt x="2038350" y="895350"/>
                    </a:lnTo>
                    <a:cubicBezTo>
                      <a:pt x="2038350" y="947955"/>
                      <a:pt x="1995705" y="990600"/>
                      <a:pt x="1943100" y="990600"/>
                    </a:cubicBezTo>
                    <a:lnTo>
                      <a:pt x="95250" y="990600"/>
                    </a:lnTo>
                    <a:cubicBezTo>
                      <a:pt x="42645" y="990600"/>
                      <a:pt x="0" y="947955"/>
                      <a:pt x="0" y="895350"/>
                    </a:cubicBezTo>
                    <a:lnTo>
                      <a:pt x="0" y="95250"/>
                    </a:lnTo>
                    <a:cubicBezTo>
                      <a:pt x="0" y="42645"/>
                      <a:pt x="42645" y="0"/>
                      <a:pt x="95250" y="0"/>
                    </a:cubicBezTo>
                    <a:close/>
                  </a:path>
                </a:pathLst>
              </a:custGeom>
              <a:solidFill>
                <a:srgbClr val="17A673">
                  <a:alpha val="10000"/>
                </a:srgbClr>
              </a:solidFill>
              <a:ln w="19050">
                <a:solidFill>
                  <a:srgbClr val="17A673"/>
                </a:solidFill>
              </a:ln>
              <a:effectLst>
                <a:outerShdw blurRad="171450" dist="57150" dir="10799427" algn="tl" rotWithShape="0">
                  <a:srgbClr val="12304A">
                    <a:alpha val="17000"/>
                  </a:srgbClr>
                </a:outerShdw>
              </a:effectLst>
            </p:spPr>
          </p:sp>
          <p:sp>
            <p:nvSpPr>
              <p:cNvPr id="42" name="Freeform 42"/>
              <p:cNvSpPr/>
              <p:nvPr/>
            </p:nvSpPr>
            <p:spPr>
              <a:xfrm>
                <a:off x="5229225" y="3562350"/>
                <a:ext cx="819150" cy="190500"/>
              </a:xfrm>
              <a:custGeom>
                <a:avLst/>
                <a:gdLst/>
                <a:ahLst/>
                <a:cxnLst/>
                <a:rect l="l" t="t" r="r" b="b"/>
                <a:pathLst>
                  <a:path w="819150" h="190500">
                    <a:moveTo>
                      <a:pt x="95250" y="0"/>
                    </a:moveTo>
                    <a:lnTo>
                      <a:pt x="723900" y="0"/>
                    </a:lnTo>
                    <a:cubicBezTo>
                      <a:pt x="776505" y="0"/>
                      <a:pt x="819150" y="42645"/>
                      <a:pt x="819150" y="95250"/>
                    </a:cubicBezTo>
                    <a:lnTo>
                      <a:pt x="819150" y="95250"/>
                    </a:lnTo>
                    <a:cubicBezTo>
                      <a:pt x="819150" y="147855"/>
                      <a:pt x="776505" y="190500"/>
                      <a:pt x="723900" y="190500"/>
                    </a:cubicBezTo>
                    <a:lnTo>
                      <a:pt x="95250" y="190500"/>
                    </a:lnTo>
                    <a:cubicBezTo>
                      <a:pt x="42645" y="190500"/>
                      <a:pt x="0" y="147855"/>
                      <a:pt x="0" y="95250"/>
                    </a:cubicBezTo>
                    <a:lnTo>
                      <a:pt x="0" y="95250"/>
                    </a:lnTo>
                    <a:cubicBezTo>
                      <a:pt x="0" y="42645"/>
                      <a:pt x="42645" y="0"/>
                      <a:pt x="95250" y="0"/>
                    </a:cubicBezTo>
                    <a:close/>
                  </a:path>
                </a:pathLst>
              </a:custGeom>
              <a:solidFill>
                <a:srgbClr val="B7E43C"/>
              </a:solidFill>
              <a:ln>
                <a:noFill/>
              </a:ln>
              <a:effectLst>
                <a:outerShdw blurRad="171450" dist="57150" dir="10799427" algn="tl" rotWithShape="0">
                  <a:srgbClr val="12304A">
                    <a:alpha val="17000"/>
                  </a:srgbClr>
                </a:outerShdw>
              </a:effectLst>
            </p:spPr>
          </p:sp>
          <p:sp>
            <p:nvSpPr>
              <p:cNvPr id="43" name="TextBox 43"/>
              <p:cNvSpPr txBox="1"/>
              <p:nvPr/>
            </p:nvSpPr>
            <p:spPr>
              <a:xfrm>
                <a:off x="5327362" y="3624262"/>
                <a:ext cx="622875" cy="152400"/>
              </a:xfrm>
              <a:prstGeom prst="rect">
                <a:avLst/>
              </a:prstGeom>
              <a:noFill/>
              <a:ln>
                <a:noFill/>
              </a:ln>
              <a:effectLst>
                <a:outerShdw blurRad="171450" dist="57150" dir="10799427" algn="tl" rotWithShape="0">
                  <a:srgbClr val="12304A">
                    <a:alpha val="17000"/>
                  </a:srgbClr>
                </a:outerShdw>
              </a:effectLst>
            </p:spPr>
            <p:txBody>
              <a:bodyPr wrap="none" lIns="0" tIns="0" rIns="0" bIns="0" anchor="t" anchorCtr="0">
                <a:spAutoFit/>
              </a:bodyPr>
              <a:lstStyle/>
              <a:p>
                <a:pPr algn="ctr"/>
                <a:r>
                  <a:rPr lang="zh-CN" sz="750" b="1" dirty="0">
                    <a:solidFill>
                      <a:srgbClr val="12304A"/>
                    </a:solidFill>
                    <a:latin typeface="Arial"/>
                    <a:ea typeface="Microsoft YaHei"/>
                    <a:cs typeface="Arial"/>
                  </a:rPr>
                  <a:t>BEST VALUE</a:t>
                </a:r>
              </a:p>
            </p:txBody>
          </p:sp>
          <p:sp>
            <p:nvSpPr>
              <p:cNvPr id="44" name="TextBox 44"/>
              <p:cNvSpPr txBox="1"/>
              <p:nvPr/>
            </p:nvSpPr>
            <p:spPr>
              <a:xfrm>
                <a:off x="5212080" y="3864292"/>
                <a:ext cx="1535228" cy="274320"/>
              </a:xfrm>
              <a:prstGeom prst="rect">
                <a:avLst/>
              </a:prstGeom>
              <a:noFill/>
              <a:ln>
                <a:noFill/>
              </a:ln>
              <a:effectLst>
                <a:outerShdw blurRad="171450" dist="57150" dir="10799427" algn="tl" rotWithShape="0">
                  <a:srgbClr val="12304A">
                    <a:alpha val="17000"/>
                  </a:srgbClr>
                </a:outerShdw>
              </a:effectLst>
            </p:spPr>
            <p:txBody>
              <a:bodyPr wrap="none" lIns="0" tIns="0" rIns="0" bIns="0" anchor="t" anchorCtr="0">
                <a:spAutoFit/>
              </a:bodyPr>
              <a:lstStyle/>
              <a:p>
                <a:pPr algn="l"/>
                <a:r>
                  <a:rPr lang="zh-CN" sz="1350" b="1" dirty="0">
                    <a:solidFill>
                      <a:srgbClr val="17212B"/>
                    </a:solidFill>
                    <a:latin typeface="Arial"/>
                    <a:ea typeface="Microsoft YaHei"/>
                    <a:cs typeface="Arial"/>
                  </a:rPr>
                  <a:t>17:00 • Court B</a:t>
                </a:r>
              </a:p>
            </p:txBody>
          </p:sp>
          <p:sp>
            <p:nvSpPr>
              <p:cNvPr id="45" name="TextBox 45"/>
              <p:cNvSpPr txBox="1"/>
              <p:nvPr/>
            </p:nvSpPr>
            <p:spPr>
              <a:xfrm>
                <a:off x="5215890" y="4106228"/>
                <a:ext cx="1437513" cy="213360"/>
              </a:xfrm>
              <a:prstGeom prst="rect">
                <a:avLst/>
              </a:prstGeom>
              <a:noFill/>
              <a:ln>
                <a:noFill/>
              </a:ln>
              <a:effectLst>
                <a:outerShdw blurRad="171450" dist="57150" dir="10799427" algn="tl" rotWithShape="0">
                  <a:srgbClr val="12304A">
                    <a:alpha val="17000"/>
                  </a:srgbClr>
                </a:outerShdw>
              </a:effectLst>
            </p:spPr>
            <p:txBody>
              <a:bodyPr wrap="none" lIns="0" tIns="0" rIns="0" bIns="0" anchor="t" anchorCtr="0">
                <a:spAutoFit/>
              </a:bodyPr>
              <a:lstStyle/>
              <a:p>
                <a:pPr algn="l"/>
                <a:r>
                  <a:rPr lang="zh-CN" sz="1050" dirty="0">
                    <a:solidFill>
                      <a:srgbClr val="5E6B75"/>
                    </a:solidFill>
                    <a:latin typeface="Calibri"/>
                    <a:ea typeface="Microsoft YaHei"/>
                    <a:cs typeface="Calibri"/>
                  </a:rPr>
                  <a:t>8 min • 4.6 ★ • 160k</a:t>
                </a:r>
              </a:p>
            </p:txBody>
          </p:sp>
          <p:sp>
            <p:nvSpPr>
              <p:cNvPr id="46" name="TextBox 46"/>
              <p:cNvSpPr txBox="1"/>
              <p:nvPr/>
            </p:nvSpPr>
            <p:spPr>
              <a:xfrm>
                <a:off x="6291790" y="4114324"/>
                <a:ext cx="645268" cy="198120"/>
              </a:xfrm>
              <a:prstGeom prst="rect">
                <a:avLst/>
              </a:prstGeom>
              <a:noFill/>
              <a:ln>
                <a:noFill/>
              </a:ln>
              <a:effectLst>
                <a:outerShdw blurRad="171450" dist="57150" dir="10799427" algn="tl" rotWithShape="0">
                  <a:srgbClr val="12304A">
                    <a:alpha val="17000"/>
                  </a:srgbClr>
                </a:outerShdw>
              </a:effectLst>
            </p:spPr>
            <p:txBody>
              <a:bodyPr wrap="none" lIns="0" tIns="0" rIns="0" bIns="0" anchor="t" anchorCtr="0">
                <a:spAutoFit/>
              </a:bodyPr>
              <a:lstStyle/>
              <a:p>
                <a:pPr algn="r"/>
                <a:r>
                  <a:rPr lang="zh-CN" sz="975" b="1" dirty="0">
                    <a:solidFill>
                      <a:srgbClr val="17A673"/>
                    </a:solidFill>
                    <a:latin typeface="Arial"/>
                    <a:ea typeface="Microsoft YaHei"/>
                    <a:cs typeface="Arial"/>
                  </a:rPr>
                  <a:t>Save 40k</a:t>
                </a:r>
              </a:p>
            </p:txBody>
          </p:sp>
        </p:grpSp>
        <p:grpSp>
          <p:nvGrpSpPr>
            <p:cNvPr id="51" name="Group 51"/>
            <p:cNvGrpSpPr/>
            <p:nvPr/>
          </p:nvGrpSpPr>
          <p:grpSpPr>
            <a:xfrm>
              <a:off x="5076825" y="4533900"/>
              <a:ext cx="2038350" cy="685800"/>
              <a:chOff x="5076825" y="4533900"/>
              <a:chExt cx="2038350" cy="685800"/>
            </a:xfrm>
          </p:grpSpPr>
          <p:sp>
            <p:nvSpPr>
              <p:cNvPr id="48" name="Freeform 48"/>
              <p:cNvSpPr/>
              <p:nvPr/>
            </p:nvSpPr>
            <p:spPr>
              <a:xfrm>
                <a:off x="5076825" y="4533900"/>
                <a:ext cx="2038350" cy="685800"/>
              </a:xfrm>
              <a:custGeom>
                <a:avLst/>
                <a:gdLst/>
                <a:ahLst/>
                <a:cxnLst/>
                <a:rect l="l" t="t" r="r" b="b"/>
                <a:pathLst>
                  <a:path w="2038350" h="685800">
                    <a:moveTo>
                      <a:pt x="95250" y="0"/>
                    </a:moveTo>
                    <a:lnTo>
                      <a:pt x="1943100" y="0"/>
                    </a:lnTo>
                    <a:cubicBezTo>
                      <a:pt x="1995705" y="0"/>
                      <a:pt x="2038350" y="42645"/>
                      <a:pt x="2038350" y="95250"/>
                    </a:cubicBezTo>
                    <a:lnTo>
                      <a:pt x="2038350" y="590550"/>
                    </a:lnTo>
                    <a:cubicBezTo>
                      <a:pt x="2038350" y="643155"/>
                      <a:pt x="1995705" y="685800"/>
                      <a:pt x="1943100" y="685800"/>
                    </a:cubicBezTo>
                    <a:lnTo>
                      <a:pt x="95250" y="685800"/>
                    </a:lnTo>
                    <a:cubicBezTo>
                      <a:pt x="42645" y="685800"/>
                      <a:pt x="0" y="643155"/>
                      <a:pt x="0" y="590550"/>
                    </a:cubicBezTo>
                    <a:lnTo>
                      <a:pt x="0" y="95250"/>
                    </a:lnTo>
                    <a:cubicBezTo>
                      <a:pt x="0" y="42645"/>
                      <a:pt x="42645" y="0"/>
                      <a:pt x="95250" y="0"/>
                    </a:cubicBezTo>
                    <a:close/>
                  </a:path>
                </a:pathLst>
              </a:custGeom>
              <a:solidFill>
                <a:srgbClr val="FFFFFF"/>
              </a:solidFill>
              <a:ln w="9525">
                <a:solidFill>
                  <a:srgbClr val="CED8D3"/>
                </a:solidFill>
              </a:ln>
              <a:effectLst>
                <a:outerShdw blurRad="171450" dist="57150" dir="10799427" algn="tl" rotWithShape="0">
                  <a:srgbClr val="12304A">
                    <a:alpha val="17000"/>
                  </a:srgbClr>
                </a:outerShdw>
              </a:effectLst>
            </p:spPr>
          </p:sp>
          <p:sp>
            <p:nvSpPr>
              <p:cNvPr id="49" name="TextBox 49"/>
              <p:cNvSpPr txBox="1"/>
              <p:nvPr/>
            </p:nvSpPr>
            <p:spPr>
              <a:xfrm>
                <a:off x="5213985" y="4642485"/>
                <a:ext cx="1364647" cy="243840"/>
              </a:xfrm>
              <a:prstGeom prst="rect">
                <a:avLst/>
              </a:prstGeom>
              <a:noFill/>
              <a:ln>
                <a:noFill/>
              </a:ln>
              <a:effectLst>
                <a:outerShdw blurRad="171450" dist="57150" dir="10799427" algn="tl" rotWithShape="0">
                  <a:srgbClr val="12304A">
                    <a:alpha val="17000"/>
                  </a:srgbClr>
                </a:outerShdw>
              </a:effectLst>
            </p:spPr>
            <p:txBody>
              <a:bodyPr wrap="none" lIns="0" tIns="0" rIns="0" bIns="0" anchor="t" anchorCtr="0">
                <a:spAutoFit/>
              </a:bodyPr>
              <a:lstStyle/>
              <a:p>
                <a:pPr algn="l"/>
                <a:r>
                  <a:rPr lang="zh-CN" sz="1200" b="1" dirty="0">
                    <a:solidFill>
                      <a:srgbClr val="17212B"/>
                    </a:solidFill>
                    <a:latin typeface="Arial"/>
                    <a:ea typeface="Microsoft YaHei"/>
                    <a:cs typeface="Arial"/>
                  </a:rPr>
                  <a:t>18:30 • Court C</a:t>
                </a:r>
              </a:p>
            </p:txBody>
          </p:sp>
          <p:sp>
            <p:nvSpPr>
              <p:cNvPr id="50" name="TextBox 50"/>
              <p:cNvSpPr txBox="1"/>
              <p:nvPr/>
            </p:nvSpPr>
            <p:spPr>
              <a:xfrm>
                <a:off x="5215890" y="4896802"/>
                <a:ext cx="1483519" cy="213360"/>
              </a:xfrm>
              <a:prstGeom prst="rect">
                <a:avLst/>
              </a:prstGeom>
              <a:noFill/>
              <a:ln>
                <a:noFill/>
              </a:ln>
              <a:effectLst>
                <a:outerShdw blurRad="171450" dist="57150" dir="10799427" algn="tl" rotWithShape="0">
                  <a:srgbClr val="12304A">
                    <a:alpha val="17000"/>
                  </a:srgbClr>
                </a:outerShdw>
              </a:effectLst>
            </p:spPr>
            <p:txBody>
              <a:bodyPr wrap="none" lIns="0" tIns="0" rIns="0" bIns="0" anchor="t" anchorCtr="0">
                <a:spAutoFit/>
              </a:bodyPr>
              <a:lstStyle/>
              <a:p>
                <a:pPr algn="l"/>
                <a:r>
                  <a:rPr lang="zh-CN" sz="1050" dirty="0">
                    <a:solidFill>
                      <a:srgbClr val="5E6B75"/>
                    </a:solidFill>
                    <a:latin typeface="Calibri"/>
                    <a:ea typeface="Microsoft YaHei"/>
                    <a:cs typeface="Calibri"/>
                  </a:rPr>
                  <a:t>12 min • 4.8 ★ • 190k</a:t>
                </a:r>
              </a:p>
            </p:txBody>
          </p:sp>
        </p:grpSp>
      </p:grpSp>
      <p:sp>
        <p:nvSpPr>
          <p:cNvPr id="53" name="TextBox 53"/>
          <p:cNvSpPr txBox="1"/>
          <p:nvPr/>
        </p:nvSpPr>
        <p:spPr>
          <a:xfrm>
            <a:off x="4889211" y="5871210"/>
            <a:ext cx="2413578" cy="243840"/>
          </a:xfrm>
          <a:prstGeom prst="rect">
            <a:avLst/>
          </a:prstGeom>
          <a:noFill/>
          <a:ln>
            <a:noFill/>
          </a:ln>
        </p:spPr>
        <p:txBody>
          <a:bodyPr wrap="none" lIns="0" tIns="0" rIns="0" bIns="0" anchor="t" anchorCtr="0">
            <a:spAutoFit/>
          </a:bodyPr>
          <a:lstStyle/>
          <a:p>
            <a:pPr algn="ctr"/>
            <a:r>
              <a:rPr lang="zh-CN" sz="1200" b="1" dirty="0">
                <a:solidFill>
                  <a:srgbClr val="12304A"/>
                </a:solidFill>
                <a:latin typeface="Arial"/>
                <a:ea typeface="Microsoft YaHei"/>
                <a:cs typeface="Arial"/>
              </a:rPr>
              <a:t>2. Compare ranked options</a:t>
            </a:r>
          </a:p>
        </p:txBody>
      </p:sp>
      <p:grpSp>
        <p:nvGrpSpPr>
          <p:cNvPr id="70" name="Group 70"/>
          <p:cNvGrpSpPr/>
          <p:nvPr/>
        </p:nvGrpSpPr>
        <p:grpSpPr>
          <a:xfrm>
            <a:off x="8591550" y="1466850"/>
            <a:ext cx="3038117" cy="4267200"/>
            <a:chOff x="8591550" y="1466850"/>
            <a:chExt cx="3038117" cy="4267200"/>
          </a:xfrm>
          <a:effectLst>
            <a:outerShdw blurRad="171450" dist="57150" dir="10799427" algn="tl" rotWithShape="0">
              <a:srgbClr val="12304A">
                <a:alpha val="17000"/>
              </a:srgbClr>
            </a:outerShdw>
          </a:effectLst>
        </p:grpSpPr>
        <p:sp>
          <p:nvSpPr>
            <p:cNvPr id="54" name="Freeform 54"/>
            <p:cNvSpPr/>
            <p:nvPr/>
          </p:nvSpPr>
          <p:spPr>
            <a:xfrm>
              <a:off x="8591550" y="1466850"/>
              <a:ext cx="2724150" cy="4267200"/>
            </a:xfrm>
            <a:custGeom>
              <a:avLst/>
              <a:gdLst/>
              <a:ahLst/>
              <a:cxnLst/>
              <a:rect l="l" t="t" r="r" b="b"/>
              <a:pathLst>
                <a:path w="2724150" h="4267200">
                  <a:moveTo>
                    <a:pt x="323850" y="0"/>
                  </a:moveTo>
                  <a:lnTo>
                    <a:pt x="2400300" y="0"/>
                  </a:lnTo>
                  <a:cubicBezTo>
                    <a:pt x="2579157" y="0"/>
                    <a:pt x="2724150" y="144993"/>
                    <a:pt x="2724150" y="323850"/>
                  </a:cubicBezTo>
                  <a:lnTo>
                    <a:pt x="2724150" y="3943350"/>
                  </a:lnTo>
                  <a:cubicBezTo>
                    <a:pt x="2724150" y="4122207"/>
                    <a:pt x="2579157" y="4267200"/>
                    <a:pt x="2400300" y="4267200"/>
                  </a:cubicBezTo>
                  <a:lnTo>
                    <a:pt x="323850" y="4267200"/>
                  </a:lnTo>
                  <a:cubicBezTo>
                    <a:pt x="144993" y="4267200"/>
                    <a:pt x="0" y="4122207"/>
                    <a:pt x="0" y="3943350"/>
                  </a:cubicBezTo>
                  <a:lnTo>
                    <a:pt x="0" y="323850"/>
                  </a:lnTo>
                  <a:cubicBezTo>
                    <a:pt x="0" y="144993"/>
                    <a:pt x="144993" y="0"/>
                    <a:pt x="323850" y="0"/>
                  </a:cubicBezTo>
                  <a:close/>
                </a:path>
              </a:pathLst>
            </a:custGeom>
            <a:solidFill>
              <a:srgbClr val="17212B"/>
            </a:solidFill>
            <a:ln>
              <a:noFill/>
            </a:ln>
            <a:effectLst>
              <a:outerShdw blurRad="171450" dist="57150" dir="10799427" algn="tl" rotWithShape="0">
                <a:srgbClr val="12304A">
                  <a:alpha val="17000"/>
                </a:srgbClr>
              </a:outerShdw>
            </a:effectLst>
          </p:spPr>
        </p:sp>
        <p:sp>
          <p:nvSpPr>
            <p:cNvPr id="55" name="Freeform 55"/>
            <p:cNvSpPr/>
            <p:nvPr/>
          </p:nvSpPr>
          <p:spPr>
            <a:xfrm>
              <a:off x="8724900" y="1619250"/>
              <a:ext cx="2457450" cy="3962400"/>
            </a:xfrm>
            <a:custGeom>
              <a:avLst/>
              <a:gdLst/>
              <a:ahLst/>
              <a:cxnLst/>
              <a:rect l="l" t="t" r="r" b="b"/>
              <a:pathLst>
                <a:path w="2457450" h="3962400">
                  <a:moveTo>
                    <a:pt x="228600" y="0"/>
                  </a:moveTo>
                  <a:lnTo>
                    <a:pt x="2228850" y="0"/>
                  </a:lnTo>
                  <a:cubicBezTo>
                    <a:pt x="2355102" y="0"/>
                    <a:pt x="2457450" y="102348"/>
                    <a:pt x="2457450" y="228600"/>
                  </a:cubicBezTo>
                  <a:lnTo>
                    <a:pt x="2457450" y="3733800"/>
                  </a:lnTo>
                  <a:cubicBezTo>
                    <a:pt x="2457450" y="3860052"/>
                    <a:pt x="2355102" y="3962400"/>
                    <a:pt x="2228850" y="3962400"/>
                  </a:cubicBezTo>
                  <a:lnTo>
                    <a:pt x="228600" y="3962400"/>
                  </a:lnTo>
                  <a:cubicBezTo>
                    <a:pt x="102348" y="3962400"/>
                    <a:pt x="0" y="3860052"/>
                    <a:pt x="0" y="3733800"/>
                  </a:cubicBezTo>
                  <a:lnTo>
                    <a:pt x="0" y="228600"/>
                  </a:lnTo>
                  <a:cubicBezTo>
                    <a:pt x="0" y="102348"/>
                    <a:pt x="102348" y="0"/>
                    <a:pt x="228600" y="0"/>
                  </a:cubicBezTo>
                  <a:close/>
                </a:path>
              </a:pathLst>
            </a:custGeom>
            <a:solidFill>
              <a:srgbClr val="FFFFFF"/>
            </a:solidFill>
            <a:ln>
              <a:noFill/>
            </a:ln>
            <a:effectLst>
              <a:outerShdw blurRad="171450" dist="57150" dir="10799427" algn="tl" rotWithShape="0">
                <a:srgbClr val="12304A">
                  <a:alpha val="17000"/>
                </a:srgbClr>
              </a:outerShdw>
            </a:effectLst>
          </p:spPr>
        </p:sp>
        <p:sp>
          <p:nvSpPr>
            <p:cNvPr id="56" name="Freeform 56"/>
            <p:cNvSpPr/>
            <p:nvPr/>
          </p:nvSpPr>
          <p:spPr>
            <a:xfrm>
              <a:off x="9525000" y="1695450"/>
              <a:ext cx="857250" cy="76200"/>
            </a:xfrm>
            <a:custGeom>
              <a:avLst/>
              <a:gdLst/>
              <a:ahLst/>
              <a:cxnLst/>
              <a:rect l="l" t="t" r="r" b="b"/>
              <a:pathLst>
                <a:path w="857250" h="76200">
                  <a:moveTo>
                    <a:pt x="38100" y="0"/>
                  </a:moveTo>
                  <a:lnTo>
                    <a:pt x="819150" y="0"/>
                  </a:lnTo>
                  <a:cubicBezTo>
                    <a:pt x="840192" y="0"/>
                    <a:pt x="857250" y="17058"/>
                    <a:pt x="857250" y="38100"/>
                  </a:cubicBezTo>
                  <a:lnTo>
                    <a:pt x="857250" y="38100"/>
                  </a:lnTo>
                  <a:cubicBezTo>
                    <a:pt x="857250" y="59142"/>
                    <a:pt x="840192" y="76200"/>
                    <a:pt x="819150" y="76200"/>
                  </a:cubicBezTo>
                  <a:lnTo>
                    <a:pt x="38100" y="76200"/>
                  </a:lnTo>
                  <a:cubicBezTo>
                    <a:pt x="17058" y="76200"/>
                    <a:pt x="0" y="59142"/>
                    <a:pt x="0" y="38100"/>
                  </a:cubicBezTo>
                  <a:lnTo>
                    <a:pt x="0" y="38100"/>
                  </a:lnTo>
                  <a:cubicBezTo>
                    <a:pt x="0" y="17058"/>
                    <a:pt x="17058" y="0"/>
                    <a:pt x="38100" y="0"/>
                  </a:cubicBezTo>
                  <a:close/>
                </a:path>
              </a:pathLst>
            </a:custGeom>
            <a:solidFill>
              <a:srgbClr val="CED8D3"/>
            </a:solidFill>
            <a:ln>
              <a:noFill/>
            </a:ln>
            <a:effectLst>
              <a:outerShdw blurRad="171450" dist="57150" dir="10799427" algn="tl" rotWithShape="0">
                <a:srgbClr val="12304A">
                  <a:alpha val="17000"/>
                </a:srgbClr>
              </a:outerShdw>
            </a:effectLst>
          </p:spPr>
        </p:sp>
        <p:sp>
          <p:nvSpPr>
            <p:cNvPr id="57" name="TextBox 57"/>
            <p:cNvSpPr txBox="1"/>
            <p:nvPr/>
          </p:nvSpPr>
          <p:spPr>
            <a:xfrm>
              <a:off x="8915400" y="1952625"/>
              <a:ext cx="2142863" cy="304800"/>
            </a:xfrm>
            <a:prstGeom prst="rect">
              <a:avLst/>
            </a:prstGeom>
            <a:noFill/>
            <a:ln>
              <a:noFill/>
            </a:ln>
            <a:effectLst>
              <a:outerShdw blurRad="171450" dist="57150" dir="10799427" algn="tl" rotWithShape="0">
                <a:srgbClr val="12304A">
                  <a:alpha val="17000"/>
                </a:srgbClr>
              </a:outerShdw>
            </a:effectLst>
          </p:spPr>
          <p:txBody>
            <a:bodyPr wrap="none" lIns="0" tIns="0" rIns="0" bIns="0" anchor="t" anchorCtr="0">
              <a:spAutoFit/>
            </a:bodyPr>
            <a:lstStyle/>
            <a:p>
              <a:pPr algn="l"/>
              <a:r>
                <a:rPr lang="zh-CN" sz="1500" b="1" dirty="0">
                  <a:solidFill>
                    <a:srgbClr val="12304A"/>
                  </a:solidFill>
                  <a:latin typeface="Arial"/>
                  <a:ea typeface="Microsoft YaHei"/>
                  <a:cs typeface="Arial"/>
                </a:rPr>
                <a:t>Why recommended?</a:t>
              </a:r>
            </a:p>
          </p:txBody>
        </p:sp>
        <p:sp>
          <p:nvSpPr>
            <p:cNvPr id="58" name="Freeform 58"/>
            <p:cNvSpPr/>
            <p:nvPr/>
          </p:nvSpPr>
          <p:spPr>
            <a:xfrm>
              <a:off x="8934450" y="2381250"/>
              <a:ext cx="2038350" cy="723900"/>
            </a:xfrm>
            <a:custGeom>
              <a:avLst/>
              <a:gdLst/>
              <a:ahLst/>
              <a:cxnLst/>
              <a:rect l="l" t="t" r="r" b="b"/>
              <a:pathLst>
                <a:path w="2038350" h="723900">
                  <a:moveTo>
                    <a:pt x="95250" y="0"/>
                  </a:moveTo>
                  <a:lnTo>
                    <a:pt x="1943100" y="0"/>
                  </a:lnTo>
                  <a:cubicBezTo>
                    <a:pt x="1995705" y="0"/>
                    <a:pt x="2038350" y="42645"/>
                    <a:pt x="2038350" y="95250"/>
                  </a:cubicBezTo>
                  <a:lnTo>
                    <a:pt x="2038350" y="628650"/>
                  </a:lnTo>
                  <a:cubicBezTo>
                    <a:pt x="2038350" y="681255"/>
                    <a:pt x="1995705" y="723900"/>
                    <a:pt x="1943100" y="723900"/>
                  </a:cubicBezTo>
                  <a:lnTo>
                    <a:pt x="95250" y="723900"/>
                  </a:lnTo>
                  <a:cubicBezTo>
                    <a:pt x="42645" y="723900"/>
                    <a:pt x="0" y="681255"/>
                    <a:pt x="0" y="628650"/>
                  </a:cubicBezTo>
                  <a:lnTo>
                    <a:pt x="0" y="95250"/>
                  </a:lnTo>
                  <a:cubicBezTo>
                    <a:pt x="0" y="42645"/>
                    <a:pt x="42645" y="0"/>
                    <a:pt x="95250" y="0"/>
                  </a:cubicBezTo>
                  <a:close/>
                </a:path>
              </a:pathLst>
            </a:custGeom>
            <a:solidFill>
              <a:srgbClr val="B7E43C">
                <a:alpha val="22000"/>
              </a:srgbClr>
            </a:solidFill>
            <a:ln>
              <a:noFill/>
            </a:ln>
            <a:effectLst>
              <a:outerShdw blurRad="171450" dist="57150" dir="10799427" algn="tl" rotWithShape="0">
                <a:srgbClr val="12304A">
                  <a:alpha val="17000"/>
                </a:srgbClr>
              </a:outerShdw>
            </a:effectLst>
          </p:spPr>
        </p:sp>
        <p:sp>
          <p:nvSpPr>
            <p:cNvPr id="59" name="TextBox 59"/>
            <p:cNvSpPr txBox="1"/>
            <p:nvPr/>
          </p:nvSpPr>
          <p:spPr>
            <a:xfrm>
              <a:off x="9069705" y="2502218"/>
              <a:ext cx="1638741" cy="274320"/>
            </a:xfrm>
            <a:prstGeom prst="rect">
              <a:avLst/>
            </a:prstGeom>
            <a:noFill/>
            <a:ln>
              <a:noFill/>
            </a:ln>
            <a:effectLst>
              <a:outerShdw blurRad="171450" dist="57150" dir="10799427" algn="tl" rotWithShape="0">
                <a:srgbClr val="12304A">
                  <a:alpha val="17000"/>
                </a:srgbClr>
              </a:outerShdw>
            </a:effectLst>
          </p:spPr>
          <p:txBody>
            <a:bodyPr wrap="none" lIns="0" tIns="0" rIns="0" bIns="0" anchor="t" anchorCtr="0">
              <a:spAutoFit/>
            </a:bodyPr>
            <a:lstStyle/>
            <a:p>
              <a:pPr algn="l"/>
              <a:r>
                <a:rPr lang="zh-CN" sz="1350" b="1" dirty="0">
                  <a:solidFill>
                    <a:srgbClr val="12304A"/>
                  </a:solidFill>
                  <a:latin typeface="Arial"/>
                  <a:ea typeface="Microsoft YaHei"/>
                  <a:cs typeface="Arial"/>
                </a:rPr>
                <a:t>Save 40,000 VND</a:t>
              </a:r>
            </a:p>
          </p:txBody>
        </p:sp>
        <p:sp>
          <p:nvSpPr>
            <p:cNvPr id="60" name="TextBox 60"/>
            <p:cNvSpPr txBox="1"/>
            <p:nvPr/>
          </p:nvSpPr>
          <p:spPr>
            <a:xfrm>
              <a:off x="9073515" y="2772728"/>
              <a:ext cx="2334625" cy="213360"/>
            </a:xfrm>
            <a:prstGeom prst="rect">
              <a:avLst/>
            </a:prstGeom>
            <a:noFill/>
            <a:ln>
              <a:noFill/>
            </a:ln>
            <a:effectLst>
              <a:outerShdw blurRad="171450" dist="57150" dir="10799427" algn="tl" rotWithShape="0">
                <a:srgbClr val="12304A">
                  <a:alpha val="17000"/>
                </a:srgbClr>
              </a:outerShdw>
            </a:effectLst>
          </p:spPr>
          <p:txBody>
            <a:bodyPr wrap="none" lIns="0" tIns="0" rIns="0" bIns="0" anchor="t" anchorCtr="0">
              <a:spAutoFit/>
            </a:bodyPr>
            <a:lstStyle/>
            <a:p>
              <a:pPr algn="l"/>
              <a:r>
                <a:rPr lang="zh-CN" sz="1050" dirty="0">
                  <a:solidFill>
                    <a:srgbClr val="17212B"/>
                  </a:solidFill>
                  <a:latin typeface="Calibri"/>
                  <a:ea typeface="Microsoft YaHei"/>
                  <a:cs typeface="Calibri"/>
                </a:rPr>
                <a:t>Start at 17:00 instead of 18:00</a:t>
              </a:r>
            </a:p>
          </p:txBody>
        </p:sp>
        <p:grpSp>
          <p:nvGrpSpPr>
            <p:cNvPr id="67" name="Group 67"/>
            <p:cNvGrpSpPr/>
            <p:nvPr/>
          </p:nvGrpSpPr>
          <p:grpSpPr>
            <a:xfrm>
              <a:off x="8972550" y="3371850"/>
              <a:ext cx="2657117" cy="1221581"/>
              <a:chOff x="8972550" y="3371850"/>
              <a:chExt cx="2657117" cy="1221581"/>
            </a:xfrm>
          </p:grpSpPr>
          <p:sp>
            <p:nvSpPr>
              <p:cNvPr id="61" name="Freeform 61"/>
              <p:cNvSpPr/>
              <p:nvPr/>
            </p:nvSpPr>
            <p:spPr>
              <a:xfrm>
                <a:off x="8972550" y="3371850"/>
                <a:ext cx="266700" cy="266700"/>
              </a:xfrm>
              <a:custGeom>
                <a:avLst/>
                <a:gdLst/>
                <a:ahLst/>
                <a:cxnLst/>
                <a:rect l="l" t="t" r="r" b="b"/>
                <a:pathLst>
                  <a:path w="266700" h="266700">
                    <a:moveTo>
                      <a:pt x="133350" y="266700"/>
                    </a:moveTo>
                    <a:cubicBezTo>
                      <a:pt x="206998" y="266700"/>
                      <a:pt x="266700" y="206998"/>
                      <a:pt x="266700" y="133350"/>
                    </a:cubicBezTo>
                    <a:cubicBezTo>
                      <a:pt x="266700" y="59703"/>
                      <a:pt x="206998" y="0"/>
                      <a:pt x="133350" y="0"/>
                    </a:cubicBezTo>
                    <a:cubicBezTo>
                      <a:pt x="59703" y="0"/>
                      <a:pt x="0" y="59703"/>
                      <a:pt x="0" y="133350"/>
                    </a:cubicBezTo>
                    <a:cubicBezTo>
                      <a:pt x="0" y="206998"/>
                      <a:pt x="59703" y="266700"/>
                      <a:pt x="133350" y="266700"/>
                    </a:cubicBezTo>
                    <a:close/>
                    <a:moveTo>
                      <a:pt x="116681" y="50006"/>
                    </a:moveTo>
                    <a:lnTo>
                      <a:pt x="116681" y="140254"/>
                    </a:lnTo>
                    <a:lnTo>
                      <a:pt x="171570" y="195143"/>
                    </a:lnTo>
                    <a:lnTo>
                      <a:pt x="195143" y="171570"/>
                    </a:lnTo>
                    <a:lnTo>
                      <a:pt x="150019" y="126446"/>
                    </a:lnTo>
                    <a:lnTo>
                      <a:pt x="150019" y="50006"/>
                    </a:lnTo>
                    <a:lnTo>
                      <a:pt x="116681" y="50006"/>
                    </a:lnTo>
                    <a:close/>
                  </a:path>
                </a:pathLst>
              </a:custGeom>
              <a:solidFill>
                <a:srgbClr val="17A673"/>
              </a:solidFill>
              <a:ln>
                <a:noFill/>
              </a:ln>
              <a:effectLst>
                <a:outerShdw blurRad="171450" dist="57150" dir="10799427" algn="tl" rotWithShape="0">
                  <a:srgbClr val="12304A">
                    <a:alpha val="17000"/>
                  </a:srgbClr>
                </a:outerShdw>
              </a:effectLst>
            </p:spPr>
          </p:sp>
          <p:sp>
            <p:nvSpPr>
              <p:cNvPr id="62" name="TextBox 62"/>
              <p:cNvSpPr txBox="1"/>
              <p:nvPr/>
            </p:nvSpPr>
            <p:spPr>
              <a:xfrm>
                <a:off x="9358312" y="3412331"/>
                <a:ext cx="2271355" cy="228600"/>
              </a:xfrm>
              <a:prstGeom prst="rect">
                <a:avLst/>
              </a:prstGeom>
              <a:noFill/>
              <a:ln>
                <a:noFill/>
              </a:ln>
              <a:effectLst>
                <a:outerShdw blurRad="171450" dist="57150" dir="10799427" algn="tl" rotWithShape="0">
                  <a:srgbClr val="12304A">
                    <a:alpha val="17000"/>
                  </a:srgbClr>
                </a:outerShdw>
              </a:effectLst>
            </p:spPr>
            <p:txBody>
              <a:bodyPr wrap="none" lIns="0" tIns="0" rIns="0" bIns="0" anchor="t" anchorCtr="0">
                <a:spAutoFit/>
              </a:bodyPr>
              <a:lstStyle/>
              <a:p>
                <a:pPr algn="l"/>
                <a:r>
                  <a:rPr lang="zh-CN" sz="1125" b="1" dirty="0">
                    <a:solidFill>
                      <a:srgbClr val="17212B"/>
                    </a:solidFill>
                    <a:latin typeface="Calibri"/>
                    <a:ea typeface="Microsoft YaHei"/>
                    <a:cs typeface="Calibri"/>
                  </a:rPr>
                  <a:t>Inside your flexible window</a:t>
                </a:r>
              </a:p>
            </p:txBody>
          </p:sp>
          <p:sp>
            <p:nvSpPr>
              <p:cNvPr id="63" name="Freeform 63"/>
              <p:cNvSpPr/>
              <p:nvPr/>
            </p:nvSpPr>
            <p:spPr>
              <a:xfrm>
                <a:off x="9005888" y="3848100"/>
                <a:ext cx="200025" cy="266700"/>
              </a:xfrm>
              <a:custGeom>
                <a:avLst/>
                <a:gdLst/>
                <a:ahLst/>
                <a:cxnLst/>
                <a:rect l="l" t="t" r="r" b="b"/>
                <a:pathLst>
                  <a:path w="200025" h="266700">
                    <a:moveTo>
                      <a:pt x="22985" y="170415"/>
                    </a:moveTo>
                    <a:lnTo>
                      <a:pt x="100012" y="266700"/>
                    </a:lnTo>
                    <a:lnTo>
                      <a:pt x="177040" y="170415"/>
                    </a:lnTo>
                    <a:cubicBezTo>
                      <a:pt x="191919" y="151817"/>
                      <a:pt x="200025" y="128708"/>
                      <a:pt x="200025" y="104891"/>
                    </a:cubicBezTo>
                    <a:lnTo>
                      <a:pt x="200025" y="100012"/>
                    </a:lnTo>
                    <a:cubicBezTo>
                      <a:pt x="200025" y="44777"/>
                      <a:pt x="155248" y="0"/>
                      <a:pt x="100012" y="0"/>
                    </a:cubicBezTo>
                    <a:cubicBezTo>
                      <a:pt x="44777" y="0"/>
                      <a:pt x="0" y="44777"/>
                      <a:pt x="0" y="100012"/>
                    </a:cubicBezTo>
                    <a:lnTo>
                      <a:pt x="0" y="104891"/>
                    </a:lnTo>
                    <a:cubicBezTo>
                      <a:pt x="0" y="128708"/>
                      <a:pt x="8106" y="151817"/>
                      <a:pt x="22985" y="170415"/>
                    </a:cubicBezTo>
                    <a:close/>
                    <a:moveTo>
                      <a:pt x="100012" y="133350"/>
                    </a:moveTo>
                    <a:cubicBezTo>
                      <a:pt x="118424" y="133350"/>
                      <a:pt x="133350" y="118424"/>
                      <a:pt x="133350" y="100012"/>
                    </a:cubicBezTo>
                    <a:cubicBezTo>
                      <a:pt x="133350" y="81601"/>
                      <a:pt x="118424" y="66675"/>
                      <a:pt x="100012" y="66675"/>
                    </a:cubicBezTo>
                    <a:cubicBezTo>
                      <a:pt x="81601" y="66675"/>
                      <a:pt x="66675" y="81601"/>
                      <a:pt x="66675" y="100012"/>
                    </a:cubicBezTo>
                    <a:cubicBezTo>
                      <a:pt x="66675" y="118424"/>
                      <a:pt x="81601" y="133350"/>
                      <a:pt x="100012" y="133350"/>
                    </a:cubicBezTo>
                    <a:close/>
                  </a:path>
                </a:pathLst>
              </a:custGeom>
              <a:solidFill>
                <a:srgbClr val="17A673"/>
              </a:solidFill>
              <a:ln>
                <a:noFill/>
              </a:ln>
              <a:effectLst>
                <a:outerShdw blurRad="171450" dist="57150" dir="10799427" algn="tl" rotWithShape="0">
                  <a:srgbClr val="12304A">
                    <a:alpha val="17000"/>
                  </a:srgbClr>
                </a:outerShdw>
              </a:effectLst>
            </p:spPr>
          </p:sp>
          <p:sp>
            <p:nvSpPr>
              <p:cNvPr id="64" name="TextBox 64"/>
              <p:cNvSpPr txBox="1"/>
              <p:nvPr/>
            </p:nvSpPr>
            <p:spPr>
              <a:xfrm>
                <a:off x="9358312" y="3888581"/>
                <a:ext cx="2055703" cy="228600"/>
              </a:xfrm>
              <a:prstGeom prst="rect">
                <a:avLst/>
              </a:prstGeom>
              <a:noFill/>
              <a:ln>
                <a:noFill/>
              </a:ln>
              <a:effectLst>
                <a:outerShdw blurRad="171450" dist="57150" dir="10799427" algn="tl" rotWithShape="0">
                  <a:srgbClr val="12304A">
                    <a:alpha val="17000"/>
                  </a:srgbClr>
                </a:outerShdw>
              </a:effectLst>
            </p:spPr>
            <p:txBody>
              <a:bodyPr wrap="none" lIns="0" tIns="0" rIns="0" bIns="0" anchor="t" anchorCtr="0">
                <a:spAutoFit/>
              </a:bodyPr>
              <a:lstStyle/>
              <a:p>
                <a:pPr algn="l"/>
                <a:r>
                  <a:rPr lang="zh-CN" sz="1125" b="1" dirty="0">
                    <a:solidFill>
                      <a:srgbClr val="17212B"/>
                    </a:solidFill>
                    <a:latin typeface="Calibri"/>
                    <a:ea typeface="Microsoft YaHei"/>
                    <a:cs typeface="Calibri"/>
                  </a:rPr>
                  <a:t>Only eight minutes away</a:t>
                </a:r>
              </a:p>
            </p:txBody>
          </p:sp>
          <p:sp>
            <p:nvSpPr>
              <p:cNvPr id="65" name="Freeform 65"/>
              <p:cNvSpPr/>
              <p:nvPr/>
            </p:nvSpPr>
            <p:spPr>
              <a:xfrm>
                <a:off x="8989219" y="4324350"/>
                <a:ext cx="233362" cy="266700"/>
              </a:xfrm>
              <a:custGeom>
                <a:avLst/>
                <a:gdLst/>
                <a:ahLst/>
                <a:cxnLst/>
                <a:rect l="l" t="t" r="r" b="b"/>
                <a:pathLst>
                  <a:path w="233362" h="266700">
                    <a:moveTo>
                      <a:pt x="116681" y="266700"/>
                    </a:moveTo>
                    <a:lnTo>
                      <a:pt x="55842" y="223243"/>
                    </a:lnTo>
                    <a:cubicBezTo>
                      <a:pt x="20798" y="198211"/>
                      <a:pt x="0" y="157798"/>
                      <a:pt x="0" y="114732"/>
                    </a:cubicBezTo>
                    <a:lnTo>
                      <a:pt x="0" y="50006"/>
                    </a:lnTo>
                    <a:lnTo>
                      <a:pt x="116681" y="0"/>
                    </a:lnTo>
                    <a:lnTo>
                      <a:pt x="233362" y="50006"/>
                    </a:lnTo>
                    <a:lnTo>
                      <a:pt x="233362" y="114732"/>
                    </a:lnTo>
                    <a:cubicBezTo>
                      <a:pt x="233362" y="157798"/>
                      <a:pt x="212565" y="198211"/>
                      <a:pt x="177521" y="223243"/>
                    </a:cubicBezTo>
                    <a:lnTo>
                      <a:pt x="116681" y="266700"/>
                    </a:lnTo>
                    <a:close/>
                    <a:moveTo>
                      <a:pt x="186808" y="95130"/>
                    </a:moveTo>
                    <a:lnTo>
                      <a:pt x="163235" y="71557"/>
                    </a:lnTo>
                    <a:lnTo>
                      <a:pt x="100012" y="134780"/>
                    </a:lnTo>
                    <a:lnTo>
                      <a:pt x="70127" y="104895"/>
                    </a:lnTo>
                    <a:lnTo>
                      <a:pt x="46554" y="128468"/>
                    </a:lnTo>
                    <a:lnTo>
                      <a:pt x="100012" y="181926"/>
                    </a:lnTo>
                    <a:lnTo>
                      <a:pt x="186808" y="95130"/>
                    </a:lnTo>
                    <a:close/>
                  </a:path>
                </a:pathLst>
              </a:custGeom>
              <a:solidFill>
                <a:srgbClr val="17A673"/>
              </a:solidFill>
              <a:ln>
                <a:noFill/>
              </a:ln>
              <a:effectLst>
                <a:outerShdw blurRad="171450" dist="57150" dir="10799427" algn="tl" rotWithShape="0">
                  <a:srgbClr val="12304A">
                    <a:alpha val="17000"/>
                  </a:srgbClr>
                </a:outerShdw>
              </a:effectLst>
            </p:spPr>
          </p:sp>
          <p:sp>
            <p:nvSpPr>
              <p:cNvPr id="66" name="TextBox 66"/>
              <p:cNvSpPr txBox="1"/>
              <p:nvPr/>
            </p:nvSpPr>
            <p:spPr>
              <a:xfrm>
                <a:off x="9358312" y="4364831"/>
                <a:ext cx="2176468" cy="228600"/>
              </a:xfrm>
              <a:prstGeom prst="rect">
                <a:avLst/>
              </a:prstGeom>
              <a:noFill/>
              <a:ln>
                <a:noFill/>
              </a:ln>
              <a:effectLst>
                <a:outerShdw blurRad="171450" dist="57150" dir="10799427" algn="tl" rotWithShape="0">
                  <a:srgbClr val="12304A">
                    <a:alpha val="17000"/>
                  </a:srgbClr>
                </a:outerShdw>
              </a:effectLst>
            </p:spPr>
            <p:txBody>
              <a:bodyPr wrap="none" lIns="0" tIns="0" rIns="0" bIns="0" anchor="t" anchorCtr="0">
                <a:spAutoFit/>
              </a:bodyPr>
              <a:lstStyle/>
              <a:p>
                <a:pPr algn="l"/>
                <a:r>
                  <a:rPr lang="zh-CN" sz="1125" b="1" dirty="0">
                    <a:solidFill>
                      <a:srgbClr val="17212B"/>
                    </a:solidFill>
                    <a:latin typeface="Calibri"/>
                    <a:ea typeface="Microsoft YaHei"/>
                    <a:cs typeface="Calibri"/>
                  </a:rPr>
                  <a:t>Final price shown upfront</a:t>
                </a:r>
              </a:p>
            </p:txBody>
          </p:sp>
        </p:grpSp>
        <p:sp>
          <p:nvSpPr>
            <p:cNvPr id="68" name="Freeform 68"/>
            <p:cNvSpPr/>
            <p:nvPr/>
          </p:nvSpPr>
          <p:spPr>
            <a:xfrm>
              <a:off x="8934450" y="4857750"/>
              <a:ext cx="2038350" cy="419100"/>
            </a:xfrm>
            <a:custGeom>
              <a:avLst/>
              <a:gdLst/>
              <a:ahLst/>
              <a:cxnLst/>
              <a:rect l="l" t="t" r="r" b="b"/>
              <a:pathLst>
                <a:path w="2038350" h="419100">
                  <a:moveTo>
                    <a:pt x="209550" y="0"/>
                  </a:moveTo>
                  <a:lnTo>
                    <a:pt x="1828800" y="0"/>
                  </a:lnTo>
                  <a:cubicBezTo>
                    <a:pt x="1944531" y="0"/>
                    <a:pt x="2038350" y="93819"/>
                    <a:pt x="2038350" y="209550"/>
                  </a:cubicBezTo>
                  <a:lnTo>
                    <a:pt x="2038350" y="209550"/>
                  </a:lnTo>
                  <a:cubicBezTo>
                    <a:pt x="2038350" y="325281"/>
                    <a:pt x="1944531" y="419100"/>
                    <a:pt x="1828800" y="419100"/>
                  </a:cubicBezTo>
                  <a:lnTo>
                    <a:pt x="209550" y="419100"/>
                  </a:lnTo>
                  <a:cubicBezTo>
                    <a:pt x="93819" y="419100"/>
                    <a:pt x="0" y="325281"/>
                    <a:pt x="0" y="209550"/>
                  </a:cubicBezTo>
                  <a:lnTo>
                    <a:pt x="0" y="209550"/>
                  </a:lnTo>
                  <a:cubicBezTo>
                    <a:pt x="0" y="93819"/>
                    <a:pt x="93819" y="0"/>
                    <a:pt x="209550" y="0"/>
                  </a:cubicBezTo>
                  <a:close/>
                </a:path>
              </a:pathLst>
            </a:custGeom>
            <a:solidFill>
              <a:srgbClr val="12304A"/>
            </a:solidFill>
            <a:ln>
              <a:noFill/>
            </a:ln>
            <a:effectLst>
              <a:outerShdw blurRad="171450" dist="57150" dir="10799427" algn="tl" rotWithShape="0">
                <a:srgbClr val="12304A">
                  <a:alpha val="17000"/>
                </a:srgbClr>
              </a:outerShdw>
            </a:effectLst>
          </p:spPr>
        </p:sp>
        <p:sp>
          <p:nvSpPr>
            <p:cNvPr id="69" name="TextBox 69"/>
            <p:cNvSpPr txBox="1"/>
            <p:nvPr/>
          </p:nvSpPr>
          <p:spPr>
            <a:xfrm>
              <a:off x="9119483" y="4994910"/>
              <a:ext cx="1668285" cy="243840"/>
            </a:xfrm>
            <a:prstGeom prst="rect">
              <a:avLst/>
            </a:prstGeom>
            <a:noFill/>
            <a:ln>
              <a:noFill/>
            </a:ln>
            <a:effectLst>
              <a:outerShdw blurRad="171450" dist="57150" dir="10799427" algn="tl" rotWithShape="0">
                <a:srgbClr val="12304A">
                  <a:alpha val="17000"/>
                </a:srgbClr>
              </a:outerShdw>
            </a:effectLst>
          </p:spPr>
          <p:txBody>
            <a:bodyPr wrap="none" lIns="0" tIns="0" rIns="0" bIns="0" anchor="t" anchorCtr="0">
              <a:spAutoFit/>
            </a:bodyPr>
            <a:lstStyle/>
            <a:p>
              <a:pPr algn="ctr"/>
              <a:r>
                <a:rPr lang="zh-CN" sz="1200" b="1" dirty="0">
                  <a:solidFill>
                    <a:srgbClr val="FFFFFF"/>
                  </a:solidFill>
                  <a:latin typeface="Calibri"/>
                  <a:ea typeface="Microsoft YaHei"/>
                  <a:cs typeface="Calibri"/>
                </a:rPr>
                <a:t>Choose this option</a:t>
              </a:r>
            </a:p>
          </p:txBody>
        </p:sp>
      </p:grpSp>
      <p:sp>
        <p:nvSpPr>
          <p:cNvPr id="71" name="TextBox 71"/>
          <p:cNvSpPr txBox="1"/>
          <p:nvPr/>
        </p:nvSpPr>
        <p:spPr>
          <a:xfrm>
            <a:off x="8687029" y="5871210"/>
            <a:ext cx="2533193" cy="243840"/>
          </a:xfrm>
          <a:prstGeom prst="rect">
            <a:avLst/>
          </a:prstGeom>
          <a:noFill/>
          <a:ln>
            <a:noFill/>
          </a:ln>
        </p:spPr>
        <p:txBody>
          <a:bodyPr wrap="none" lIns="0" tIns="0" rIns="0" bIns="0" anchor="t" anchorCtr="0">
            <a:spAutoFit/>
          </a:bodyPr>
          <a:lstStyle/>
          <a:p>
            <a:pPr algn="ctr"/>
            <a:r>
              <a:rPr lang="zh-CN" sz="1200" b="1" dirty="0">
                <a:solidFill>
                  <a:srgbClr val="12304A"/>
                </a:solidFill>
                <a:latin typeface="Arial"/>
                <a:ea typeface="Microsoft YaHei"/>
                <a:cs typeface="Arial"/>
              </a:rPr>
              <a:t>3. Understand the rationale</a:t>
            </a:r>
          </a:p>
        </p:txBody>
      </p:sp>
      <p:grpSp>
        <p:nvGrpSpPr>
          <p:cNvPr id="74" name="Group 74"/>
          <p:cNvGrpSpPr/>
          <p:nvPr/>
        </p:nvGrpSpPr>
        <p:grpSpPr>
          <a:xfrm>
            <a:off x="533400" y="6210300"/>
            <a:ext cx="11125200" cy="304800"/>
            <a:chOff x="533400" y="6210300"/>
            <a:chExt cx="11125200" cy="304800"/>
          </a:xfrm>
        </p:grpSpPr>
        <p:sp>
          <p:nvSpPr>
            <p:cNvPr id="72" name="Freeform 72"/>
            <p:cNvSpPr/>
            <p:nvPr/>
          </p:nvSpPr>
          <p:spPr>
            <a:xfrm>
              <a:off x="533400" y="6210300"/>
              <a:ext cx="11125200" cy="304800"/>
            </a:xfrm>
            <a:custGeom>
              <a:avLst/>
              <a:gdLst/>
              <a:ahLst/>
              <a:cxnLst/>
              <a:rect l="l" t="t" r="r" b="b"/>
              <a:pathLst>
                <a:path w="11125200" h="304800">
                  <a:moveTo>
                    <a:pt x="57150" y="0"/>
                  </a:moveTo>
                  <a:lnTo>
                    <a:pt x="11068050" y="0"/>
                  </a:lnTo>
                  <a:cubicBezTo>
                    <a:pt x="11099613" y="0"/>
                    <a:pt x="11125200" y="25587"/>
                    <a:pt x="11125200" y="57150"/>
                  </a:cubicBezTo>
                  <a:lnTo>
                    <a:pt x="11125200" y="247650"/>
                  </a:lnTo>
                  <a:cubicBezTo>
                    <a:pt x="11125200" y="279213"/>
                    <a:pt x="11099613" y="304800"/>
                    <a:pt x="11068050" y="304800"/>
                  </a:cubicBezTo>
                  <a:lnTo>
                    <a:pt x="57150" y="304800"/>
                  </a:lnTo>
                  <a:cubicBezTo>
                    <a:pt x="25587" y="304800"/>
                    <a:pt x="0" y="279213"/>
                    <a:pt x="0" y="247650"/>
                  </a:cubicBezTo>
                  <a:lnTo>
                    <a:pt x="0" y="57150"/>
                  </a:lnTo>
                  <a:cubicBezTo>
                    <a:pt x="0" y="25587"/>
                    <a:pt x="25587" y="0"/>
                    <a:pt x="57150" y="0"/>
                  </a:cubicBezTo>
                  <a:close/>
                </a:path>
              </a:pathLst>
            </a:custGeom>
            <a:solidFill>
              <a:srgbClr val="EAF0ED"/>
            </a:solidFill>
            <a:ln>
              <a:noFill/>
            </a:ln>
          </p:spPr>
        </p:sp>
        <p:sp>
          <p:nvSpPr>
            <p:cNvPr id="73" name="TextBox 73"/>
            <p:cNvSpPr txBox="1"/>
            <p:nvPr/>
          </p:nvSpPr>
          <p:spPr>
            <a:xfrm>
              <a:off x="1786735" y="6314599"/>
              <a:ext cx="8618530" cy="198120"/>
            </a:xfrm>
            <a:prstGeom prst="rect">
              <a:avLst/>
            </a:prstGeom>
            <a:noFill/>
            <a:ln>
              <a:noFill/>
            </a:ln>
          </p:spPr>
          <p:txBody>
            <a:bodyPr wrap="none" lIns="0" tIns="0" rIns="0" bIns="0" anchor="t" anchorCtr="0">
              <a:spAutoFit/>
            </a:bodyPr>
            <a:lstStyle/>
            <a:p>
              <a:pPr algn="ctr"/>
              <a:r>
                <a:rPr lang="zh-CN" sz="975" dirty="0">
                  <a:solidFill>
                    <a:srgbClr val="5E6B75"/>
                  </a:solidFill>
                  <a:latin typeface="Calibri"/>
                  <a:ea typeface="Microsoft YaHei"/>
                  <a:cs typeface="Calibri"/>
                </a:rPr>
                <a:t>Test boundary: hardcoded venues and scenarios • excludes payment, login, invitations, owner analytics, and production ML</a:t>
              </a:r>
            </a:p>
          </p:txBody>
        </p:sp>
      </p:grpSp>
      <p:sp>
        <p:nvSpPr>
          <p:cNvPr id="75" name="TextBox 75"/>
          <p:cNvSpPr txBox="1"/>
          <p:nvPr/>
        </p:nvSpPr>
        <p:spPr>
          <a:xfrm>
            <a:off x="11515582" y="6616541"/>
            <a:ext cx="153495" cy="167640"/>
          </a:xfrm>
          <a:prstGeom prst="rect">
            <a:avLst/>
          </a:prstGeom>
          <a:noFill/>
          <a:ln>
            <a:noFill/>
          </a:ln>
        </p:spPr>
        <p:txBody>
          <a:bodyPr wrap="none" lIns="0" tIns="0" rIns="0" bIns="0" anchor="t" anchorCtr="0">
            <a:spAutoFit/>
          </a:bodyPr>
          <a:lstStyle/>
          <a:p>
            <a:pPr algn="r"/>
            <a:r>
              <a:rPr lang="zh-CN" sz="825" dirty="0">
                <a:solidFill>
                  <a:srgbClr val="89949C"/>
                </a:solidFill>
                <a:latin typeface="Arial"/>
                <a:ea typeface="Microsoft YaHei"/>
                <a:cs typeface="Arial"/>
              </a:rPr>
              <a:t>06</a:t>
            </a:r>
          </a:p>
        </p:txBody>
      </p:sp>
    </p:spTree>
  </p:cSld>
  <p:clrMapOvr>
    <a:masterClrMapping/>
  </p:clrMapOvr>
  <p:transition 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8F7"/>
          </a:solidFill>
          <a:ln>
            <a:noFill/>
          </a:ln>
        </p:spPr>
      </p:sp>
      <p:sp>
        <p:nvSpPr>
          <p:cNvPr id="3" name="Rectangle 3"/>
          <p:cNvSpPr/>
          <p:nvPr/>
        </p:nvSpPr>
        <p:spPr>
          <a:xfrm>
            <a:off x="0" y="0"/>
            <a:ext cx="12192000" cy="66675"/>
          </a:xfrm>
          <a:prstGeom prst="rect">
            <a:avLst/>
          </a:prstGeom>
          <a:solidFill>
            <a:srgbClr val="17A673"/>
          </a:solidFill>
          <a:ln>
            <a:noFill/>
          </a:ln>
        </p:spPr>
      </p:sp>
      <p:grpSp>
        <p:nvGrpSpPr>
          <p:cNvPr id="7" name="Group 7"/>
          <p:cNvGrpSpPr/>
          <p:nvPr/>
        </p:nvGrpSpPr>
        <p:grpSpPr>
          <a:xfrm>
            <a:off x="501015" y="248602"/>
            <a:ext cx="12723690" cy="894398"/>
            <a:chOff x="501015" y="248602"/>
            <a:chExt cx="12723690" cy="894398"/>
          </a:xfrm>
        </p:grpSpPr>
        <p:sp>
          <p:nvSpPr>
            <p:cNvPr id="4" name="TextBox 4"/>
            <p:cNvSpPr txBox="1"/>
            <p:nvPr/>
          </p:nvSpPr>
          <p:spPr>
            <a:xfrm>
              <a:off x="501015" y="248602"/>
              <a:ext cx="10740404" cy="518160"/>
            </a:xfrm>
            <a:prstGeom prst="rect">
              <a:avLst/>
            </a:prstGeom>
            <a:noFill/>
            <a:ln>
              <a:noFill/>
            </a:ln>
          </p:spPr>
          <p:txBody>
            <a:bodyPr wrap="none" lIns="0" tIns="0" rIns="0" bIns="0" anchor="t" anchorCtr="0">
              <a:spAutoFit/>
            </a:bodyPr>
            <a:lstStyle/>
            <a:p>
              <a:pPr algn="l"/>
              <a:r>
                <a:rPr lang="zh-CN" sz="2550" b="1" dirty="0">
                  <a:solidFill>
                    <a:srgbClr val="12304A"/>
                  </a:solidFill>
                  <a:latin typeface="Arial"/>
                  <a:ea typeface="Microsoft YaHei"/>
                  <a:cs typeface="Arial"/>
                </a:rPr>
                <a:t>From Preferred Slot to Occupancy-Creating Alternative</a:t>
              </a:r>
            </a:p>
          </p:txBody>
        </p:sp>
        <p:sp>
          <p:nvSpPr>
            <p:cNvPr id="5" name="Freeform 5"/>
            <p:cNvSpPr/>
            <p:nvPr/>
          </p:nvSpPr>
          <p:spPr>
            <a:xfrm>
              <a:off x="533400" y="723900"/>
              <a:ext cx="11125200" cy="419100"/>
            </a:xfrm>
            <a:custGeom>
              <a:avLst/>
              <a:gdLst/>
              <a:ahLst/>
              <a:cxnLst/>
              <a:rect l="l" t="t" r="r" b="b"/>
              <a:pathLst>
                <a:path w="11125200" h="419100">
                  <a:moveTo>
                    <a:pt x="66675" y="0"/>
                  </a:moveTo>
                  <a:lnTo>
                    <a:pt x="11058525" y="0"/>
                  </a:lnTo>
                  <a:cubicBezTo>
                    <a:pt x="11095349" y="0"/>
                    <a:pt x="11125200" y="29851"/>
                    <a:pt x="11125200" y="66675"/>
                  </a:cubicBezTo>
                  <a:lnTo>
                    <a:pt x="11125200" y="352425"/>
                  </a:lnTo>
                  <a:cubicBezTo>
                    <a:pt x="11125200" y="389249"/>
                    <a:pt x="11095349" y="419100"/>
                    <a:pt x="11058525" y="419100"/>
                  </a:cubicBezTo>
                  <a:lnTo>
                    <a:pt x="66675" y="419100"/>
                  </a:lnTo>
                  <a:cubicBezTo>
                    <a:pt x="29851" y="419100"/>
                    <a:pt x="0" y="389249"/>
                    <a:pt x="0" y="352425"/>
                  </a:cubicBezTo>
                  <a:lnTo>
                    <a:pt x="0" y="66675"/>
                  </a:lnTo>
                  <a:cubicBezTo>
                    <a:pt x="0" y="29851"/>
                    <a:pt x="29851" y="0"/>
                    <a:pt x="66675" y="0"/>
                  </a:cubicBezTo>
                  <a:close/>
                </a:path>
              </a:pathLst>
            </a:custGeom>
            <a:solidFill>
              <a:srgbClr val="12304A"/>
            </a:solidFill>
            <a:ln>
              <a:noFill/>
            </a:ln>
          </p:spPr>
        </p:sp>
        <p:sp>
          <p:nvSpPr>
            <p:cNvPr id="6" name="TextBox 6"/>
            <p:cNvSpPr txBox="1"/>
            <p:nvPr/>
          </p:nvSpPr>
          <p:spPr>
            <a:xfrm>
              <a:off x="706755" y="844868"/>
              <a:ext cx="12517950"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Calibri"/>
                  <a:ea typeface="Microsoft YaHei"/>
                  <a:cs typeface="Calibri"/>
                </a:rPr>
                <a:t>The test captures whether the player understands, trusts, and chooses the alternative—not merely whether they click it.</a:t>
              </a:r>
            </a:p>
          </p:txBody>
        </p:sp>
      </p:grpSp>
      <p:grpSp>
        <p:nvGrpSpPr>
          <p:cNvPr id="18" name="Group 18"/>
          <p:cNvGrpSpPr/>
          <p:nvPr/>
        </p:nvGrpSpPr>
        <p:grpSpPr>
          <a:xfrm>
            <a:off x="533400" y="1371600"/>
            <a:ext cx="11125200" cy="552450"/>
            <a:chOff x="533400" y="1371600"/>
            <a:chExt cx="11125200" cy="552450"/>
          </a:xfrm>
        </p:grpSpPr>
        <p:sp>
          <p:nvSpPr>
            <p:cNvPr id="8" name="Freeform 8"/>
            <p:cNvSpPr/>
            <p:nvPr/>
          </p:nvSpPr>
          <p:spPr>
            <a:xfrm>
              <a:off x="533400" y="1371600"/>
              <a:ext cx="11125200" cy="552450"/>
            </a:xfrm>
            <a:custGeom>
              <a:avLst/>
              <a:gdLst/>
              <a:ahLst/>
              <a:cxnLst/>
              <a:rect l="l" t="t" r="r" b="b"/>
              <a:pathLst>
                <a:path w="11125200" h="552450">
                  <a:moveTo>
                    <a:pt x="114300" y="0"/>
                  </a:moveTo>
                  <a:lnTo>
                    <a:pt x="11010900" y="0"/>
                  </a:lnTo>
                  <a:cubicBezTo>
                    <a:pt x="11074026" y="0"/>
                    <a:pt x="11125200" y="51174"/>
                    <a:pt x="11125200" y="114300"/>
                  </a:cubicBezTo>
                  <a:lnTo>
                    <a:pt x="11125200" y="438150"/>
                  </a:lnTo>
                  <a:cubicBezTo>
                    <a:pt x="11125200" y="501276"/>
                    <a:pt x="11074026" y="552450"/>
                    <a:pt x="11010900" y="552450"/>
                  </a:cubicBezTo>
                  <a:lnTo>
                    <a:pt x="114300" y="552450"/>
                  </a:lnTo>
                  <a:cubicBezTo>
                    <a:pt x="51174" y="552450"/>
                    <a:pt x="0" y="501276"/>
                    <a:pt x="0" y="438150"/>
                  </a:cubicBezTo>
                  <a:lnTo>
                    <a:pt x="0" y="114300"/>
                  </a:lnTo>
                  <a:cubicBezTo>
                    <a:pt x="0" y="51174"/>
                    <a:pt x="51174" y="0"/>
                    <a:pt x="114300" y="0"/>
                  </a:cubicBezTo>
                  <a:close/>
                </a:path>
              </a:pathLst>
            </a:custGeom>
            <a:solidFill>
              <a:srgbClr val="EAF0ED"/>
            </a:solidFill>
            <a:ln>
              <a:noFill/>
            </a:ln>
          </p:spPr>
        </p:sp>
        <p:grpSp>
          <p:nvGrpSpPr>
            <p:cNvPr id="13" name="Group 13"/>
            <p:cNvGrpSpPr/>
            <p:nvPr/>
          </p:nvGrpSpPr>
          <p:grpSpPr>
            <a:xfrm>
              <a:off x="723900" y="1522809"/>
              <a:ext cx="285750" cy="250032"/>
              <a:chOff x="723900" y="1522809"/>
              <a:chExt cx="285750" cy="250032"/>
            </a:xfrm>
          </p:grpSpPr>
          <p:sp>
            <p:nvSpPr>
              <p:cNvPr id="9" name="Freeform 9"/>
              <p:cNvSpPr/>
              <p:nvPr/>
            </p:nvSpPr>
            <p:spPr>
              <a:xfrm>
                <a:off x="777478" y="1522809"/>
                <a:ext cx="89297" cy="89297"/>
              </a:xfrm>
              <a:custGeom>
                <a:avLst/>
                <a:gdLst/>
                <a:ahLst/>
                <a:cxnLst/>
                <a:rect l="l" t="t" r="r" b="b"/>
                <a:pathLst>
                  <a:path w="89297" h="89297">
                    <a:moveTo>
                      <a:pt x="89297" y="44648"/>
                    </a:moveTo>
                    <a:cubicBezTo>
                      <a:pt x="89297" y="69307"/>
                      <a:pt x="69307" y="89297"/>
                      <a:pt x="44648" y="89297"/>
                    </a:cubicBezTo>
                    <a:cubicBezTo>
                      <a:pt x="19990" y="89297"/>
                      <a:pt x="0" y="69307"/>
                      <a:pt x="0" y="44648"/>
                    </a:cubicBezTo>
                    <a:cubicBezTo>
                      <a:pt x="0" y="19990"/>
                      <a:pt x="19990" y="0"/>
                      <a:pt x="44648" y="0"/>
                    </a:cubicBezTo>
                    <a:cubicBezTo>
                      <a:pt x="69307" y="0"/>
                      <a:pt x="89297" y="19990"/>
                      <a:pt x="89297" y="44648"/>
                    </a:cubicBezTo>
                    <a:close/>
                  </a:path>
                </a:pathLst>
              </a:custGeom>
              <a:solidFill>
                <a:srgbClr val="12304A"/>
              </a:solidFill>
              <a:ln>
                <a:noFill/>
              </a:ln>
            </p:spPr>
          </p:sp>
          <p:sp>
            <p:nvSpPr>
              <p:cNvPr id="10" name="Freeform 10"/>
              <p:cNvSpPr/>
              <p:nvPr/>
            </p:nvSpPr>
            <p:spPr>
              <a:xfrm>
                <a:off x="723900" y="1647825"/>
                <a:ext cx="142875" cy="125016"/>
              </a:xfrm>
              <a:custGeom>
                <a:avLst/>
                <a:gdLst/>
                <a:ahLst/>
                <a:cxnLst/>
                <a:rect l="l" t="t" r="r" b="b"/>
                <a:pathLst>
                  <a:path w="142875" h="125016">
                    <a:moveTo>
                      <a:pt x="53578" y="0"/>
                    </a:moveTo>
                    <a:cubicBezTo>
                      <a:pt x="23988" y="0"/>
                      <a:pt x="0" y="23988"/>
                      <a:pt x="0" y="53578"/>
                    </a:cubicBezTo>
                    <a:lnTo>
                      <a:pt x="0" y="125016"/>
                    </a:lnTo>
                    <a:lnTo>
                      <a:pt x="142875" y="125016"/>
                    </a:lnTo>
                    <a:lnTo>
                      <a:pt x="142875" y="0"/>
                    </a:lnTo>
                    <a:lnTo>
                      <a:pt x="53578" y="0"/>
                    </a:lnTo>
                    <a:close/>
                  </a:path>
                </a:pathLst>
              </a:custGeom>
              <a:solidFill>
                <a:srgbClr val="12304A"/>
              </a:solidFill>
              <a:ln>
                <a:noFill/>
              </a:ln>
            </p:spPr>
          </p:sp>
          <p:sp>
            <p:nvSpPr>
              <p:cNvPr id="11" name="Freeform 11"/>
              <p:cNvSpPr/>
              <p:nvPr/>
            </p:nvSpPr>
            <p:spPr>
              <a:xfrm>
                <a:off x="902494" y="1647825"/>
                <a:ext cx="107156" cy="125016"/>
              </a:xfrm>
              <a:custGeom>
                <a:avLst/>
                <a:gdLst/>
                <a:ahLst/>
                <a:cxnLst/>
                <a:rect l="l" t="t" r="r" b="b"/>
                <a:pathLst>
                  <a:path w="107156" h="125016">
                    <a:moveTo>
                      <a:pt x="53578" y="0"/>
                    </a:moveTo>
                    <a:lnTo>
                      <a:pt x="0" y="0"/>
                    </a:lnTo>
                    <a:lnTo>
                      <a:pt x="0" y="125016"/>
                    </a:lnTo>
                    <a:lnTo>
                      <a:pt x="107156" y="125016"/>
                    </a:lnTo>
                    <a:lnTo>
                      <a:pt x="107156" y="53578"/>
                    </a:lnTo>
                    <a:cubicBezTo>
                      <a:pt x="107156" y="23988"/>
                      <a:pt x="83169" y="0"/>
                      <a:pt x="53578" y="0"/>
                    </a:cubicBezTo>
                    <a:close/>
                  </a:path>
                </a:pathLst>
              </a:custGeom>
              <a:solidFill>
                <a:srgbClr val="12304A"/>
              </a:solidFill>
              <a:ln>
                <a:noFill/>
              </a:ln>
            </p:spPr>
          </p:sp>
          <p:sp>
            <p:nvSpPr>
              <p:cNvPr id="12" name="Freeform 12"/>
              <p:cNvSpPr/>
              <p:nvPr/>
            </p:nvSpPr>
            <p:spPr>
              <a:xfrm>
                <a:off x="902494" y="1540669"/>
                <a:ext cx="71438" cy="71438"/>
              </a:xfrm>
              <a:custGeom>
                <a:avLst/>
                <a:gdLst/>
                <a:ahLst/>
                <a:cxnLst/>
                <a:rect l="l" t="t" r="r" b="b"/>
                <a:pathLst>
                  <a:path w="71438" h="71438">
                    <a:moveTo>
                      <a:pt x="35719" y="71438"/>
                    </a:moveTo>
                    <a:cubicBezTo>
                      <a:pt x="55446" y="71438"/>
                      <a:pt x="71438" y="55446"/>
                      <a:pt x="71438" y="35719"/>
                    </a:cubicBezTo>
                    <a:cubicBezTo>
                      <a:pt x="71438" y="15992"/>
                      <a:pt x="55446" y="0"/>
                      <a:pt x="35719" y="0"/>
                    </a:cubicBezTo>
                    <a:cubicBezTo>
                      <a:pt x="15991" y="0"/>
                      <a:pt x="0" y="15992"/>
                      <a:pt x="0" y="35719"/>
                    </a:cubicBezTo>
                    <a:cubicBezTo>
                      <a:pt x="0" y="55446"/>
                      <a:pt x="15991" y="71438"/>
                      <a:pt x="35719" y="71438"/>
                    </a:cubicBezTo>
                    <a:close/>
                  </a:path>
                </a:pathLst>
              </a:custGeom>
              <a:solidFill>
                <a:srgbClr val="12304A"/>
              </a:solidFill>
              <a:ln>
                <a:noFill/>
              </a:ln>
            </p:spPr>
          </p:sp>
        </p:grpSp>
        <p:sp>
          <p:nvSpPr>
            <p:cNvPr id="14" name="TextBox 14"/>
            <p:cNvSpPr txBox="1"/>
            <p:nvPr/>
          </p:nvSpPr>
          <p:spPr>
            <a:xfrm>
              <a:off x="1127760" y="1489710"/>
              <a:ext cx="1291038" cy="243840"/>
            </a:xfrm>
            <a:prstGeom prst="rect">
              <a:avLst/>
            </a:prstGeom>
            <a:noFill/>
            <a:ln>
              <a:noFill/>
            </a:ln>
          </p:spPr>
          <p:txBody>
            <a:bodyPr wrap="none" lIns="0" tIns="0" rIns="0" bIns="0" anchor="t" anchorCtr="0">
              <a:spAutoFit/>
            </a:bodyPr>
            <a:lstStyle/>
            <a:p>
              <a:pPr algn="l"/>
              <a:r>
                <a:rPr lang="zh-CN" sz="1200" b="1" dirty="0">
                  <a:solidFill>
                    <a:srgbClr val="17212B"/>
                  </a:solidFill>
                  <a:latin typeface="Arial"/>
                  <a:ea typeface="Microsoft YaHei"/>
                  <a:cs typeface="Arial"/>
                </a:rPr>
                <a:t>Demo scenario</a:t>
              </a:r>
            </a:p>
          </p:txBody>
        </p:sp>
        <p:sp>
          <p:nvSpPr>
            <p:cNvPr id="15" name="TextBox 15"/>
            <p:cNvSpPr txBox="1"/>
            <p:nvPr/>
          </p:nvSpPr>
          <p:spPr>
            <a:xfrm>
              <a:off x="1127760" y="1680210"/>
              <a:ext cx="5121783" cy="243840"/>
            </a:xfrm>
            <a:prstGeom prst="rect">
              <a:avLst/>
            </a:prstGeom>
            <a:noFill/>
            <a:ln>
              <a:noFill/>
            </a:ln>
          </p:spPr>
          <p:txBody>
            <a:bodyPr wrap="none" lIns="0" tIns="0" rIns="0" bIns="0" anchor="t" anchorCtr="0">
              <a:spAutoFit/>
            </a:bodyPr>
            <a:lstStyle/>
            <a:p>
              <a:pPr algn="l"/>
              <a:r>
                <a:rPr lang="zh-CN" sz="1200" dirty="0">
                  <a:solidFill>
                    <a:srgbClr val="5E6B75"/>
                  </a:solidFill>
                  <a:latin typeface="Calibri"/>
                  <a:ea typeface="Microsoft YaHei"/>
                  <a:cs typeface="Calibri"/>
                </a:rPr>
                <a:t>Four players want badminton near work tomorrow at 18:00.</a:t>
              </a:r>
            </a:p>
          </p:txBody>
        </p:sp>
        <p:sp>
          <p:nvSpPr>
            <p:cNvPr id="16" name="Freeform 16"/>
            <p:cNvSpPr/>
            <p:nvPr/>
          </p:nvSpPr>
          <p:spPr>
            <a:xfrm>
              <a:off x="8953500" y="1504950"/>
              <a:ext cx="2381250" cy="285750"/>
            </a:xfrm>
            <a:custGeom>
              <a:avLst/>
              <a:gdLst/>
              <a:ahLst/>
              <a:cxnLst/>
              <a:rect l="l" t="t" r="r" b="b"/>
              <a:pathLst>
                <a:path w="2381250" h="285750">
                  <a:moveTo>
                    <a:pt x="142875" y="0"/>
                  </a:moveTo>
                  <a:lnTo>
                    <a:pt x="2238375" y="0"/>
                  </a:lnTo>
                  <a:cubicBezTo>
                    <a:pt x="2317283" y="0"/>
                    <a:pt x="2381250" y="63967"/>
                    <a:pt x="2381250" y="142875"/>
                  </a:cubicBezTo>
                  <a:lnTo>
                    <a:pt x="2381250" y="142875"/>
                  </a:lnTo>
                  <a:cubicBezTo>
                    <a:pt x="2381250" y="221783"/>
                    <a:pt x="2317283" y="285750"/>
                    <a:pt x="2238375" y="285750"/>
                  </a:cubicBezTo>
                  <a:lnTo>
                    <a:pt x="142875" y="285750"/>
                  </a:lnTo>
                  <a:cubicBezTo>
                    <a:pt x="63967" y="285750"/>
                    <a:pt x="0" y="221783"/>
                    <a:pt x="0" y="142875"/>
                  </a:cubicBezTo>
                  <a:lnTo>
                    <a:pt x="0" y="142875"/>
                  </a:lnTo>
                  <a:cubicBezTo>
                    <a:pt x="0" y="63967"/>
                    <a:pt x="63967" y="0"/>
                    <a:pt x="142875" y="0"/>
                  </a:cubicBezTo>
                  <a:close/>
                </a:path>
              </a:pathLst>
            </a:custGeom>
            <a:solidFill>
              <a:srgbClr val="FFFFFF"/>
            </a:solidFill>
            <a:ln>
              <a:noFill/>
            </a:ln>
          </p:spPr>
        </p:sp>
        <p:sp>
          <p:nvSpPr>
            <p:cNvPr id="17" name="TextBox 17"/>
            <p:cNvSpPr txBox="1"/>
            <p:nvPr/>
          </p:nvSpPr>
          <p:spPr>
            <a:xfrm>
              <a:off x="9281409" y="1591628"/>
              <a:ext cx="1725432" cy="213360"/>
            </a:xfrm>
            <a:prstGeom prst="rect">
              <a:avLst/>
            </a:prstGeom>
            <a:noFill/>
            <a:ln>
              <a:noFill/>
            </a:ln>
          </p:spPr>
          <p:txBody>
            <a:bodyPr wrap="none" lIns="0" tIns="0" rIns="0" bIns="0" anchor="t" anchorCtr="0">
              <a:spAutoFit/>
            </a:bodyPr>
            <a:lstStyle/>
            <a:p>
              <a:pPr algn="ctr"/>
              <a:r>
                <a:rPr lang="zh-CN" sz="1050" b="1" dirty="0">
                  <a:solidFill>
                    <a:srgbClr val="12304A"/>
                  </a:solidFill>
                  <a:latin typeface="Arial"/>
                  <a:ea typeface="Microsoft YaHei"/>
                  <a:cs typeface="Arial"/>
                </a:rPr>
                <a:t>Preferred slot: 18:00</a:t>
              </a:r>
            </a:p>
          </p:txBody>
        </p:sp>
      </p:grpSp>
      <p:sp>
        <p:nvSpPr>
          <p:cNvPr id="19" name="Line 19"/>
          <p:cNvSpPr/>
          <p:nvPr/>
        </p:nvSpPr>
        <p:spPr>
          <a:xfrm>
            <a:off x="1104900" y="3238500"/>
            <a:ext cx="9982200" cy="9525"/>
          </a:xfrm>
          <a:custGeom>
            <a:avLst/>
            <a:gdLst/>
            <a:ahLst/>
            <a:cxnLst/>
            <a:rect l="l" t="t" r="r" b="b"/>
            <a:pathLst>
              <a:path w="9982200" h="9525">
                <a:moveTo>
                  <a:pt x="0" y="0"/>
                </a:moveTo>
                <a:lnTo>
                  <a:pt x="9982200" y="0"/>
                </a:lnTo>
              </a:path>
            </a:pathLst>
          </a:custGeom>
          <a:noFill/>
          <a:ln w="38100">
            <a:solidFill>
              <a:srgbClr val="CED8D3"/>
            </a:solidFill>
          </a:ln>
        </p:spPr>
      </p:sp>
      <p:grpSp>
        <p:nvGrpSpPr>
          <p:cNvPr id="24" name="Group 24"/>
          <p:cNvGrpSpPr/>
          <p:nvPr/>
        </p:nvGrpSpPr>
        <p:grpSpPr>
          <a:xfrm>
            <a:off x="508230" y="2857500"/>
            <a:ext cx="1383840" cy="1347788"/>
            <a:chOff x="508230" y="2857500"/>
            <a:chExt cx="1383840" cy="1347788"/>
          </a:xfrm>
          <a:effectLst>
            <a:outerShdw blurRad="133350" dist="38100" dir="10799140" algn="tl" rotWithShape="0">
              <a:srgbClr val="12304A">
                <a:alpha val="12000"/>
              </a:srgbClr>
            </a:outerShdw>
          </a:effectLst>
        </p:grpSpPr>
        <p:sp>
          <p:nvSpPr>
            <p:cNvPr id="20" name="Ellipse 20"/>
            <p:cNvSpPr/>
            <p:nvPr/>
          </p:nvSpPr>
          <p:spPr>
            <a:xfrm>
              <a:off x="819150" y="2857500"/>
              <a:ext cx="762000" cy="762000"/>
            </a:xfrm>
            <a:prstGeom prst="ellipse">
              <a:avLst/>
            </a:prstGeom>
            <a:solidFill>
              <a:srgbClr val="12304A"/>
            </a:solidFill>
            <a:ln>
              <a:noFill/>
            </a:ln>
            <a:effectLst>
              <a:outerShdw blurRad="133350" dist="38100" dir="10799140" algn="tl" rotWithShape="0">
                <a:srgbClr val="12304A">
                  <a:alpha val="12000"/>
                </a:srgbClr>
              </a:outerShdw>
            </a:effectLst>
          </p:spPr>
        </p:sp>
        <p:sp>
          <p:nvSpPr>
            <p:cNvPr id="21" name="TextBox 21"/>
            <p:cNvSpPr txBox="1"/>
            <p:nvPr/>
          </p:nvSpPr>
          <p:spPr>
            <a:xfrm>
              <a:off x="1141240" y="3136582"/>
              <a:ext cx="117819" cy="33528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1</a:t>
              </a:r>
            </a:p>
          </p:txBody>
        </p:sp>
        <p:sp>
          <p:nvSpPr>
            <p:cNvPr id="22" name="TextBox 22"/>
            <p:cNvSpPr txBox="1"/>
            <p:nvPr/>
          </p:nvSpPr>
          <p:spPr>
            <a:xfrm>
              <a:off x="862870" y="3756660"/>
              <a:ext cx="674561" cy="24384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ctr"/>
              <a:r>
                <a:rPr lang="zh-CN" sz="1200" b="1" dirty="0">
                  <a:solidFill>
                    <a:srgbClr val="17212B"/>
                  </a:solidFill>
                  <a:latin typeface="Arial"/>
                  <a:ea typeface="Microsoft YaHei"/>
                  <a:cs typeface="Arial"/>
                </a:rPr>
                <a:t>Browse</a:t>
              </a:r>
            </a:p>
          </p:txBody>
        </p:sp>
        <p:sp>
          <p:nvSpPr>
            <p:cNvPr id="23" name="TextBox 23"/>
            <p:cNvSpPr txBox="1"/>
            <p:nvPr/>
          </p:nvSpPr>
          <p:spPr>
            <a:xfrm>
              <a:off x="508230" y="3991928"/>
              <a:ext cx="1383840" cy="21336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ctr"/>
              <a:r>
                <a:rPr lang="zh-CN" sz="1050" dirty="0">
                  <a:solidFill>
                    <a:srgbClr val="5E6B75"/>
                  </a:solidFill>
                  <a:latin typeface="Calibri"/>
                  <a:ea typeface="Microsoft YaHei"/>
                  <a:cs typeface="Calibri"/>
                </a:rPr>
                <a:t>Sport, area, date</a:t>
              </a:r>
            </a:p>
          </p:txBody>
        </p:sp>
      </p:grpSp>
      <p:sp>
        <p:nvSpPr>
          <p:cNvPr id="25" name="Line 25"/>
          <p:cNvSpPr/>
          <p:nvPr/>
        </p:nvSpPr>
        <p:spPr>
          <a:xfrm>
            <a:off x="1600200" y="3238500"/>
            <a:ext cx="914400" cy="1"/>
          </a:xfrm>
          <a:prstGeom prst="line">
            <a:avLst/>
          </a:prstGeom>
          <a:noFill/>
          <a:ln w="28575">
            <a:solidFill>
              <a:srgbClr val="12304A"/>
            </a:solidFill>
            <a:tailEnd type="triangle" w="lg" len="lg"/>
          </a:ln>
        </p:spPr>
      </p:sp>
      <p:grpSp>
        <p:nvGrpSpPr>
          <p:cNvPr id="30" name="Group 30"/>
          <p:cNvGrpSpPr/>
          <p:nvPr/>
        </p:nvGrpSpPr>
        <p:grpSpPr>
          <a:xfrm>
            <a:off x="2278332" y="2857500"/>
            <a:ext cx="1272635" cy="1347788"/>
            <a:chOff x="2278332" y="2857500"/>
            <a:chExt cx="1272635" cy="1347788"/>
          </a:xfrm>
          <a:effectLst>
            <a:outerShdw blurRad="133350" dist="38100" dir="10799140" algn="tl" rotWithShape="0">
              <a:srgbClr val="12304A">
                <a:alpha val="12000"/>
              </a:srgbClr>
            </a:outerShdw>
          </a:effectLst>
        </p:grpSpPr>
        <p:sp>
          <p:nvSpPr>
            <p:cNvPr id="26" name="Ellipse 26"/>
            <p:cNvSpPr/>
            <p:nvPr/>
          </p:nvSpPr>
          <p:spPr>
            <a:xfrm>
              <a:off x="2533650" y="2857500"/>
              <a:ext cx="762000" cy="762000"/>
            </a:xfrm>
            <a:prstGeom prst="ellipse">
              <a:avLst/>
            </a:prstGeom>
            <a:solidFill>
              <a:srgbClr val="12304A"/>
            </a:solidFill>
            <a:ln>
              <a:noFill/>
            </a:ln>
            <a:effectLst>
              <a:outerShdw blurRad="133350" dist="38100" dir="10799140" algn="tl" rotWithShape="0">
                <a:srgbClr val="12304A">
                  <a:alpha val="12000"/>
                </a:srgbClr>
              </a:outerShdw>
            </a:effectLst>
          </p:spPr>
        </p:sp>
        <p:sp>
          <p:nvSpPr>
            <p:cNvPr id="27" name="TextBox 27"/>
            <p:cNvSpPr txBox="1"/>
            <p:nvPr/>
          </p:nvSpPr>
          <p:spPr>
            <a:xfrm>
              <a:off x="2824111" y="3136582"/>
              <a:ext cx="181077" cy="33528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2</a:t>
              </a:r>
            </a:p>
          </p:txBody>
        </p:sp>
        <p:sp>
          <p:nvSpPr>
            <p:cNvPr id="28" name="TextBox 28"/>
            <p:cNvSpPr txBox="1"/>
            <p:nvPr/>
          </p:nvSpPr>
          <p:spPr>
            <a:xfrm>
              <a:off x="2278332" y="3756660"/>
              <a:ext cx="1272635" cy="24384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ctr"/>
              <a:r>
                <a:rPr lang="zh-CN" sz="1200" b="1" dirty="0">
                  <a:solidFill>
                    <a:srgbClr val="17212B"/>
                  </a:solidFill>
                  <a:latin typeface="Arial"/>
                  <a:ea typeface="Microsoft YaHei"/>
                  <a:cs typeface="Arial"/>
                </a:rPr>
                <a:t>Add flexibility</a:t>
              </a:r>
            </a:p>
          </p:txBody>
        </p:sp>
        <p:sp>
          <p:nvSpPr>
            <p:cNvPr id="29" name="TextBox 29"/>
            <p:cNvSpPr txBox="1"/>
            <p:nvPr/>
          </p:nvSpPr>
          <p:spPr>
            <a:xfrm>
              <a:off x="2322409" y="3991928"/>
              <a:ext cx="1184481" cy="21336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ctr"/>
              <a:r>
                <a:rPr lang="zh-CN" sz="1050" dirty="0">
                  <a:solidFill>
                    <a:srgbClr val="5E6B75"/>
                  </a:solidFill>
                  <a:latin typeface="Calibri"/>
                  <a:ea typeface="Microsoft YaHei"/>
                  <a:cs typeface="Calibri"/>
                </a:rPr>
                <a:t>Earlier or later</a:t>
              </a:r>
            </a:p>
          </p:txBody>
        </p:sp>
      </p:grpSp>
      <p:sp>
        <p:nvSpPr>
          <p:cNvPr id="31" name="Line 31"/>
          <p:cNvSpPr/>
          <p:nvPr/>
        </p:nvSpPr>
        <p:spPr>
          <a:xfrm>
            <a:off x="3314700" y="3238500"/>
            <a:ext cx="914400" cy="1"/>
          </a:xfrm>
          <a:prstGeom prst="line">
            <a:avLst/>
          </a:prstGeom>
          <a:noFill/>
          <a:ln w="28575">
            <a:solidFill>
              <a:srgbClr val="12304A"/>
            </a:solidFill>
            <a:tailEnd type="triangle" w="lg" len="lg"/>
          </a:ln>
        </p:spPr>
      </p:sp>
      <p:grpSp>
        <p:nvGrpSpPr>
          <p:cNvPr id="36" name="Group 36"/>
          <p:cNvGrpSpPr/>
          <p:nvPr/>
        </p:nvGrpSpPr>
        <p:grpSpPr>
          <a:xfrm>
            <a:off x="4063746" y="2857500"/>
            <a:ext cx="1130808" cy="1347788"/>
            <a:chOff x="4063746" y="2857500"/>
            <a:chExt cx="1130808" cy="1347788"/>
          </a:xfrm>
          <a:effectLst>
            <a:outerShdw blurRad="133350" dist="38100" dir="10799140" algn="tl" rotWithShape="0">
              <a:srgbClr val="12304A">
                <a:alpha val="12000"/>
              </a:srgbClr>
            </a:outerShdw>
          </a:effectLst>
        </p:grpSpPr>
        <p:sp>
          <p:nvSpPr>
            <p:cNvPr id="32" name="Ellipse 32"/>
            <p:cNvSpPr/>
            <p:nvPr/>
          </p:nvSpPr>
          <p:spPr>
            <a:xfrm>
              <a:off x="4248150" y="2857500"/>
              <a:ext cx="762000" cy="762000"/>
            </a:xfrm>
            <a:prstGeom prst="ellipse">
              <a:avLst/>
            </a:prstGeom>
            <a:solidFill>
              <a:srgbClr val="12304A"/>
            </a:solidFill>
            <a:ln>
              <a:noFill/>
            </a:ln>
            <a:effectLst>
              <a:outerShdw blurRad="133350" dist="38100" dir="10799140" algn="tl" rotWithShape="0">
                <a:srgbClr val="12304A">
                  <a:alpha val="12000"/>
                </a:srgbClr>
              </a:outerShdw>
            </a:effectLst>
          </p:spPr>
        </p:sp>
        <p:sp>
          <p:nvSpPr>
            <p:cNvPr id="33" name="TextBox 33"/>
            <p:cNvSpPr txBox="1"/>
            <p:nvPr/>
          </p:nvSpPr>
          <p:spPr>
            <a:xfrm>
              <a:off x="4538611" y="3136582"/>
              <a:ext cx="181077" cy="33528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3</a:t>
              </a:r>
            </a:p>
          </p:txBody>
        </p:sp>
        <p:sp>
          <p:nvSpPr>
            <p:cNvPr id="34" name="TextBox 34"/>
            <p:cNvSpPr txBox="1"/>
            <p:nvPr/>
          </p:nvSpPr>
          <p:spPr>
            <a:xfrm>
              <a:off x="4314873" y="3756660"/>
              <a:ext cx="628555" cy="24384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ctr"/>
              <a:r>
                <a:rPr lang="zh-CN" sz="1200" b="1" dirty="0">
                  <a:solidFill>
                    <a:srgbClr val="17212B"/>
                  </a:solidFill>
                  <a:latin typeface="Arial"/>
                  <a:ea typeface="Microsoft YaHei"/>
                  <a:cs typeface="Arial"/>
                </a:rPr>
                <a:t>Review</a:t>
              </a:r>
            </a:p>
          </p:txBody>
        </p:sp>
        <p:sp>
          <p:nvSpPr>
            <p:cNvPr id="35" name="TextBox 35"/>
            <p:cNvSpPr txBox="1"/>
            <p:nvPr/>
          </p:nvSpPr>
          <p:spPr>
            <a:xfrm>
              <a:off x="4063746" y="3991928"/>
              <a:ext cx="1130808" cy="21336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ctr"/>
              <a:r>
                <a:rPr lang="zh-CN" sz="1050" dirty="0">
                  <a:solidFill>
                    <a:srgbClr val="5E6B75"/>
                  </a:solidFill>
                  <a:latin typeface="Calibri"/>
                  <a:ea typeface="Microsoft YaHei"/>
                  <a:cs typeface="Calibri"/>
                </a:rPr>
                <a:t>Ranked options</a:t>
              </a:r>
            </a:p>
          </p:txBody>
        </p:sp>
      </p:grpSp>
      <p:sp>
        <p:nvSpPr>
          <p:cNvPr id="37" name="Line 37"/>
          <p:cNvSpPr/>
          <p:nvPr/>
        </p:nvSpPr>
        <p:spPr>
          <a:xfrm>
            <a:off x="5029200" y="3238500"/>
            <a:ext cx="914400" cy="1"/>
          </a:xfrm>
          <a:prstGeom prst="line">
            <a:avLst/>
          </a:prstGeom>
          <a:noFill/>
          <a:ln w="28575">
            <a:solidFill>
              <a:srgbClr val="12304A"/>
            </a:solidFill>
            <a:tailEnd type="triangle" w="lg" len="lg"/>
          </a:ln>
        </p:spPr>
      </p:sp>
      <p:grpSp>
        <p:nvGrpSpPr>
          <p:cNvPr id="42" name="Group 42"/>
          <p:cNvGrpSpPr/>
          <p:nvPr/>
        </p:nvGrpSpPr>
        <p:grpSpPr>
          <a:xfrm>
            <a:off x="5609558" y="2857500"/>
            <a:ext cx="1468184" cy="1347788"/>
            <a:chOff x="5609558" y="2857500"/>
            <a:chExt cx="1468184" cy="1347788"/>
          </a:xfrm>
          <a:effectLst>
            <a:outerShdw blurRad="133350" dist="38100" dir="10799140" algn="tl" rotWithShape="0">
              <a:srgbClr val="12304A">
                <a:alpha val="12000"/>
              </a:srgbClr>
            </a:outerShdw>
          </a:effectLst>
        </p:grpSpPr>
        <p:sp>
          <p:nvSpPr>
            <p:cNvPr id="38" name="Ellipse 38"/>
            <p:cNvSpPr/>
            <p:nvPr/>
          </p:nvSpPr>
          <p:spPr>
            <a:xfrm>
              <a:off x="5962650" y="2857500"/>
              <a:ext cx="762000" cy="762000"/>
            </a:xfrm>
            <a:prstGeom prst="ellipse">
              <a:avLst/>
            </a:prstGeom>
            <a:solidFill>
              <a:srgbClr val="12304A"/>
            </a:solidFill>
            <a:ln>
              <a:noFill/>
            </a:ln>
            <a:effectLst>
              <a:outerShdw blurRad="133350" dist="38100" dir="10799140" algn="tl" rotWithShape="0">
                <a:srgbClr val="12304A">
                  <a:alpha val="12000"/>
                </a:srgbClr>
              </a:outerShdw>
            </a:effectLst>
          </p:spPr>
        </p:sp>
        <p:sp>
          <p:nvSpPr>
            <p:cNvPr id="39" name="TextBox 39"/>
            <p:cNvSpPr txBox="1"/>
            <p:nvPr/>
          </p:nvSpPr>
          <p:spPr>
            <a:xfrm>
              <a:off x="6253111" y="3136582"/>
              <a:ext cx="181077" cy="33528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4</a:t>
              </a:r>
            </a:p>
          </p:txBody>
        </p:sp>
        <p:sp>
          <p:nvSpPr>
            <p:cNvPr id="40" name="TextBox 40"/>
            <p:cNvSpPr txBox="1"/>
            <p:nvPr/>
          </p:nvSpPr>
          <p:spPr>
            <a:xfrm>
              <a:off x="5955763" y="3756660"/>
              <a:ext cx="775773" cy="24384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ctr"/>
              <a:r>
                <a:rPr lang="zh-CN" sz="1200" b="1" dirty="0">
                  <a:solidFill>
                    <a:srgbClr val="17212B"/>
                  </a:solidFill>
                  <a:latin typeface="Arial"/>
                  <a:ea typeface="Microsoft YaHei"/>
                  <a:cs typeface="Arial"/>
                </a:rPr>
                <a:t>Compare</a:t>
              </a:r>
            </a:p>
          </p:txBody>
        </p:sp>
        <p:sp>
          <p:nvSpPr>
            <p:cNvPr id="41" name="TextBox 41"/>
            <p:cNvSpPr txBox="1"/>
            <p:nvPr/>
          </p:nvSpPr>
          <p:spPr>
            <a:xfrm>
              <a:off x="5609558" y="3991928"/>
              <a:ext cx="1468184" cy="21336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ctr"/>
              <a:r>
                <a:rPr lang="zh-CN" sz="1050" dirty="0">
                  <a:solidFill>
                    <a:srgbClr val="5E6B75"/>
                  </a:solidFill>
                  <a:latin typeface="Calibri"/>
                  <a:ea typeface="Microsoft YaHei"/>
                  <a:cs typeface="Calibri"/>
                </a:rPr>
                <a:t>Time, travel, price</a:t>
              </a:r>
            </a:p>
          </p:txBody>
        </p:sp>
      </p:grpSp>
      <p:sp>
        <p:nvSpPr>
          <p:cNvPr id="43" name="Line 43"/>
          <p:cNvSpPr/>
          <p:nvPr/>
        </p:nvSpPr>
        <p:spPr>
          <a:xfrm>
            <a:off x="6743700" y="3238500"/>
            <a:ext cx="914400" cy="1"/>
          </a:xfrm>
          <a:prstGeom prst="line">
            <a:avLst/>
          </a:prstGeom>
          <a:noFill/>
          <a:ln w="28575">
            <a:solidFill>
              <a:srgbClr val="17A673"/>
            </a:solidFill>
            <a:tailEnd type="triangle" w="lg" len="lg"/>
          </a:ln>
        </p:spPr>
      </p:sp>
      <p:grpSp>
        <p:nvGrpSpPr>
          <p:cNvPr id="48" name="Group 48"/>
          <p:cNvGrpSpPr/>
          <p:nvPr/>
        </p:nvGrpSpPr>
        <p:grpSpPr>
          <a:xfrm>
            <a:off x="7385399" y="2857500"/>
            <a:ext cx="1345502" cy="1347788"/>
            <a:chOff x="7385399" y="2857500"/>
            <a:chExt cx="1345502" cy="1347788"/>
          </a:xfrm>
          <a:effectLst>
            <a:outerShdw blurRad="133350" dist="38100" dir="10799140" algn="tl" rotWithShape="0">
              <a:srgbClr val="12304A">
                <a:alpha val="12000"/>
              </a:srgbClr>
            </a:outerShdw>
          </a:effectLst>
        </p:grpSpPr>
        <p:sp>
          <p:nvSpPr>
            <p:cNvPr id="44" name="Ellipse 44"/>
            <p:cNvSpPr/>
            <p:nvPr/>
          </p:nvSpPr>
          <p:spPr>
            <a:xfrm>
              <a:off x="7677150" y="2857500"/>
              <a:ext cx="762000" cy="762000"/>
            </a:xfrm>
            <a:prstGeom prst="ellipse">
              <a:avLst/>
            </a:prstGeom>
            <a:solidFill>
              <a:srgbClr val="17A673"/>
            </a:solidFill>
            <a:ln>
              <a:noFill/>
            </a:ln>
            <a:effectLst>
              <a:outerShdw blurRad="133350" dist="38100" dir="10799140" algn="tl" rotWithShape="0">
                <a:srgbClr val="12304A">
                  <a:alpha val="12000"/>
                </a:srgbClr>
              </a:outerShdw>
            </a:effectLst>
          </p:spPr>
        </p:sp>
        <p:sp>
          <p:nvSpPr>
            <p:cNvPr id="45" name="TextBox 45"/>
            <p:cNvSpPr txBox="1"/>
            <p:nvPr/>
          </p:nvSpPr>
          <p:spPr>
            <a:xfrm>
              <a:off x="7967611" y="3136582"/>
              <a:ext cx="181077" cy="33528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5</a:t>
              </a:r>
            </a:p>
          </p:txBody>
        </p:sp>
        <p:sp>
          <p:nvSpPr>
            <p:cNvPr id="46" name="TextBox 46"/>
            <p:cNvSpPr txBox="1"/>
            <p:nvPr/>
          </p:nvSpPr>
          <p:spPr>
            <a:xfrm>
              <a:off x="7536847" y="3756660"/>
              <a:ext cx="1042606" cy="24384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ctr"/>
              <a:r>
                <a:rPr lang="zh-CN" sz="1200" b="1" dirty="0">
                  <a:solidFill>
                    <a:srgbClr val="17212B"/>
                  </a:solidFill>
                  <a:latin typeface="Arial"/>
                  <a:ea typeface="Microsoft YaHei"/>
                  <a:cs typeface="Arial"/>
                </a:rPr>
                <a:t>Understand</a:t>
              </a:r>
            </a:p>
          </p:txBody>
        </p:sp>
        <p:sp>
          <p:nvSpPr>
            <p:cNvPr id="47" name="TextBox 47"/>
            <p:cNvSpPr txBox="1"/>
            <p:nvPr/>
          </p:nvSpPr>
          <p:spPr>
            <a:xfrm>
              <a:off x="7385399" y="3991928"/>
              <a:ext cx="1345502" cy="21336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ctr"/>
              <a:r>
                <a:rPr lang="zh-CN" sz="1050" dirty="0">
                  <a:solidFill>
                    <a:srgbClr val="5E6B75"/>
                  </a:solidFill>
                  <a:latin typeface="Calibri"/>
                  <a:ea typeface="Microsoft YaHei"/>
                  <a:cs typeface="Calibri"/>
                </a:rPr>
                <a:t>Why recommended</a:t>
              </a:r>
            </a:p>
          </p:txBody>
        </p:sp>
      </p:grpSp>
      <p:sp>
        <p:nvSpPr>
          <p:cNvPr id="49" name="Line 49"/>
          <p:cNvSpPr/>
          <p:nvPr/>
        </p:nvSpPr>
        <p:spPr>
          <a:xfrm>
            <a:off x="8458200" y="3238500"/>
            <a:ext cx="914400" cy="1"/>
          </a:xfrm>
          <a:prstGeom prst="line">
            <a:avLst/>
          </a:prstGeom>
          <a:noFill/>
          <a:ln w="28575">
            <a:solidFill>
              <a:srgbClr val="17A673"/>
            </a:solidFill>
            <a:tailEnd type="triangle" w="lg" len="lg"/>
          </a:ln>
        </p:spPr>
      </p:sp>
      <p:grpSp>
        <p:nvGrpSpPr>
          <p:cNvPr id="54" name="Group 54"/>
          <p:cNvGrpSpPr/>
          <p:nvPr/>
        </p:nvGrpSpPr>
        <p:grpSpPr>
          <a:xfrm>
            <a:off x="8908209" y="2857500"/>
            <a:ext cx="1728883" cy="1347788"/>
            <a:chOff x="8908209" y="2857500"/>
            <a:chExt cx="1728883" cy="1347788"/>
          </a:xfrm>
          <a:effectLst>
            <a:outerShdw blurRad="133350" dist="38100" dir="10799140" algn="tl" rotWithShape="0">
              <a:srgbClr val="12304A">
                <a:alpha val="12000"/>
              </a:srgbClr>
            </a:outerShdw>
          </a:effectLst>
        </p:grpSpPr>
        <p:sp>
          <p:nvSpPr>
            <p:cNvPr id="50" name="Ellipse 50"/>
            <p:cNvSpPr/>
            <p:nvPr/>
          </p:nvSpPr>
          <p:spPr>
            <a:xfrm>
              <a:off x="9391650" y="2857500"/>
              <a:ext cx="762000" cy="762000"/>
            </a:xfrm>
            <a:prstGeom prst="ellipse">
              <a:avLst/>
            </a:prstGeom>
            <a:solidFill>
              <a:srgbClr val="17A673"/>
            </a:solidFill>
            <a:ln>
              <a:noFill/>
            </a:ln>
            <a:effectLst>
              <a:outerShdw blurRad="133350" dist="38100" dir="10799140" algn="tl" rotWithShape="0">
                <a:srgbClr val="12304A">
                  <a:alpha val="12000"/>
                </a:srgbClr>
              </a:outerShdw>
            </a:effectLst>
          </p:spPr>
        </p:sp>
        <p:sp>
          <p:nvSpPr>
            <p:cNvPr id="51" name="TextBox 51"/>
            <p:cNvSpPr txBox="1"/>
            <p:nvPr/>
          </p:nvSpPr>
          <p:spPr>
            <a:xfrm>
              <a:off x="9682111" y="3136582"/>
              <a:ext cx="181077" cy="33528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ctr"/>
              <a:r>
                <a:rPr lang="zh-CN" sz="1650" b="1" dirty="0">
                  <a:solidFill>
                    <a:srgbClr val="FFFFFF"/>
                  </a:solidFill>
                  <a:latin typeface="Arial"/>
                  <a:ea typeface="Microsoft YaHei"/>
                  <a:cs typeface="Arial"/>
                </a:rPr>
                <a:t>6</a:t>
              </a:r>
            </a:p>
          </p:txBody>
        </p:sp>
        <p:sp>
          <p:nvSpPr>
            <p:cNvPr id="52" name="TextBox 52"/>
            <p:cNvSpPr txBox="1"/>
            <p:nvPr/>
          </p:nvSpPr>
          <p:spPr>
            <a:xfrm>
              <a:off x="9453772" y="3756660"/>
              <a:ext cx="637756" cy="24384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ctr"/>
              <a:r>
                <a:rPr lang="zh-CN" sz="1200" b="1" dirty="0">
                  <a:solidFill>
                    <a:srgbClr val="17212B"/>
                  </a:solidFill>
                  <a:latin typeface="Arial"/>
                  <a:ea typeface="Microsoft YaHei"/>
                  <a:cs typeface="Arial"/>
                </a:rPr>
                <a:t>Choose</a:t>
              </a:r>
            </a:p>
          </p:txBody>
        </p:sp>
        <p:sp>
          <p:nvSpPr>
            <p:cNvPr id="53" name="TextBox 53"/>
            <p:cNvSpPr txBox="1"/>
            <p:nvPr/>
          </p:nvSpPr>
          <p:spPr>
            <a:xfrm>
              <a:off x="8908209" y="3991928"/>
              <a:ext cx="1728883" cy="21336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ctr"/>
              <a:r>
                <a:rPr lang="zh-CN" sz="1050" dirty="0">
                  <a:solidFill>
                    <a:srgbClr val="5E6B75"/>
                  </a:solidFill>
                  <a:latin typeface="Calibri"/>
                  <a:ea typeface="Microsoft YaHei"/>
                  <a:cs typeface="Calibri"/>
                </a:rPr>
                <a:t>Original or alternative</a:t>
              </a:r>
            </a:p>
          </p:txBody>
        </p:sp>
      </p:grpSp>
      <p:sp>
        <p:nvSpPr>
          <p:cNvPr id="55" name="Line 55"/>
          <p:cNvSpPr/>
          <p:nvPr/>
        </p:nvSpPr>
        <p:spPr>
          <a:xfrm>
            <a:off x="10172700" y="3238500"/>
            <a:ext cx="533400" cy="1"/>
          </a:xfrm>
          <a:prstGeom prst="line">
            <a:avLst/>
          </a:prstGeom>
          <a:noFill/>
          <a:ln w="28575">
            <a:solidFill>
              <a:srgbClr val="17A673"/>
            </a:solidFill>
            <a:tailEnd type="triangle" w="lg" len="lg"/>
          </a:ln>
        </p:spPr>
      </p:sp>
      <p:grpSp>
        <p:nvGrpSpPr>
          <p:cNvPr id="60" name="Group 60"/>
          <p:cNvGrpSpPr/>
          <p:nvPr/>
        </p:nvGrpSpPr>
        <p:grpSpPr>
          <a:xfrm>
            <a:off x="10456402" y="2857500"/>
            <a:ext cx="1299496" cy="1347788"/>
            <a:chOff x="10456402" y="2857500"/>
            <a:chExt cx="1299496" cy="1347788"/>
          </a:xfrm>
          <a:effectLst>
            <a:outerShdw blurRad="133350" dist="38100" dir="10799140" algn="tl" rotWithShape="0">
              <a:srgbClr val="12304A">
                <a:alpha val="12000"/>
              </a:srgbClr>
            </a:outerShdw>
          </a:effectLst>
        </p:grpSpPr>
        <p:sp>
          <p:nvSpPr>
            <p:cNvPr id="56" name="Ellipse 56"/>
            <p:cNvSpPr/>
            <p:nvPr/>
          </p:nvSpPr>
          <p:spPr>
            <a:xfrm>
              <a:off x="10725150" y="2857500"/>
              <a:ext cx="762000" cy="762000"/>
            </a:xfrm>
            <a:prstGeom prst="ellipse">
              <a:avLst/>
            </a:prstGeom>
            <a:solidFill>
              <a:srgbClr val="B7E43C"/>
            </a:solidFill>
            <a:ln>
              <a:noFill/>
            </a:ln>
            <a:effectLst>
              <a:outerShdw blurRad="133350" dist="38100" dir="10799140" algn="tl" rotWithShape="0">
                <a:srgbClr val="12304A">
                  <a:alpha val="12000"/>
                </a:srgbClr>
              </a:outerShdw>
            </a:effectLst>
          </p:spPr>
        </p:sp>
        <p:sp>
          <p:nvSpPr>
            <p:cNvPr id="57" name="TextBox 57"/>
            <p:cNvSpPr txBox="1"/>
            <p:nvPr/>
          </p:nvSpPr>
          <p:spPr>
            <a:xfrm>
              <a:off x="11015611" y="3136582"/>
              <a:ext cx="181077" cy="33528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ctr"/>
              <a:r>
                <a:rPr lang="zh-CN" sz="1650" b="1" dirty="0">
                  <a:solidFill>
                    <a:srgbClr val="12304A"/>
                  </a:solidFill>
                  <a:latin typeface="Arial"/>
                  <a:ea typeface="Microsoft YaHei"/>
                  <a:cs typeface="Arial"/>
                </a:rPr>
                <a:t>7</a:t>
              </a:r>
            </a:p>
          </p:txBody>
        </p:sp>
        <p:sp>
          <p:nvSpPr>
            <p:cNvPr id="58" name="TextBox 58"/>
            <p:cNvSpPr txBox="1"/>
            <p:nvPr/>
          </p:nvSpPr>
          <p:spPr>
            <a:xfrm>
              <a:off x="10782671" y="3756660"/>
              <a:ext cx="646957" cy="24384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ctr"/>
              <a:r>
                <a:rPr lang="zh-CN" sz="1200" b="1" dirty="0">
                  <a:solidFill>
                    <a:srgbClr val="17212B"/>
                  </a:solidFill>
                  <a:latin typeface="Arial"/>
                  <a:ea typeface="Microsoft YaHei"/>
                  <a:cs typeface="Arial"/>
                </a:rPr>
                <a:t>Explain</a:t>
              </a:r>
            </a:p>
          </p:txBody>
        </p:sp>
        <p:sp>
          <p:nvSpPr>
            <p:cNvPr id="59" name="TextBox 59"/>
            <p:cNvSpPr txBox="1"/>
            <p:nvPr/>
          </p:nvSpPr>
          <p:spPr>
            <a:xfrm>
              <a:off x="10456402" y="3991928"/>
              <a:ext cx="1299496" cy="21336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ctr"/>
              <a:r>
                <a:rPr lang="zh-CN" sz="1050" dirty="0">
                  <a:solidFill>
                    <a:srgbClr val="5E6B75"/>
                  </a:solidFill>
                  <a:latin typeface="Calibri"/>
                  <a:ea typeface="Microsoft YaHei"/>
                  <a:cs typeface="Calibri"/>
                </a:rPr>
                <a:t>Reason and trust</a:t>
              </a:r>
            </a:p>
          </p:txBody>
        </p:sp>
      </p:grpSp>
      <p:grpSp>
        <p:nvGrpSpPr>
          <p:cNvPr id="65" name="Group 65"/>
          <p:cNvGrpSpPr/>
          <p:nvPr/>
        </p:nvGrpSpPr>
        <p:grpSpPr>
          <a:xfrm>
            <a:off x="6343650" y="2133600"/>
            <a:ext cx="2647950" cy="723900"/>
            <a:chOff x="6343650" y="2133600"/>
            <a:chExt cx="2647950" cy="723900"/>
          </a:xfrm>
        </p:grpSpPr>
        <p:sp>
          <p:nvSpPr>
            <p:cNvPr id="61" name="Freeform 61"/>
            <p:cNvSpPr/>
            <p:nvPr/>
          </p:nvSpPr>
          <p:spPr>
            <a:xfrm>
              <a:off x="6343650" y="2209800"/>
              <a:ext cx="1428750" cy="647700"/>
            </a:xfrm>
            <a:custGeom>
              <a:avLst/>
              <a:gdLst/>
              <a:ahLst/>
              <a:cxnLst/>
              <a:rect l="l" t="t" r="r" b="b"/>
              <a:pathLst>
                <a:path w="1428750" h="647700">
                  <a:moveTo>
                    <a:pt x="0" y="647700"/>
                  </a:moveTo>
                  <a:cubicBezTo>
                    <a:pt x="323850" y="38100"/>
                    <a:pt x="971550" y="0"/>
                    <a:pt x="1428750" y="361950"/>
                  </a:cubicBezTo>
                </a:path>
              </a:pathLst>
            </a:custGeom>
            <a:noFill/>
            <a:ln w="28575">
              <a:solidFill>
                <a:srgbClr val="17A673"/>
              </a:solidFill>
              <a:prstDash val="lgDash"/>
              <a:tailEnd type="triangle" w="lg" len="lg"/>
            </a:ln>
          </p:spPr>
        </p:sp>
        <p:sp>
          <p:nvSpPr>
            <p:cNvPr id="62" name="Freeform 62"/>
            <p:cNvSpPr/>
            <p:nvPr/>
          </p:nvSpPr>
          <p:spPr>
            <a:xfrm>
              <a:off x="6572250" y="2133600"/>
              <a:ext cx="2419350" cy="533400"/>
            </a:xfrm>
            <a:custGeom>
              <a:avLst/>
              <a:gdLst/>
              <a:ahLst/>
              <a:cxnLst/>
              <a:rect l="l" t="t" r="r" b="b"/>
              <a:pathLst>
                <a:path w="2419350" h="533400">
                  <a:moveTo>
                    <a:pt x="266700" y="0"/>
                  </a:moveTo>
                  <a:lnTo>
                    <a:pt x="2152650" y="0"/>
                  </a:lnTo>
                  <a:cubicBezTo>
                    <a:pt x="2299944" y="0"/>
                    <a:pt x="2419350" y="119406"/>
                    <a:pt x="2419350" y="266700"/>
                  </a:cubicBezTo>
                  <a:lnTo>
                    <a:pt x="2419350" y="266700"/>
                  </a:lnTo>
                  <a:cubicBezTo>
                    <a:pt x="2419350" y="413994"/>
                    <a:pt x="2299944" y="533400"/>
                    <a:pt x="2152650" y="533400"/>
                  </a:cubicBezTo>
                  <a:lnTo>
                    <a:pt x="266700" y="533400"/>
                  </a:lnTo>
                  <a:cubicBezTo>
                    <a:pt x="119406" y="533400"/>
                    <a:pt x="0" y="413994"/>
                    <a:pt x="0" y="266700"/>
                  </a:cubicBezTo>
                  <a:lnTo>
                    <a:pt x="0" y="266700"/>
                  </a:lnTo>
                  <a:cubicBezTo>
                    <a:pt x="0" y="119406"/>
                    <a:pt x="119406" y="0"/>
                    <a:pt x="266700" y="0"/>
                  </a:cubicBezTo>
                  <a:close/>
                </a:path>
              </a:pathLst>
            </a:custGeom>
            <a:solidFill>
              <a:srgbClr val="17A673"/>
            </a:solidFill>
            <a:ln>
              <a:noFill/>
            </a:ln>
          </p:spPr>
        </p:sp>
        <p:sp>
          <p:nvSpPr>
            <p:cNvPr id="63" name="TextBox 63"/>
            <p:cNvSpPr txBox="1"/>
            <p:nvPr/>
          </p:nvSpPr>
          <p:spPr>
            <a:xfrm>
              <a:off x="6584733" y="2216468"/>
              <a:ext cx="2394385"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17:00 • Save 40,000 VND</a:t>
              </a:r>
            </a:p>
          </p:txBody>
        </p:sp>
        <p:sp>
          <p:nvSpPr>
            <p:cNvPr id="64" name="TextBox 64"/>
            <p:cNvSpPr txBox="1"/>
            <p:nvPr/>
          </p:nvSpPr>
          <p:spPr>
            <a:xfrm>
              <a:off x="6587633" y="2447449"/>
              <a:ext cx="2388584"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Calibri"/>
                  <a:ea typeface="Microsoft YaHei"/>
                  <a:cs typeface="Calibri"/>
                </a:rPr>
                <a:t>8 minutes away • within flexibility</a:t>
              </a:r>
            </a:p>
          </p:txBody>
        </p:sp>
      </p:grpSp>
      <p:grpSp>
        <p:nvGrpSpPr>
          <p:cNvPr id="75" name="Group 75"/>
          <p:cNvGrpSpPr/>
          <p:nvPr/>
        </p:nvGrpSpPr>
        <p:grpSpPr>
          <a:xfrm>
            <a:off x="1466850" y="4762500"/>
            <a:ext cx="9258300" cy="1104900"/>
            <a:chOff x="1466850" y="4762500"/>
            <a:chExt cx="9258300" cy="1104900"/>
          </a:xfrm>
        </p:grpSpPr>
        <p:sp>
          <p:nvSpPr>
            <p:cNvPr id="66" name="Freeform 66"/>
            <p:cNvSpPr/>
            <p:nvPr/>
          </p:nvSpPr>
          <p:spPr>
            <a:xfrm>
              <a:off x="1466850" y="4762500"/>
              <a:ext cx="9258300" cy="1104900"/>
            </a:xfrm>
            <a:custGeom>
              <a:avLst/>
              <a:gdLst/>
              <a:ahLst/>
              <a:cxnLst/>
              <a:rect l="l" t="t" r="r" b="b"/>
              <a:pathLst>
                <a:path w="9258300" h="1104900">
                  <a:moveTo>
                    <a:pt x="152400" y="0"/>
                  </a:moveTo>
                  <a:lnTo>
                    <a:pt x="9105900" y="0"/>
                  </a:lnTo>
                  <a:cubicBezTo>
                    <a:pt x="9190068" y="0"/>
                    <a:pt x="9258300" y="68232"/>
                    <a:pt x="9258300" y="152400"/>
                  </a:cubicBezTo>
                  <a:lnTo>
                    <a:pt x="9258300" y="952500"/>
                  </a:lnTo>
                  <a:cubicBezTo>
                    <a:pt x="9258300" y="1036668"/>
                    <a:pt x="9190068" y="1104900"/>
                    <a:pt x="9105900" y="1104900"/>
                  </a:cubicBezTo>
                  <a:lnTo>
                    <a:pt x="152400" y="1104900"/>
                  </a:lnTo>
                  <a:cubicBezTo>
                    <a:pt x="68232" y="1104900"/>
                    <a:pt x="0" y="1036668"/>
                    <a:pt x="0" y="952500"/>
                  </a:cubicBezTo>
                  <a:lnTo>
                    <a:pt x="0" y="152400"/>
                  </a:lnTo>
                  <a:cubicBezTo>
                    <a:pt x="0" y="68232"/>
                    <a:pt x="68232" y="0"/>
                    <a:pt x="152400" y="0"/>
                  </a:cubicBezTo>
                  <a:close/>
                </a:path>
              </a:pathLst>
            </a:custGeom>
            <a:solidFill>
              <a:srgbClr val="12304A"/>
            </a:solidFill>
            <a:ln>
              <a:noFill/>
            </a:ln>
          </p:spPr>
        </p:sp>
        <p:sp>
          <p:nvSpPr>
            <p:cNvPr id="67" name="TextBox 67"/>
            <p:cNvSpPr txBox="1"/>
            <p:nvPr/>
          </p:nvSpPr>
          <p:spPr>
            <a:xfrm>
              <a:off x="1736408" y="4967764"/>
              <a:ext cx="2945699" cy="259080"/>
            </a:xfrm>
            <a:prstGeom prst="rect">
              <a:avLst/>
            </a:prstGeom>
            <a:noFill/>
            <a:ln>
              <a:noFill/>
            </a:ln>
          </p:spPr>
          <p:txBody>
            <a:bodyPr wrap="none" lIns="0" tIns="0" rIns="0" bIns="0" anchor="t" anchorCtr="0">
              <a:spAutoFit/>
            </a:bodyPr>
            <a:lstStyle/>
            <a:p>
              <a:pPr algn="l"/>
              <a:r>
                <a:rPr lang="zh-CN" sz="1275" b="1" dirty="0">
                  <a:solidFill>
                    <a:srgbClr val="B7E43C"/>
                  </a:solidFill>
                  <a:latin typeface="Arial"/>
                  <a:ea typeface="Microsoft YaHei"/>
                  <a:cs typeface="Arial"/>
                </a:rPr>
                <a:t>WHAT THE PROTOTYPE MEASURES</a:t>
              </a:r>
            </a:p>
          </p:txBody>
        </p:sp>
        <p:sp>
          <p:nvSpPr>
            <p:cNvPr id="68" name="TextBox 68"/>
            <p:cNvSpPr txBox="1"/>
            <p:nvPr/>
          </p:nvSpPr>
          <p:spPr>
            <a:xfrm>
              <a:off x="1735455" y="5321618"/>
              <a:ext cx="2932652"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Calibri"/>
                  <a:ea typeface="Microsoft YaHei"/>
                  <a:cs typeface="Calibri"/>
                </a:rPr>
                <a:t>Acceptance of the alternative</a:t>
              </a:r>
            </a:p>
          </p:txBody>
        </p:sp>
        <p:sp>
          <p:nvSpPr>
            <p:cNvPr id="69" name="Ellipse 69"/>
            <p:cNvSpPr/>
            <p:nvPr/>
          </p:nvSpPr>
          <p:spPr>
            <a:xfrm>
              <a:off x="4495800" y="5362575"/>
              <a:ext cx="95250" cy="95250"/>
            </a:xfrm>
            <a:prstGeom prst="ellipse">
              <a:avLst/>
            </a:prstGeom>
            <a:solidFill>
              <a:srgbClr val="B7E43C"/>
            </a:solidFill>
            <a:ln>
              <a:noFill/>
            </a:ln>
          </p:spPr>
        </p:sp>
        <p:sp>
          <p:nvSpPr>
            <p:cNvPr id="70" name="TextBox 70"/>
            <p:cNvSpPr txBox="1"/>
            <p:nvPr/>
          </p:nvSpPr>
          <p:spPr>
            <a:xfrm>
              <a:off x="4726305" y="5321618"/>
              <a:ext cx="1404604"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Calibri"/>
                  <a:ea typeface="Microsoft YaHei"/>
                  <a:cs typeface="Calibri"/>
                </a:rPr>
                <a:t>Decision speed</a:t>
              </a:r>
            </a:p>
          </p:txBody>
        </p:sp>
        <p:sp>
          <p:nvSpPr>
            <p:cNvPr id="71" name="Ellipse 71"/>
            <p:cNvSpPr/>
            <p:nvPr/>
          </p:nvSpPr>
          <p:spPr>
            <a:xfrm>
              <a:off x="6372225" y="5362575"/>
              <a:ext cx="95250" cy="95250"/>
            </a:xfrm>
            <a:prstGeom prst="ellipse">
              <a:avLst/>
            </a:prstGeom>
            <a:solidFill>
              <a:srgbClr val="B7E43C"/>
            </a:solidFill>
            <a:ln>
              <a:noFill/>
            </a:ln>
          </p:spPr>
        </p:sp>
        <p:sp>
          <p:nvSpPr>
            <p:cNvPr id="72" name="TextBox 72"/>
            <p:cNvSpPr txBox="1"/>
            <p:nvPr/>
          </p:nvSpPr>
          <p:spPr>
            <a:xfrm>
              <a:off x="6602730" y="5321618"/>
              <a:ext cx="3041094"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Calibri"/>
                  <a:ea typeface="Microsoft YaHei"/>
                  <a:cs typeface="Calibri"/>
                </a:rPr>
                <a:t>Recommendation comprehension</a:t>
              </a:r>
            </a:p>
          </p:txBody>
        </p:sp>
        <p:sp>
          <p:nvSpPr>
            <p:cNvPr id="73" name="Ellipse 73"/>
            <p:cNvSpPr/>
            <p:nvPr/>
          </p:nvSpPr>
          <p:spPr>
            <a:xfrm>
              <a:off x="9610725" y="5362575"/>
              <a:ext cx="95250" cy="95250"/>
            </a:xfrm>
            <a:prstGeom prst="ellipse">
              <a:avLst/>
            </a:prstGeom>
            <a:solidFill>
              <a:srgbClr val="B7E43C"/>
            </a:solidFill>
            <a:ln>
              <a:noFill/>
            </a:ln>
          </p:spPr>
        </p:sp>
        <p:sp>
          <p:nvSpPr>
            <p:cNvPr id="74" name="TextBox 74"/>
            <p:cNvSpPr txBox="1"/>
            <p:nvPr/>
          </p:nvSpPr>
          <p:spPr>
            <a:xfrm>
              <a:off x="9841230" y="5321618"/>
              <a:ext cx="576501"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Calibri"/>
                  <a:ea typeface="Microsoft YaHei"/>
                  <a:cs typeface="Calibri"/>
                </a:rPr>
                <a:t>Trust</a:t>
              </a:r>
            </a:p>
          </p:txBody>
        </p:sp>
      </p:grpSp>
      <p:grpSp>
        <p:nvGrpSpPr>
          <p:cNvPr id="78" name="Group 78"/>
          <p:cNvGrpSpPr/>
          <p:nvPr/>
        </p:nvGrpSpPr>
        <p:grpSpPr>
          <a:xfrm>
            <a:off x="522922" y="6483191"/>
            <a:ext cx="11146155" cy="167640"/>
            <a:chOff x="522922" y="6483191"/>
            <a:chExt cx="11146155" cy="167640"/>
          </a:xfrm>
        </p:grpSpPr>
        <p:sp>
          <p:nvSpPr>
            <p:cNvPr id="76" name="TextBox 76"/>
            <p:cNvSpPr txBox="1"/>
            <p:nvPr/>
          </p:nvSpPr>
          <p:spPr>
            <a:xfrm>
              <a:off x="522922" y="6483191"/>
              <a:ext cx="3689914" cy="167640"/>
            </a:xfrm>
            <a:prstGeom prst="rect">
              <a:avLst/>
            </a:prstGeom>
            <a:noFill/>
            <a:ln>
              <a:noFill/>
            </a:ln>
          </p:spPr>
          <p:txBody>
            <a:bodyPr wrap="none" lIns="0" tIns="0" rIns="0" bIns="0" anchor="t" anchorCtr="0">
              <a:spAutoFit/>
            </a:bodyPr>
            <a:lstStyle/>
            <a:p>
              <a:pPr algn="l"/>
              <a:r>
                <a:rPr lang="zh-CN" sz="825" dirty="0">
                  <a:solidFill>
                    <a:srgbClr val="89949C"/>
                  </a:solidFill>
                  <a:latin typeface="Calibri"/>
                  <a:ea typeface="Microsoft YaHei"/>
                  <a:cs typeface="Calibri"/>
                </a:rPr>
                <a:t>Prototype demo flow and illustrative recommendation message</a:t>
              </a:r>
            </a:p>
          </p:txBody>
        </p:sp>
        <p:sp>
          <p:nvSpPr>
            <p:cNvPr id="77" name="TextBox 77"/>
            <p:cNvSpPr txBox="1"/>
            <p:nvPr/>
          </p:nvSpPr>
          <p:spPr>
            <a:xfrm>
              <a:off x="11515582" y="6483191"/>
              <a:ext cx="153495" cy="167640"/>
            </a:xfrm>
            <a:prstGeom prst="rect">
              <a:avLst/>
            </a:prstGeom>
            <a:noFill/>
            <a:ln>
              <a:noFill/>
            </a:ln>
          </p:spPr>
          <p:txBody>
            <a:bodyPr wrap="none" lIns="0" tIns="0" rIns="0" bIns="0" anchor="t" anchorCtr="0">
              <a:spAutoFit/>
            </a:bodyPr>
            <a:lstStyle/>
            <a:p>
              <a:pPr algn="r"/>
              <a:r>
                <a:rPr lang="zh-CN" sz="825" dirty="0">
                  <a:solidFill>
                    <a:srgbClr val="89949C"/>
                  </a:solidFill>
                  <a:latin typeface="Arial"/>
                  <a:ea typeface="Microsoft YaHei"/>
                  <a:cs typeface="Arial"/>
                </a:rPr>
                <a:t>07</a:t>
              </a:r>
            </a:p>
          </p:txBody>
        </p:sp>
      </p:grpSp>
    </p:spTree>
  </p:cSld>
  <p:clrMapOvr>
    <a:masterClrMapping/>
  </p:clrMapOvr>
  <p:transition 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8F7"/>
          </a:solidFill>
          <a:ln>
            <a:noFill/>
          </a:ln>
        </p:spPr>
      </p:sp>
      <p:sp>
        <p:nvSpPr>
          <p:cNvPr id="3" name="Rectangle 3"/>
          <p:cNvSpPr/>
          <p:nvPr/>
        </p:nvSpPr>
        <p:spPr>
          <a:xfrm>
            <a:off x="0" y="0"/>
            <a:ext cx="12192000" cy="66675"/>
          </a:xfrm>
          <a:prstGeom prst="rect">
            <a:avLst/>
          </a:prstGeom>
          <a:solidFill>
            <a:srgbClr val="17A673"/>
          </a:solidFill>
          <a:ln>
            <a:noFill/>
          </a:ln>
        </p:spPr>
      </p:sp>
      <p:grpSp>
        <p:nvGrpSpPr>
          <p:cNvPr id="7" name="Group 7"/>
          <p:cNvGrpSpPr/>
          <p:nvPr/>
        </p:nvGrpSpPr>
        <p:grpSpPr>
          <a:xfrm>
            <a:off x="501015" y="248602"/>
            <a:ext cx="11157585" cy="894398"/>
            <a:chOff x="501015" y="248602"/>
            <a:chExt cx="11157585" cy="894398"/>
          </a:xfrm>
        </p:grpSpPr>
        <p:sp>
          <p:nvSpPr>
            <p:cNvPr id="4" name="TextBox 4"/>
            <p:cNvSpPr txBox="1"/>
            <p:nvPr/>
          </p:nvSpPr>
          <p:spPr>
            <a:xfrm>
              <a:off x="501015" y="248602"/>
              <a:ext cx="11033691" cy="518160"/>
            </a:xfrm>
            <a:prstGeom prst="rect">
              <a:avLst/>
            </a:prstGeom>
            <a:noFill/>
            <a:ln>
              <a:noFill/>
            </a:ln>
          </p:spPr>
          <p:txBody>
            <a:bodyPr wrap="none" lIns="0" tIns="0" rIns="0" bIns="0" anchor="t" anchorCtr="0">
              <a:spAutoFit/>
            </a:bodyPr>
            <a:lstStyle/>
            <a:p>
              <a:pPr algn="l"/>
              <a:r>
                <a:rPr lang="zh-CN" sz="2550" b="1" dirty="0">
                  <a:solidFill>
                    <a:srgbClr val="12304A"/>
                  </a:solidFill>
                  <a:latin typeface="Arial"/>
                  <a:ea typeface="Microsoft YaHei"/>
                  <a:cs typeface="Arial"/>
                </a:rPr>
                <a:t>Validate Demand Shifting Before Building the Full Platform</a:t>
              </a:r>
            </a:p>
          </p:txBody>
        </p:sp>
        <p:sp>
          <p:nvSpPr>
            <p:cNvPr id="5" name="Freeform 5"/>
            <p:cNvSpPr/>
            <p:nvPr/>
          </p:nvSpPr>
          <p:spPr>
            <a:xfrm>
              <a:off x="533400" y="723900"/>
              <a:ext cx="11125200" cy="419100"/>
            </a:xfrm>
            <a:custGeom>
              <a:avLst/>
              <a:gdLst/>
              <a:ahLst/>
              <a:cxnLst/>
              <a:rect l="l" t="t" r="r" b="b"/>
              <a:pathLst>
                <a:path w="11125200" h="419100">
                  <a:moveTo>
                    <a:pt x="66675" y="0"/>
                  </a:moveTo>
                  <a:lnTo>
                    <a:pt x="11058525" y="0"/>
                  </a:lnTo>
                  <a:cubicBezTo>
                    <a:pt x="11095349" y="0"/>
                    <a:pt x="11125200" y="29851"/>
                    <a:pt x="11125200" y="66675"/>
                  </a:cubicBezTo>
                  <a:lnTo>
                    <a:pt x="11125200" y="352425"/>
                  </a:lnTo>
                  <a:cubicBezTo>
                    <a:pt x="11125200" y="389249"/>
                    <a:pt x="11095349" y="419100"/>
                    <a:pt x="11058525" y="419100"/>
                  </a:cubicBezTo>
                  <a:lnTo>
                    <a:pt x="66675" y="419100"/>
                  </a:lnTo>
                  <a:cubicBezTo>
                    <a:pt x="29851" y="419100"/>
                    <a:pt x="0" y="389249"/>
                    <a:pt x="0" y="352425"/>
                  </a:cubicBezTo>
                  <a:lnTo>
                    <a:pt x="0" y="66675"/>
                  </a:lnTo>
                  <a:cubicBezTo>
                    <a:pt x="0" y="29851"/>
                    <a:pt x="29851" y="0"/>
                    <a:pt x="66675" y="0"/>
                  </a:cubicBezTo>
                  <a:close/>
                </a:path>
              </a:pathLst>
            </a:custGeom>
            <a:solidFill>
              <a:srgbClr val="12304A"/>
            </a:solidFill>
            <a:ln>
              <a:noFill/>
            </a:ln>
          </p:spPr>
        </p:sp>
        <p:sp>
          <p:nvSpPr>
            <p:cNvPr id="6" name="TextBox 6"/>
            <p:cNvSpPr txBox="1"/>
            <p:nvPr/>
          </p:nvSpPr>
          <p:spPr>
            <a:xfrm>
              <a:off x="706755" y="844868"/>
              <a:ext cx="9609237"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Calibri"/>
                  <a:ea typeface="Microsoft YaHei"/>
                  <a:cs typeface="Calibri"/>
                </a:rPr>
                <a:t>A small prototype can retire the core behavioral risk before significant software investment.</a:t>
              </a:r>
            </a:p>
          </p:txBody>
        </p:sp>
      </p:grpSp>
      <p:sp>
        <p:nvSpPr>
          <p:cNvPr id="8" name="TextBox 8"/>
          <p:cNvSpPr txBox="1"/>
          <p:nvPr/>
        </p:nvSpPr>
        <p:spPr>
          <a:xfrm>
            <a:off x="516255" y="1359218"/>
            <a:ext cx="2404736" cy="274320"/>
          </a:xfrm>
          <a:prstGeom prst="rect">
            <a:avLst/>
          </a:prstGeom>
          <a:noFill/>
          <a:ln>
            <a:noFill/>
          </a:ln>
        </p:spPr>
        <p:txBody>
          <a:bodyPr wrap="none" lIns="0" tIns="0" rIns="0" bIns="0" anchor="t" anchorCtr="0">
            <a:spAutoFit/>
          </a:bodyPr>
          <a:lstStyle/>
          <a:p>
            <a:pPr algn="l"/>
            <a:r>
              <a:rPr lang="zh-CN" sz="1350" b="1" dirty="0">
                <a:solidFill>
                  <a:srgbClr val="17212B"/>
                </a:solidFill>
                <a:latin typeface="Arial"/>
                <a:ea typeface="Microsoft YaHei"/>
                <a:cs typeface="Arial"/>
              </a:rPr>
              <a:t>PROTOTYPE SUCCESS BAR</a:t>
            </a:r>
          </a:p>
        </p:txBody>
      </p:sp>
      <p:grpSp>
        <p:nvGrpSpPr>
          <p:cNvPr id="12" name="Group 12"/>
          <p:cNvGrpSpPr/>
          <p:nvPr/>
        </p:nvGrpSpPr>
        <p:grpSpPr>
          <a:xfrm>
            <a:off x="533400" y="1657350"/>
            <a:ext cx="2716530" cy="1104900"/>
            <a:chOff x="533400" y="1657350"/>
            <a:chExt cx="2716530" cy="1104900"/>
          </a:xfrm>
          <a:effectLst>
            <a:outerShdw blurRad="133350" dist="38100" dir="10799140" algn="tl" rotWithShape="0">
              <a:srgbClr val="12304A">
                <a:alpha val="12000"/>
              </a:srgbClr>
            </a:outerShdw>
          </a:effectLst>
        </p:grpSpPr>
        <p:sp>
          <p:nvSpPr>
            <p:cNvPr id="9" name="Freeform 9"/>
            <p:cNvSpPr/>
            <p:nvPr/>
          </p:nvSpPr>
          <p:spPr>
            <a:xfrm>
              <a:off x="533400" y="1657350"/>
              <a:ext cx="2552700" cy="1104900"/>
            </a:xfrm>
            <a:custGeom>
              <a:avLst/>
              <a:gdLst/>
              <a:ahLst/>
              <a:cxnLst/>
              <a:rect l="l" t="t" r="r" b="b"/>
              <a:pathLst>
                <a:path w="2552700" h="1104900">
                  <a:moveTo>
                    <a:pt x="133350" y="0"/>
                  </a:moveTo>
                  <a:lnTo>
                    <a:pt x="2419350" y="0"/>
                  </a:lnTo>
                  <a:cubicBezTo>
                    <a:pt x="2492997" y="0"/>
                    <a:pt x="2552700" y="59703"/>
                    <a:pt x="2552700" y="133350"/>
                  </a:cubicBezTo>
                  <a:lnTo>
                    <a:pt x="2552700" y="971550"/>
                  </a:lnTo>
                  <a:cubicBezTo>
                    <a:pt x="2552700" y="1045197"/>
                    <a:pt x="2492997" y="1104900"/>
                    <a:pt x="2419350" y="1104900"/>
                  </a:cubicBezTo>
                  <a:lnTo>
                    <a:pt x="133350" y="1104900"/>
                  </a:lnTo>
                  <a:cubicBezTo>
                    <a:pt x="59703" y="1104900"/>
                    <a:pt x="0" y="1045197"/>
                    <a:pt x="0" y="971550"/>
                  </a:cubicBezTo>
                  <a:lnTo>
                    <a:pt x="0" y="133350"/>
                  </a:lnTo>
                  <a:cubicBezTo>
                    <a:pt x="0" y="59703"/>
                    <a:pt x="59703" y="0"/>
                    <a:pt x="133350" y="0"/>
                  </a:cubicBezTo>
                  <a:close/>
                </a:path>
              </a:pathLst>
            </a:custGeom>
            <a:solidFill>
              <a:srgbClr val="FFFFFF"/>
            </a:solidFill>
            <a:ln>
              <a:noFill/>
            </a:ln>
            <a:effectLst>
              <a:outerShdw blurRad="133350" dist="38100" dir="10799140" algn="tl" rotWithShape="0">
                <a:srgbClr val="12304A">
                  <a:alpha val="12000"/>
                </a:srgbClr>
              </a:outerShdw>
            </a:effectLst>
          </p:spPr>
        </p:sp>
        <p:sp>
          <p:nvSpPr>
            <p:cNvPr id="10" name="TextBox 10"/>
            <p:cNvSpPr txBox="1"/>
            <p:nvPr/>
          </p:nvSpPr>
          <p:spPr>
            <a:xfrm>
              <a:off x="741045" y="1774508"/>
              <a:ext cx="1142743" cy="64008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l"/>
              <a:r>
                <a:rPr lang="zh-CN" sz="3150" b="1" dirty="0">
                  <a:solidFill>
                    <a:srgbClr val="17A673"/>
                  </a:solidFill>
                  <a:latin typeface="Arial"/>
                  <a:ea typeface="Microsoft YaHei"/>
                  <a:cs typeface="Arial"/>
                </a:rPr>
                <a:t>≥80%</a:t>
              </a:r>
            </a:p>
          </p:txBody>
        </p:sp>
        <p:sp>
          <p:nvSpPr>
            <p:cNvPr id="11" name="TextBox 11"/>
            <p:cNvSpPr txBox="1"/>
            <p:nvPr/>
          </p:nvSpPr>
          <p:spPr>
            <a:xfrm>
              <a:off x="765810" y="2270760"/>
              <a:ext cx="2484120" cy="24384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l"/>
              <a:r>
                <a:rPr lang="zh-CN" sz="1200" dirty="0">
                  <a:solidFill>
                    <a:srgbClr val="5E6B75"/>
                  </a:solidFill>
                  <a:latin typeface="Calibri"/>
                  <a:ea typeface="Microsoft YaHei"/>
                  <a:cs typeface="Calibri"/>
                </a:rPr>
                <a:t>complete without assistance</a:t>
              </a:r>
            </a:p>
          </p:txBody>
        </p:sp>
      </p:grpSp>
      <p:grpSp>
        <p:nvGrpSpPr>
          <p:cNvPr id="16" name="Group 16"/>
          <p:cNvGrpSpPr/>
          <p:nvPr/>
        </p:nvGrpSpPr>
        <p:grpSpPr>
          <a:xfrm>
            <a:off x="3390900" y="1657350"/>
            <a:ext cx="2681478" cy="1104900"/>
            <a:chOff x="3390900" y="1657350"/>
            <a:chExt cx="2681478" cy="1104900"/>
          </a:xfrm>
          <a:effectLst>
            <a:outerShdw blurRad="133350" dist="38100" dir="10799140" algn="tl" rotWithShape="0">
              <a:srgbClr val="12304A">
                <a:alpha val="12000"/>
              </a:srgbClr>
            </a:outerShdw>
          </a:effectLst>
        </p:grpSpPr>
        <p:sp>
          <p:nvSpPr>
            <p:cNvPr id="13" name="Freeform 13"/>
            <p:cNvSpPr/>
            <p:nvPr/>
          </p:nvSpPr>
          <p:spPr>
            <a:xfrm>
              <a:off x="3390900" y="1657350"/>
              <a:ext cx="2552700" cy="1104900"/>
            </a:xfrm>
            <a:custGeom>
              <a:avLst/>
              <a:gdLst/>
              <a:ahLst/>
              <a:cxnLst/>
              <a:rect l="l" t="t" r="r" b="b"/>
              <a:pathLst>
                <a:path w="2552700" h="1104900">
                  <a:moveTo>
                    <a:pt x="133350" y="0"/>
                  </a:moveTo>
                  <a:lnTo>
                    <a:pt x="2419350" y="0"/>
                  </a:lnTo>
                  <a:cubicBezTo>
                    <a:pt x="2492997" y="0"/>
                    <a:pt x="2552700" y="59703"/>
                    <a:pt x="2552700" y="133350"/>
                  </a:cubicBezTo>
                  <a:lnTo>
                    <a:pt x="2552700" y="971550"/>
                  </a:lnTo>
                  <a:cubicBezTo>
                    <a:pt x="2552700" y="1045197"/>
                    <a:pt x="2492997" y="1104900"/>
                    <a:pt x="2419350" y="1104900"/>
                  </a:cubicBezTo>
                  <a:lnTo>
                    <a:pt x="133350" y="1104900"/>
                  </a:lnTo>
                  <a:cubicBezTo>
                    <a:pt x="59703" y="1104900"/>
                    <a:pt x="0" y="1045197"/>
                    <a:pt x="0" y="971550"/>
                  </a:cubicBezTo>
                  <a:lnTo>
                    <a:pt x="0" y="133350"/>
                  </a:lnTo>
                  <a:cubicBezTo>
                    <a:pt x="0" y="59703"/>
                    <a:pt x="59703" y="0"/>
                    <a:pt x="133350" y="0"/>
                  </a:cubicBezTo>
                  <a:close/>
                </a:path>
              </a:pathLst>
            </a:custGeom>
            <a:solidFill>
              <a:srgbClr val="FFFFFF"/>
            </a:solidFill>
            <a:ln>
              <a:noFill/>
            </a:ln>
            <a:effectLst>
              <a:outerShdw blurRad="133350" dist="38100" dir="10799140" algn="tl" rotWithShape="0">
                <a:srgbClr val="12304A">
                  <a:alpha val="12000"/>
                </a:srgbClr>
              </a:outerShdw>
            </a:effectLst>
          </p:spPr>
        </p:sp>
        <p:sp>
          <p:nvSpPr>
            <p:cNvPr id="14" name="TextBox 14"/>
            <p:cNvSpPr txBox="1"/>
            <p:nvPr/>
          </p:nvSpPr>
          <p:spPr>
            <a:xfrm>
              <a:off x="3598545" y="1774508"/>
              <a:ext cx="1142743" cy="64008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l"/>
              <a:r>
                <a:rPr lang="zh-CN" sz="3150" b="1" dirty="0">
                  <a:solidFill>
                    <a:srgbClr val="17A673"/>
                  </a:solidFill>
                  <a:latin typeface="Arial"/>
                  <a:ea typeface="Microsoft YaHei"/>
                  <a:cs typeface="Arial"/>
                </a:rPr>
                <a:t>&lt;60s</a:t>
              </a:r>
            </a:p>
          </p:txBody>
        </p:sp>
        <p:sp>
          <p:nvSpPr>
            <p:cNvPr id="15" name="TextBox 15"/>
            <p:cNvSpPr txBox="1"/>
            <p:nvPr/>
          </p:nvSpPr>
          <p:spPr>
            <a:xfrm>
              <a:off x="3623310" y="2270760"/>
              <a:ext cx="2449068" cy="24384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l"/>
              <a:r>
                <a:rPr lang="zh-CN" sz="1200" dirty="0">
                  <a:solidFill>
                    <a:srgbClr val="5E6B75"/>
                  </a:solidFill>
                  <a:latin typeface="Calibri"/>
                  <a:ea typeface="Microsoft YaHei"/>
                  <a:cs typeface="Calibri"/>
                </a:rPr>
                <a:t>median time to selected slot</a:t>
              </a:r>
            </a:p>
          </p:txBody>
        </p:sp>
      </p:grpSp>
      <p:grpSp>
        <p:nvGrpSpPr>
          <p:cNvPr id="20" name="Group 20"/>
          <p:cNvGrpSpPr/>
          <p:nvPr/>
        </p:nvGrpSpPr>
        <p:grpSpPr>
          <a:xfrm>
            <a:off x="6248400" y="1657350"/>
            <a:ext cx="2690241" cy="1104900"/>
            <a:chOff x="6248400" y="1657350"/>
            <a:chExt cx="2690241" cy="1104900"/>
          </a:xfrm>
          <a:effectLst>
            <a:outerShdw blurRad="133350" dist="38100" dir="10799140" algn="tl" rotWithShape="0">
              <a:srgbClr val="12304A">
                <a:alpha val="12000"/>
              </a:srgbClr>
            </a:outerShdw>
          </a:effectLst>
        </p:grpSpPr>
        <p:sp>
          <p:nvSpPr>
            <p:cNvPr id="17" name="Freeform 17"/>
            <p:cNvSpPr/>
            <p:nvPr/>
          </p:nvSpPr>
          <p:spPr>
            <a:xfrm>
              <a:off x="6248400" y="1657350"/>
              <a:ext cx="2552700" cy="1104900"/>
            </a:xfrm>
            <a:custGeom>
              <a:avLst/>
              <a:gdLst/>
              <a:ahLst/>
              <a:cxnLst/>
              <a:rect l="l" t="t" r="r" b="b"/>
              <a:pathLst>
                <a:path w="2552700" h="1104900">
                  <a:moveTo>
                    <a:pt x="133350" y="0"/>
                  </a:moveTo>
                  <a:lnTo>
                    <a:pt x="2419350" y="0"/>
                  </a:lnTo>
                  <a:cubicBezTo>
                    <a:pt x="2492997" y="0"/>
                    <a:pt x="2552700" y="59703"/>
                    <a:pt x="2552700" y="133350"/>
                  </a:cubicBezTo>
                  <a:lnTo>
                    <a:pt x="2552700" y="971550"/>
                  </a:lnTo>
                  <a:cubicBezTo>
                    <a:pt x="2552700" y="1045197"/>
                    <a:pt x="2492997" y="1104900"/>
                    <a:pt x="2419350" y="1104900"/>
                  </a:cubicBezTo>
                  <a:lnTo>
                    <a:pt x="133350" y="1104900"/>
                  </a:lnTo>
                  <a:cubicBezTo>
                    <a:pt x="59703" y="1104900"/>
                    <a:pt x="0" y="1045197"/>
                    <a:pt x="0" y="971550"/>
                  </a:cubicBezTo>
                  <a:lnTo>
                    <a:pt x="0" y="133350"/>
                  </a:lnTo>
                  <a:cubicBezTo>
                    <a:pt x="0" y="59703"/>
                    <a:pt x="59703" y="0"/>
                    <a:pt x="133350" y="0"/>
                  </a:cubicBezTo>
                  <a:close/>
                </a:path>
              </a:pathLst>
            </a:custGeom>
            <a:solidFill>
              <a:srgbClr val="FFFFFF"/>
            </a:solidFill>
            <a:ln>
              <a:noFill/>
            </a:ln>
            <a:effectLst>
              <a:outerShdw blurRad="133350" dist="38100" dir="10799140" algn="tl" rotWithShape="0">
                <a:srgbClr val="12304A">
                  <a:alpha val="12000"/>
                </a:srgbClr>
              </a:outerShdw>
            </a:effectLst>
          </p:spPr>
        </p:sp>
        <p:sp>
          <p:nvSpPr>
            <p:cNvPr id="18" name="TextBox 18"/>
            <p:cNvSpPr txBox="1"/>
            <p:nvPr/>
          </p:nvSpPr>
          <p:spPr>
            <a:xfrm>
              <a:off x="6456045" y="1774508"/>
              <a:ext cx="1142743" cy="64008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l"/>
              <a:r>
                <a:rPr lang="zh-CN" sz="3150" b="1" dirty="0">
                  <a:solidFill>
                    <a:srgbClr val="17A673"/>
                  </a:solidFill>
                  <a:latin typeface="Arial"/>
                  <a:ea typeface="Microsoft YaHei"/>
                  <a:cs typeface="Arial"/>
                </a:rPr>
                <a:t>≥40%</a:t>
              </a:r>
            </a:p>
          </p:txBody>
        </p:sp>
        <p:sp>
          <p:nvSpPr>
            <p:cNvPr id="19" name="TextBox 19"/>
            <p:cNvSpPr txBox="1"/>
            <p:nvPr/>
          </p:nvSpPr>
          <p:spPr>
            <a:xfrm>
              <a:off x="6480810" y="2270760"/>
              <a:ext cx="2457831" cy="24384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l"/>
              <a:r>
                <a:rPr lang="zh-CN" sz="1200" dirty="0">
                  <a:solidFill>
                    <a:srgbClr val="5E6B75"/>
                  </a:solidFill>
                  <a:latin typeface="Calibri"/>
                  <a:ea typeface="Microsoft YaHei"/>
                  <a:cs typeface="Calibri"/>
                </a:rPr>
                <a:t>consider an alternative time</a:t>
              </a:r>
            </a:p>
          </p:txBody>
        </p:sp>
      </p:grpSp>
      <p:grpSp>
        <p:nvGrpSpPr>
          <p:cNvPr id="25" name="Group 25"/>
          <p:cNvGrpSpPr/>
          <p:nvPr/>
        </p:nvGrpSpPr>
        <p:grpSpPr>
          <a:xfrm>
            <a:off x="9105900" y="1657350"/>
            <a:ext cx="3088004" cy="1104900"/>
            <a:chOff x="9105900" y="1657350"/>
            <a:chExt cx="3088004" cy="1104900"/>
          </a:xfrm>
          <a:effectLst>
            <a:outerShdw blurRad="133350" dist="38100" dir="10799140" algn="tl" rotWithShape="0">
              <a:srgbClr val="12304A">
                <a:alpha val="12000"/>
              </a:srgbClr>
            </a:outerShdw>
          </a:effectLst>
        </p:grpSpPr>
        <p:sp>
          <p:nvSpPr>
            <p:cNvPr id="21" name="Freeform 21"/>
            <p:cNvSpPr/>
            <p:nvPr/>
          </p:nvSpPr>
          <p:spPr>
            <a:xfrm>
              <a:off x="9105900" y="1657350"/>
              <a:ext cx="2552700" cy="1104900"/>
            </a:xfrm>
            <a:custGeom>
              <a:avLst/>
              <a:gdLst/>
              <a:ahLst/>
              <a:cxnLst/>
              <a:rect l="l" t="t" r="r" b="b"/>
              <a:pathLst>
                <a:path w="2552700" h="1104900">
                  <a:moveTo>
                    <a:pt x="133350" y="0"/>
                  </a:moveTo>
                  <a:lnTo>
                    <a:pt x="2419350" y="0"/>
                  </a:lnTo>
                  <a:cubicBezTo>
                    <a:pt x="2492997" y="0"/>
                    <a:pt x="2552700" y="59703"/>
                    <a:pt x="2552700" y="133350"/>
                  </a:cubicBezTo>
                  <a:lnTo>
                    <a:pt x="2552700" y="971550"/>
                  </a:lnTo>
                  <a:cubicBezTo>
                    <a:pt x="2552700" y="1045197"/>
                    <a:pt x="2492997" y="1104900"/>
                    <a:pt x="2419350" y="1104900"/>
                  </a:cubicBezTo>
                  <a:lnTo>
                    <a:pt x="133350" y="1104900"/>
                  </a:lnTo>
                  <a:cubicBezTo>
                    <a:pt x="59703" y="1104900"/>
                    <a:pt x="0" y="1045197"/>
                    <a:pt x="0" y="971550"/>
                  </a:cubicBezTo>
                  <a:lnTo>
                    <a:pt x="0" y="133350"/>
                  </a:lnTo>
                  <a:cubicBezTo>
                    <a:pt x="0" y="59703"/>
                    <a:pt x="59703" y="0"/>
                    <a:pt x="133350" y="0"/>
                  </a:cubicBezTo>
                  <a:close/>
                </a:path>
              </a:pathLst>
            </a:custGeom>
            <a:solidFill>
              <a:srgbClr val="FFFFFF"/>
            </a:solidFill>
            <a:ln>
              <a:noFill/>
            </a:ln>
            <a:effectLst>
              <a:outerShdw blurRad="133350" dist="38100" dir="10799140" algn="tl" rotWithShape="0">
                <a:srgbClr val="12304A">
                  <a:alpha val="12000"/>
                </a:srgbClr>
              </a:outerShdw>
            </a:effectLst>
          </p:spPr>
        </p:sp>
        <p:sp>
          <p:nvSpPr>
            <p:cNvPr id="22" name="Freeform 22"/>
            <p:cNvSpPr/>
            <p:nvPr/>
          </p:nvSpPr>
          <p:spPr>
            <a:xfrm>
              <a:off x="9378553" y="1905000"/>
              <a:ext cx="350044" cy="400050"/>
            </a:xfrm>
            <a:custGeom>
              <a:avLst/>
              <a:gdLst/>
              <a:ahLst/>
              <a:cxnLst/>
              <a:rect l="l" t="t" r="r" b="b"/>
              <a:pathLst>
                <a:path w="350044" h="400050">
                  <a:moveTo>
                    <a:pt x="175022" y="400050"/>
                  </a:moveTo>
                  <a:lnTo>
                    <a:pt x="83763" y="334864"/>
                  </a:lnTo>
                  <a:cubicBezTo>
                    <a:pt x="31197" y="297317"/>
                    <a:pt x="0" y="236696"/>
                    <a:pt x="0" y="172098"/>
                  </a:cubicBezTo>
                  <a:lnTo>
                    <a:pt x="0" y="75009"/>
                  </a:lnTo>
                  <a:lnTo>
                    <a:pt x="175022" y="0"/>
                  </a:lnTo>
                  <a:lnTo>
                    <a:pt x="350044" y="75009"/>
                  </a:lnTo>
                  <a:lnTo>
                    <a:pt x="350044" y="172098"/>
                  </a:lnTo>
                  <a:cubicBezTo>
                    <a:pt x="350044" y="236696"/>
                    <a:pt x="318847" y="297317"/>
                    <a:pt x="266281" y="334864"/>
                  </a:cubicBezTo>
                  <a:lnTo>
                    <a:pt x="175022" y="400050"/>
                  </a:lnTo>
                  <a:close/>
                  <a:moveTo>
                    <a:pt x="280213" y="142696"/>
                  </a:moveTo>
                  <a:lnTo>
                    <a:pt x="244853" y="107336"/>
                  </a:lnTo>
                  <a:lnTo>
                    <a:pt x="150019" y="202170"/>
                  </a:lnTo>
                  <a:lnTo>
                    <a:pt x="105191" y="157342"/>
                  </a:lnTo>
                  <a:lnTo>
                    <a:pt x="69831" y="192702"/>
                  </a:lnTo>
                  <a:lnTo>
                    <a:pt x="150019" y="272889"/>
                  </a:lnTo>
                  <a:lnTo>
                    <a:pt x="280213" y="142696"/>
                  </a:lnTo>
                  <a:close/>
                </a:path>
              </a:pathLst>
            </a:custGeom>
            <a:solidFill>
              <a:srgbClr val="17A673"/>
            </a:solidFill>
            <a:ln>
              <a:noFill/>
            </a:ln>
            <a:effectLst>
              <a:outerShdw blurRad="133350" dist="38100" dir="10799140" algn="tl" rotWithShape="0">
                <a:srgbClr val="12304A">
                  <a:alpha val="12000"/>
                </a:srgbClr>
              </a:outerShdw>
            </a:effectLst>
          </p:spPr>
        </p:sp>
        <p:sp>
          <p:nvSpPr>
            <p:cNvPr id="23" name="TextBox 23"/>
            <p:cNvSpPr txBox="1"/>
            <p:nvPr/>
          </p:nvSpPr>
          <p:spPr>
            <a:xfrm>
              <a:off x="9888855" y="1949768"/>
              <a:ext cx="1183284" cy="27432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l"/>
              <a:r>
                <a:rPr lang="zh-CN" sz="1350" b="1" dirty="0">
                  <a:solidFill>
                    <a:srgbClr val="12304A"/>
                  </a:solidFill>
                  <a:latin typeface="Arial"/>
                  <a:ea typeface="Microsoft YaHei"/>
                  <a:cs typeface="Arial"/>
                </a:rPr>
                <a:t>Trust holds</a:t>
              </a:r>
            </a:p>
          </p:txBody>
        </p:sp>
        <p:sp>
          <p:nvSpPr>
            <p:cNvPr id="24" name="TextBox 24"/>
            <p:cNvSpPr txBox="1"/>
            <p:nvPr/>
          </p:nvSpPr>
          <p:spPr>
            <a:xfrm>
              <a:off x="9339262" y="2278856"/>
              <a:ext cx="2854642" cy="22860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l"/>
              <a:r>
                <a:rPr lang="zh-CN" sz="1125" dirty="0">
                  <a:solidFill>
                    <a:srgbClr val="5E6B75"/>
                  </a:solidFill>
                  <a:latin typeface="Calibri"/>
                  <a:ea typeface="Microsoft YaHei"/>
                  <a:cs typeface="Calibri"/>
                </a:rPr>
                <a:t>No repeated hidden-pricing concern</a:t>
              </a:r>
            </a:p>
          </p:txBody>
        </p:sp>
      </p:grpSp>
      <p:sp>
        <p:nvSpPr>
          <p:cNvPr id="26" name="TextBox 26"/>
          <p:cNvSpPr txBox="1"/>
          <p:nvPr/>
        </p:nvSpPr>
        <p:spPr>
          <a:xfrm>
            <a:off x="516255" y="3073718"/>
            <a:ext cx="2052792" cy="274320"/>
          </a:xfrm>
          <a:prstGeom prst="rect">
            <a:avLst/>
          </a:prstGeom>
          <a:noFill/>
          <a:ln>
            <a:noFill/>
          </a:ln>
        </p:spPr>
        <p:txBody>
          <a:bodyPr wrap="none" lIns="0" tIns="0" rIns="0" bIns="0" anchor="t" anchorCtr="0">
            <a:spAutoFit/>
          </a:bodyPr>
          <a:lstStyle/>
          <a:p>
            <a:pPr algn="l"/>
            <a:r>
              <a:rPr lang="zh-CN" sz="1350" b="1" dirty="0">
                <a:solidFill>
                  <a:srgbClr val="17212B"/>
                </a:solidFill>
                <a:latin typeface="Arial"/>
                <a:ea typeface="Microsoft YaHei"/>
                <a:cs typeface="Arial"/>
              </a:rPr>
              <a:t>VALIDATION ROADMAP</a:t>
            </a:r>
          </a:p>
        </p:txBody>
      </p:sp>
      <p:grpSp>
        <p:nvGrpSpPr>
          <p:cNvPr id="33" name="Group 33"/>
          <p:cNvGrpSpPr/>
          <p:nvPr/>
        </p:nvGrpSpPr>
        <p:grpSpPr>
          <a:xfrm>
            <a:off x="533400" y="3429000"/>
            <a:ext cx="3628263" cy="1714500"/>
            <a:chOff x="533400" y="3429000"/>
            <a:chExt cx="3628263" cy="1714500"/>
          </a:xfrm>
          <a:effectLst>
            <a:outerShdw blurRad="133350" dist="38100" dir="10799140" algn="tl" rotWithShape="0">
              <a:srgbClr val="12304A">
                <a:alpha val="12000"/>
              </a:srgbClr>
            </a:outerShdw>
          </a:effectLst>
        </p:grpSpPr>
        <p:sp>
          <p:nvSpPr>
            <p:cNvPr id="27" name="Polygon 27"/>
            <p:cNvSpPr/>
            <p:nvPr/>
          </p:nvSpPr>
          <p:spPr>
            <a:xfrm>
              <a:off x="533400" y="3429000"/>
              <a:ext cx="3619500" cy="1714500"/>
            </a:xfrm>
            <a:custGeom>
              <a:avLst/>
              <a:gdLst/>
              <a:ahLst/>
              <a:cxnLst/>
              <a:rect l="l" t="t" r="r" b="b"/>
              <a:pathLst>
                <a:path w="3619500" h="1714500">
                  <a:moveTo>
                    <a:pt x="0" y="0"/>
                  </a:moveTo>
                  <a:lnTo>
                    <a:pt x="3238500" y="0"/>
                  </a:lnTo>
                  <a:lnTo>
                    <a:pt x="3619500" y="857250"/>
                  </a:lnTo>
                  <a:lnTo>
                    <a:pt x="3238500" y="1714500"/>
                  </a:lnTo>
                  <a:lnTo>
                    <a:pt x="0" y="1714500"/>
                  </a:lnTo>
                  <a:close/>
                </a:path>
              </a:pathLst>
            </a:custGeom>
            <a:solidFill>
              <a:srgbClr val="12304A"/>
            </a:solidFill>
            <a:ln>
              <a:noFill/>
            </a:ln>
          </p:spPr>
        </p:sp>
        <p:sp>
          <p:nvSpPr>
            <p:cNvPr id="28" name="TextBox 28"/>
            <p:cNvSpPr txBox="1"/>
            <p:nvPr/>
          </p:nvSpPr>
          <p:spPr>
            <a:xfrm>
              <a:off x="882015" y="3677602"/>
              <a:ext cx="2095779" cy="21336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l"/>
              <a:r>
                <a:rPr lang="zh-CN" sz="1050" b="1" dirty="0">
                  <a:solidFill>
                    <a:srgbClr val="B7E43C"/>
                  </a:solidFill>
                  <a:latin typeface="Arial"/>
                  <a:ea typeface="Microsoft YaHei"/>
                  <a:cs typeface="Arial"/>
                </a:rPr>
                <a:t>01 • PROTOTYPE VALIDATION</a:t>
              </a:r>
            </a:p>
          </p:txBody>
        </p:sp>
        <p:sp>
          <p:nvSpPr>
            <p:cNvPr id="29" name="TextBox 29"/>
            <p:cNvSpPr txBox="1"/>
            <p:nvPr/>
          </p:nvSpPr>
          <p:spPr>
            <a:xfrm>
              <a:off x="871538" y="3912394"/>
              <a:ext cx="2678579" cy="38100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l"/>
              <a:r>
                <a:rPr lang="zh-CN" sz="1875" b="1" dirty="0">
                  <a:solidFill>
                    <a:srgbClr val="FFFFFF"/>
                  </a:solidFill>
                  <a:latin typeface="Arial"/>
                  <a:ea typeface="Microsoft YaHei"/>
                  <a:cs typeface="Arial"/>
                </a:rPr>
                <a:t>Prove the behavior</a:t>
              </a:r>
            </a:p>
          </p:txBody>
        </p:sp>
        <p:sp>
          <p:nvSpPr>
            <p:cNvPr id="30" name="TextBox 30"/>
            <p:cNvSpPr txBox="1"/>
            <p:nvPr/>
          </p:nvSpPr>
          <p:spPr>
            <a:xfrm>
              <a:off x="880110" y="4309110"/>
              <a:ext cx="2037207" cy="24384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l"/>
              <a:r>
                <a:rPr lang="zh-CN" sz="1200" dirty="0">
                  <a:solidFill>
                    <a:srgbClr val="DCE6E1"/>
                  </a:solidFill>
                  <a:latin typeface="Calibri"/>
                  <a:ea typeface="Microsoft YaHei"/>
                  <a:cs typeface="Calibri"/>
                </a:rPr>
                <a:t>13 players • 2 scenarios</a:t>
              </a:r>
            </a:p>
          </p:txBody>
        </p:sp>
        <p:sp>
          <p:nvSpPr>
            <p:cNvPr id="31" name="TextBox 31"/>
            <p:cNvSpPr txBox="1"/>
            <p:nvPr/>
          </p:nvSpPr>
          <p:spPr>
            <a:xfrm>
              <a:off x="880110" y="4556760"/>
              <a:ext cx="2431542" cy="24384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l"/>
              <a:r>
                <a:rPr lang="zh-CN" sz="1200" dirty="0">
                  <a:solidFill>
                    <a:srgbClr val="DCE6E1"/>
                  </a:solidFill>
                  <a:latin typeface="Calibri"/>
                  <a:ea typeface="Microsoft YaHei"/>
                  <a:cs typeface="Calibri"/>
                </a:rPr>
                <a:t>5 venue owners or managers</a:t>
              </a:r>
            </a:p>
          </p:txBody>
        </p:sp>
        <p:sp>
          <p:nvSpPr>
            <p:cNvPr id="32" name="TextBox 32"/>
            <p:cNvSpPr txBox="1"/>
            <p:nvPr/>
          </p:nvSpPr>
          <p:spPr>
            <a:xfrm>
              <a:off x="880110" y="4804410"/>
              <a:ext cx="3281553" cy="24384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l"/>
              <a:r>
                <a:rPr lang="zh-CN" sz="1200" dirty="0">
                  <a:solidFill>
                    <a:srgbClr val="DCE6E1"/>
                  </a:solidFill>
                  <a:latin typeface="Calibri"/>
                  <a:ea typeface="Microsoft YaHei"/>
                  <a:cs typeface="Calibri"/>
                </a:rPr>
                <a:t>Acceptance, speed, trust, guardrails</a:t>
              </a:r>
            </a:p>
          </p:txBody>
        </p:sp>
      </p:grpSp>
      <p:grpSp>
        <p:nvGrpSpPr>
          <p:cNvPr id="40" name="Group 40"/>
          <p:cNvGrpSpPr/>
          <p:nvPr/>
        </p:nvGrpSpPr>
        <p:grpSpPr>
          <a:xfrm>
            <a:off x="3943350" y="3429000"/>
            <a:ext cx="4019550" cy="1714500"/>
            <a:chOff x="3943350" y="3429000"/>
            <a:chExt cx="4019550" cy="1714500"/>
          </a:xfrm>
          <a:effectLst>
            <a:outerShdw blurRad="133350" dist="38100" dir="10799140" algn="tl" rotWithShape="0">
              <a:srgbClr val="12304A">
                <a:alpha val="12000"/>
              </a:srgbClr>
            </a:outerShdw>
          </a:effectLst>
        </p:grpSpPr>
        <p:sp>
          <p:nvSpPr>
            <p:cNvPr id="34" name="Polygon 34"/>
            <p:cNvSpPr/>
            <p:nvPr/>
          </p:nvSpPr>
          <p:spPr>
            <a:xfrm>
              <a:off x="3943350" y="3429000"/>
              <a:ext cx="4019550" cy="1714500"/>
            </a:xfrm>
            <a:custGeom>
              <a:avLst/>
              <a:gdLst/>
              <a:ahLst/>
              <a:cxnLst/>
              <a:rect l="l" t="t" r="r" b="b"/>
              <a:pathLst>
                <a:path w="4019550" h="1714500">
                  <a:moveTo>
                    <a:pt x="0" y="0"/>
                  </a:moveTo>
                  <a:lnTo>
                    <a:pt x="3638550" y="0"/>
                  </a:lnTo>
                  <a:lnTo>
                    <a:pt x="4019550" y="857250"/>
                  </a:lnTo>
                  <a:lnTo>
                    <a:pt x="3638550" y="1714500"/>
                  </a:lnTo>
                  <a:lnTo>
                    <a:pt x="0" y="1714500"/>
                  </a:lnTo>
                  <a:lnTo>
                    <a:pt x="381000" y="857250"/>
                  </a:lnTo>
                  <a:close/>
                </a:path>
              </a:pathLst>
            </a:custGeom>
            <a:solidFill>
              <a:srgbClr val="17A673"/>
            </a:solidFill>
            <a:ln>
              <a:noFill/>
            </a:ln>
          </p:spPr>
        </p:sp>
        <p:sp>
          <p:nvSpPr>
            <p:cNvPr id="35" name="TextBox 35"/>
            <p:cNvSpPr txBox="1"/>
            <p:nvPr/>
          </p:nvSpPr>
          <p:spPr>
            <a:xfrm>
              <a:off x="4501515" y="3677602"/>
              <a:ext cx="2313156" cy="21336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l"/>
              <a:r>
                <a:rPr lang="zh-CN" sz="1050" b="1" dirty="0">
                  <a:solidFill>
                    <a:srgbClr val="FFFFFF"/>
                  </a:solidFill>
                  <a:latin typeface="Arial"/>
                  <a:ea typeface="Microsoft YaHei"/>
                  <a:cs typeface="Arial"/>
                </a:rPr>
                <a:t>02 • CONTROLLED VENUE PILOT</a:t>
              </a:r>
            </a:p>
          </p:txBody>
        </p:sp>
        <p:sp>
          <p:nvSpPr>
            <p:cNvPr id="36" name="TextBox 36"/>
            <p:cNvSpPr txBox="1"/>
            <p:nvPr/>
          </p:nvSpPr>
          <p:spPr>
            <a:xfrm>
              <a:off x="4491038" y="3912394"/>
              <a:ext cx="3383042" cy="38100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l"/>
              <a:r>
                <a:rPr lang="zh-CN" sz="1875" b="1" dirty="0">
                  <a:solidFill>
                    <a:srgbClr val="FFFFFF"/>
                  </a:solidFill>
                  <a:latin typeface="Arial"/>
                  <a:ea typeface="Microsoft YaHei"/>
                  <a:cs typeface="Arial"/>
                </a:rPr>
                <a:t>Prove incremental value</a:t>
              </a:r>
            </a:p>
          </p:txBody>
        </p:sp>
        <p:sp>
          <p:nvSpPr>
            <p:cNvPr id="37" name="TextBox 37"/>
            <p:cNvSpPr txBox="1"/>
            <p:nvPr/>
          </p:nvSpPr>
          <p:spPr>
            <a:xfrm>
              <a:off x="4499610" y="4309110"/>
              <a:ext cx="3193923" cy="24384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l"/>
              <a:r>
                <a:rPr lang="zh-CN" sz="1200" dirty="0">
                  <a:solidFill>
                    <a:srgbClr val="FFFFFF"/>
                  </a:solidFill>
                  <a:latin typeface="Calibri"/>
                  <a:ea typeface="Microsoft YaHei"/>
                  <a:cs typeface="Calibri"/>
                </a:rPr>
                <a:t>5–10 venues • one dense neighborhood</a:t>
              </a:r>
            </a:p>
          </p:txBody>
        </p:sp>
        <p:sp>
          <p:nvSpPr>
            <p:cNvPr id="38" name="TextBox 38"/>
            <p:cNvSpPr txBox="1"/>
            <p:nvPr/>
          </p:nvSpPr>
          <p:spPr>
            <a:xfrm>
              <a:off x="4499610" y="4556760"/>
              <a:ext cx="2799588" cy="24384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l"/>
              <a:r>
                <a:rPr lang="zh-CN" sz="1200" dirty="0">
                  <a:solidFill>
                    <a:srgbClr val="FFFFFF"/>
                  </a:solidFill>
                  <a:latin typeface="Calibri"/>
                  <a:ea typeface="Microsoft YaHei"/>
                  <a:cs typeface="Calibri"/>
                </a:rPr>
                <a:t>Protected floors, periods, caps</a:t>
              </a:r>
            </a:p>
          </p:txBody>
        </p:sp>
        <p:sp>
          <p:nvSpPr>
            <p:cNvPr id="39" name="TextBox 39"/>
            <p:cNvSpPr txBox="1"/>
            <p:nvPr/>
          </p:nvSpPr>
          <p:spPr>
            <a:xfrm>
              <a:off x="4499610" y="4804410"/>
              <a:ext cx="3369183" cy="24384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l"/>
              <a:r>
                <a:rPr lang="zh-CN" sz="1200" dirty="0">
                  <a:solidFill>
                    <a:srgbClr val="FFFFFF"/>
                  </a:solidFill>
                  <a:latin typeface="Calibri"/>
                  <a:ea typeface="Microsoft YaHei"/>
                  <a:cs typeface="Calibri"/>
                </a:rPr>
                <a:t>Occupied hours, RevPACH, contribution</a:t>
              </a:r>
            </a:p>
          </p:txBody>
        </p:sp>
      </p:grpSp>
      <p:grpSp>
        <p:nvGrpSpPr>
          <p:cNvPr id="47" name="Group 47"/>
          <p:cNvGrpSpPr/>
          <p:nvPr/>
        </p:nvGrpSpPr>
        <p:grpSpPr>
          <a:xfrm>
            <a:off x="7753350" y="3429000"/>
            <a:ext cx="4110990" cy="1714500"/>
            <a:chOff x="7753350" y="3429000"/>
            <a:chExt cx="4110990" cy="1714500"/>
          </a:xfrm>
          <a:effectLst>
            <a:outerShdw blurRad="133350" dist="38100" dir="10799140" algn="tl" rotWithShape="0">
              <a:srgbClr val="12304A">
                <a:alpha val="12000"/>
              </a:srgbClr>
            </a:outerShdw>
          </a:effectLst>
        </p:grpSpPr>
        <p:sp>
          <p:nvSpPr>
            <p:cNvPr id="41" name="Polygon 41"/>
            <p:cNvSpPr/>
            <p:nvPr/>
          </p:nvSpPr>
          <p:spPr>
            <a:xfrm>
              <a:off x="7753350" y="3429000"/>
              <a:ext cx="3905250" cy="1714500"/>
            </a:xfrm>
            <a:custGeom>
              <a:avLst/>
              <a:gdLst/>
              <a:ahLst/>
              <a:cxnLst/>
              <a:rect l="l" t="t" r="r" b="b"/>
              <a:pathLst>
                <a:path w="3905250" h="1714500">
                  <a:moveTo>
                    <a:pt x="0" y="0"/>
                  </a:moveTo>
                  <a:lnTo>
                    <a:pt x="3524250" y="0"/>
                  </a:lnTo>
                  <a:lnTo>
                    <a:pt x="3905250" y="857250"/>
                  </a:lnTo>
                  <a:lnTo>
                    <a:pt x="3524250" y="1714500"/>
                  </a:lnTo>
                  <a:lnTo>
                    <a:pt x="0" y="1714500"/>
                  </a:lnTo>
                  <a:lnTo>
                    <a:pt x="381000" y="857250"/>
                  </a:lnTo>
                  <a:close/>
                </a:path>
              </a:pathLst>
            </a:custGeom>
            <a:solidFill>
              <a:srgbClr val="B7E43C"/>
            </a:solidFill>
            <a:ln>
              <a:noFill/>
            </a:ln>
          </p:spPr>
        </p:sp>
        <p:sp>
          <p:nvSpPr>
            <p:cNvPr id="42" name="TextBox 42"/>
            <p:cNvSpPr txBox="1"/>
            <p:nvPr/>
          </p:nvSpPr>
          <p:spPr>
            <a:xfrm>
              <a:off x="8330565" y="3677602"/>
              <a:ext cx="1918656" cy="21336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l"/>
              <a:r>
                <a:rPr lang="zh-CN" sz="1050" b="1" dirty="0">
                  <a:solidFill>
                    <a:srgbClr val="12304A"/>
                  </a:solidFill>
                  <a:latin typeface="Arial"/>
                  <a:ea typeface="Microsoft YaHei"/>
                  <a:cs typeface="Arial"/>
                </a:rPr>
                <a:t>03 • SCALABLE PLATFORM</a:t>
              </a:r>
            </a:p>
          </p:txBody>
        </p:sp>
        <p:sp>
          <p:nvSpPr>
            <p:cNvPr id="43" name="TextBox 43"/>
            <p:cNvSpPr txBox="1"/>
            <p:nvPr/>
          </p:nvSpPr>
          <p:spPr>
            <a:xfrm>
              <a:off x="8320088" y="3912394"/>
              <a:ext cx="2477304" cy="38100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l"/>
              <a:r>
                <a:rPr lang="zh-CN" sz="1875" b="1" dirty="0">
                  <a:solidFill>
                    <a:srgbClr val="12304A"/>
                  </a:solidFill>
                  <a:latin typeface="Arial"/>
                  <a:ea typeface="Microsoft YaHei"/>
                  <a:cs typeface="Arial"/>
                </a:rPr>
                <a:t>Scale what works</a:t>
              </a:r>
            </a:p>
          </p:txBody>
        </p:sp>
        <p:sp>
          <p:nvSpPr>
            <p:cNvPr id="44" name="TextBox 44"/>
            <p:cNvSpPr txBox="1"/>
            <p:nvPr/>
          </p:nvSpPr>
          <p:spPr>
            <a:xfrm>
              <a:off x="8328660" y="4309110"/>
              <a:ext cx="2939796" cy="24384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l"/>
              <a:r>
                <a:rPr lang="zh-CN" sz="1200" dirty="0">
                  <a:solidFill>
                    <a:srgbClr val="12304A"/>
                  </a:solidFill>
                  <a:latin typeface="Calibri"/>
                  <a:ea typeface="Microsoft YaHei"/>
                  <a:cs typeface="Calibri"/>
                </a:rPr>
                <a:t>Live inventory and owner controls</a:t>
              </a:r>
            </a:p>
          </p:txBody>
        </p:sp>
        <p:sp>
          <p:nvSpPr>
            <p:cNvPr id="45" name="TextBox 45"/>
            <p:cNvSpPr txBox="1"/>
            <p:nvPr/>
          </p:nvSpPr>
          <p:spPr>
            <a:xfrm>
              <a:off x="8328660" y="4556760"/>
              <a:ext cx="2738247" cy="24384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l"/>
              <a:r>
                <a:rPr lang="zh-CN" sz="1200" dirty="0">
                  <a:solidFill>
                    <a:srgbClr val="12304A"/>
                  </a:solidFill>
                  <a:latin typeface="Calibri"/>
                  <a:ea typeface="Microsoft YaHei"/>
                  <a:cs typeface="Calibri"/>
                </a:rPr>
                <a:t>Group coordination and payment</a:t>
              </a:r>
            </a:p>
          </p:txBody>
        </p:sp>
        <p:sp>
          <p:nvSpPr>
            <p:cNvPr id="46" name="TextBox 46"/>
            <p:cNvSpPr txBox="1"/>
            <p:nvPr/>
          </p:nvSpPr>
          <p:spPr>
            <a:xfrm>
              <a:off x="8328660" y="4804410"/>
              <a:ext cx="3535680" cy="243840"/>
            </a:xfrm>
            <a:prstGeom prst="rect">
              <a:avLst/>
            </a:prstGeom>
            <a:noFill/>
            <a:ln>
              <a:noFill/>
            </a:ln>
            <a:effectLst>
              <a:outerShdw blurRad="133350" dist="38100" dir="10799140" algn="tl" rotWithShape="0">
                <a:srgbClr val="12304A">
                  <a:alpha val="12000"/>
                </a:srgbClr>
              </a:outerShdw>
            </a:effectLst>
          </p:spPr>
          <p:txBody>
            <a:bodyPr wrap="none" lIns="0" tIns="0" rIns="0" bIns="0" anchor="t" anchorCtr="0">
              <a:spAutoFit/>
            </a:bodyPr>
            <a:lstStyle/>
            <a:p>
              <a:pPr algn="l"/>
              <a:r>
                <a:rPr lang="zh-CN" sz="1200" dirty="0">
                  <a:solidFill>
                    <a:srgbClr val="12304A"/>
                  </a:solidFill>
                  <a:latin typeface="Calibri"/>
                  <a:ea typeface="Microsoft YaHei"/>
                  <a:cs typeface="Calibri"/>
                </a:rPr>
                <a:t>Data-led recommendations and campaigns</a:t>
              </a:r>
            </a:p>
          </p:txBody>
        </p:sp>
      </p:grpSp>
      <p:grpSp>
        <p:nvGrpSpPr>
          <p:cNvPr id="55" name="Group 55"/>
          <p:cNvGrpSpPr/>
          <p:nvPr/>
        </p:nvGrpSpPr>
        <p:grpSpPr>
          <a:xfrm>
            <a:off x="1428750" y="5524500"/>
            <a:ext cx="9985606" cy="597694"/>
            <a:chOff x="1428750" y="5524500"/>
            <a:chExt cx="9985606" cy="597694"/>
          </a:xfrm>
        </p:grpSpPr>
        <p:sp>
          <p:nvSpPr>
            <p:cNvPr id="48" name="Freeform 48"/>
            <p:cNvSpPr/>
            <p:nvPr/>
          </p:nvSpPr>
          <p:spPr>
            <a:xfrm>
              <a:off x="1428750" y="5524500"/>
              <a:ext cx="9334500" cy="590550"/>
            </a:xfrm>
            <a:custGeom>
              <a:avLst/>
              <a:gdLst/>
              <a:ahLst/>
              <a:cxnLst/>
              <a:rect l="l" t="t" r="r" b="b"/>
              <a:pathLst>
                <a:path w="9334500" h="590550">
                  <a:moveTo>
                    <a:pt x="133350" y="0"/>
                  </a:moveTo>
                  <a:lnTo>
                    <a:pt x="9201150" y="0"/>
                  </a:lnTo>
                  <a:cubicBezTo>
                    <a:pt x="9274797" y="0"/>
                    <a:pt x="9334500" y="59703"/>
                    <a:pt x="9334500" y="133350"/>
                  </a:cubicBezTo>
                  <a:lnTo>
                    <a:pt x="9334500" y="457200"/>
                  </a:lnTo>
                  <a:cubicBezTo>
                    <a:pt x="9334500" y="530847"/>
                    <a:pt x="9274797" y="590550"/>
                    <a:pt x="9201150" y="590550"/>
                  </a:cubicBezTo>
                  <a:lnTo>
                    <a:pt x="133350" y="590550"/>
                  </a:lnTo>
                  <a:cubicBezTo>
                    <a:pt x="59703" y="590550"/>
                    <a:pt x="0" y="530847"/>
                    <a:pt x="0" y="457200"/>
                  </a:cubicBezTo>
                  <a:lnTo>
                    <a:pt x="0" y="133350"/>
                  </a:lnTo>
                  <a:cubicBezTo>
                    <a:pt x="0" y="59703"/>
                    <a:pt x="59703" y="0"/>
                    <a:pt x="133350" y="0"/>
                  </a:cubicBezTo>
                  <a:close/>
                </a:path>
              </a:pathLst>
            </a:custGeom>
            <a:solidFill>
              <a:srgbClr val="FFFFFF"/>
            </a:solidFill>
            <a:ln w="19050">
              <a:solidFill>
                <a:srgbClr val="17A673"/>
              </a:solidFill>
            </a:ln>
          </p:spPr>
        </p:sp>
        <p:grpSp>
          <p:nvGrpSpPr>
            <p:cNvPr id="52" name="Group 52"/>
            <p:cNvGrpSpPr/>
            <p:nvPr/>
          </p:nvGrpSpPr>
          <p:grpSpPr>
            <a:xfrm>
              <a:off x="1695450" y="5667375"/>
              <a:ext cx="304800" cy="304800"/>
              <a:chOff x="1695450" y="5667375"/>
              <a:chExt cx="304800" cy="304800"/>
            </a:xfrm>
          </p:grpSpPr>
          <p:sp>
            <p:nvSpPr>
              <p:cNvPr id="49" name="Freeform 49"/>
              <p:cNvSpPr/>
              <p:nvPr/>
            </p:nvSpPr>
            <p:spPr>
              <a:xfrm>
                <a:off x="1695450" y="5667375"/>
                <a:ext cx="304800" cy="304800"/>
              </a:xfrm>
              <a:custGeom>
                <a:avLst/>
                <a:gdLst/>
                <a:ahLst/>
                <a:cxnLst/>
                <a:rect l="l" t="t" r="r" b="b"/>
                <a:pathLst>
                  <a:path w="304800" h="304800">
                    <a:moveTo>
                      <a:pt x="155624" y="38145"/>
                    </a:moveTo>
                    <a:cubicBezTo>
                      <a:pt x="154553" y="38115"/>
                      <a:pt x="153478" y="38100"/>
                      <a:pt x="152400" y="38100"/>
                    </a:cubicBezTo>
                    <a:cubicBezTo>
                      <a:pt x="89274" y="38100"/>
                      <a:pt x="38100" y="89274"/>
                      <a:pt x="38100" y="152400"/>
                    </a:cubicBezTo>
                    <a:cubicBezTo>
                      <a:pt x="38100" y="215526"/>
                      <a:pt x="89274" y="266700"/>
                      <a:pt x="152400" y="266700"/>
                    </a:cubicBezTo>
                    <a:cubicBezTo>
                      <a:pt x="215526" y="266700"/>
                      <a:pt x="266700" y="215526"/>
                      <a:pt x="266700" y="152400"/>
                    </a:cubicBezTo>
                    <a:cubicBezTo>
                      <a:pt x="266700" y="151322"/>
                      <a:pt x="266685" y="150247"/>
                      <a:pt x="266656" y="149176"/>
                    </a:cubicBezTo>
                    <a:lnTo>
                      <a:pt x="300308" y="115523"/>
                    </a:lnTo>
                    <a:cubicBezTo>
                      <a:pt x="303242" y="127332"/>
                      <a:pt x="304800" y="139684"/>
                      <a:pt x="304800" y="152400"/>
                    </a:cubicBezTo>
                    <a:cubicBezTo>
                      <a:pt x="304800" y="236569"/>
                      <a:pt x="236569" y="304800"/>
                      <a:pt x="152400" y="304800"/>
                    </a:cubicBezTo>
                    <a:cubicBezTo>
                      <a:pt x="68232" y="304800"/>
                      <a:pt x="0" y="236569"/>
                      <a:pt x="0" y="152400"/>
                    </a:cubicBezTo>
                    <a:cubicBezTo>
                      <a:pt x="0" y="68232"/>
                      <a:pt x="68232" y="0"/>
                      <a:pt x="152400" y="0"/>
                    </a:cubicBezTo>
                    <a:cubicBezTo>
                      <a:pt x="165116" y="0"/>
                      <a:pt x="177468" y="1557"/>
                      <a:pt x="189277" y="4492"/>
                    </a:cubicBezTo>
                    <a:lnTo>
                      <a:pt x="155624" y="38145"/>
                    </a:lnTo>
                    <a:close/>
                  </a:path>
                </a:pathLst>
              </a:custGeom>
              <a:solidFill>
                <a:srgbClr val="17A673"/>
              </a:solidFill>
              <a:ln>
                <a:noFill/>
              </a:ln>
            </p:spPr>
          </p:sp>
          <p:sp>
            <p:nvSpPr>
              <p:cNvPr id="50" name="Freeform 50"/>
              <p:cNvSpPr/>
              <p:nvPr/>
            </p:nvSpPr>
            <p:spPr>
              <a:xfrm>
                <a:off x="1771650" y="5745975"/>
                <a:ext cx="150000" cy="150000"/>
              </a:xfrm>
              <a:custGeom>
                <a:avLst/>
                <a:gdLst/>
                <a:ahLst/>
                <a:cxnLst/>
                <a:rect l="l" t="t" r="r" b="b"/>
                <a:pathLst>
                  <a:path w="150000" h="150000">
                    <a:moveTo>
                      <a:pt x="0" y="73799"/>
                    </a:moveTo>
                    <a:cubicBezTo>
                      <a:pt x="0" y="38293"/>
                      <a:pt x="24284" y="8459"/>
                      <a:pt x="57150" y="0"/>
                    </a:cubicBezTo>
                    <a:lnTo>
                      <a:pt x="57150" y="40796"/>
                    </a:lnTo>
                    <a:cubicBezTo>
                      <a:pt x="45762" y="47384"/>
                      <a:pt x="38100" y="59697"/>
                      <a:pt x="38100" y="73799"/>
                    </a:cubicBezTo>
                    <a:cubicBezTo>
                      <a:pt x="38100" y="94841"/>
                      <a:pt x="55158" y="111899"/>
                      <a:pt x="76200" y="111899"/>
                    </a:cubicBezTo>
                    <a:cubicBezTo>
                      <a:pt x="90302" y="111899"/>
                      <a:pt x="102615" y="104237"/>
                      <a:pt x="109203" y="92849"/>
                    </a:cubicBezTo>
                    <a:lnTo>
                      <a:pt x="150000" y="92849"/>
                    </a:lnTo>
                    <a:cubicBezTo>
                      <a:pt x="141540" y="125715"/>
                      <a:pt x="111706" y="150000"/>
                      <a:pt x="76200" y="150000"/>
                    </a:cubicBezTo>
                    <a:cubicBezTo>
                      <a:pt x="34116" y="150000"/>
                      <a:pt x="0" y="115883"/>
                      <a:pt x="0" y="73799"/>
                    </a:cubicBezTo>
                    <a:close/>
                  </a:path>
                </a:pathLst>
              </a:custGeom>
              <a:solidFill>
                <a:srgbClr val="17A673"/>
              </a:solidFill>
              <a:ln>
                <a:noFill/>
              </a:ln>
            </p:spPr>
          </p:sp>
          <p:sp>
            <p:nvSpPr>
              <p:cNvPr id="51" name="Freeform 51"/>
              <p:cNvSpPr/>
              <p:nvPr/>
            </p:nvSpPr>
            <p:spPr>
              <a:xfrm>
                <a:off x="1843905" y="5667375"/>
                <a:ext cx="156345" cy="156345"/>
              </a:xfrm>
              <a:custGeom>
                <a:avLst/>
                <a:gdLst/>
                <a:ahLst/>
                <a:cxnLst/>
                <a:rect l="l" t="t" r="r" b="b"/>
                <a:pathLst>
                  <a:path w="156345" h="156345">
                    <a:moveTo>
                      <a:pt x="118245" y="38100"/>
                    </a:moveTo>
                    <a:lnTo>
                      <a:pt x="99195" y="0"/>
                    </a:lnTo>
                    <a:lnTo>
                      <a:pt x="42045" y="57150"/>
                    </a:lnTo>
                    <a:lnTo>
                      <a:pt x="42045" y="87359"/>
                    </a:lnTo>
                    <a:lnTo>
                      <a:pt x="0" y="129405"/>
                    </a:lnTo>
                    <a:lnTo>
                      <a:pt x="26941" y="156345"/>
                    </a:lnTo>
                    <a:lnTo>
                      <a:pt x="68986" y="114300"/>
                    </a:lnTo>
                    <a:lnTo>
                      <a:pt x="99195" y="114300"/>
                    </a:lnTo>
                    <a:lnTo>
                      <a:pt x="156345" y="57150"/>
                    </a:lnTo>
                    <a:lnTo>
                      <a:pt x="118245" y="38100"/>
                    </a:lnTo>
                    <a:close/>
                  </a:path>
                </a:pathLst>
              </a:custGeom>
              <a:solidFill>
                <a:srgbClr val="17A673"/>
              </a:solidFill>
              <a:ln>
                <a:noFill/>
              </a:ln>
            </p:spPr>
          </p:sp>
        </p:grpSp>
        <p:sp>
          <p:nvSpPr>
            <p:cNvPr id="53" name="TextBox 53"/>
            <p:cNvSpPr txBox="1"/>
            <p:nvPr/>
          </p:nvSpPr>
          <p:spPr>
            <a:xfrm>
              <a:off x="2135505" y="5635942"/>
              <a:ext cx="2042441" cy="274320"/>
            </a:xfrm>
            <a:prstGeom prst="rect">
              <a:avLst/>
            </a:prstGeom>
            <a:noFill/>
            <a:ln>
              <a:noFill/>
            </a:ln>
          </p:spPr>
          <p:txBody>
            <a:bodyPr wrap="none" lIns="0" tIns="0" rIns="0" bIns="0" anchor="t" anchorCtr="0">
              <a:spAutoFit/>
            </a:bodyPr>
            <a:lstStyle/>
            <a:p>
              <a:pPr algn="l"/>
              <a:r>
                <a:rPr lang="zh-CN" sz="1350" b="1" dirty="0">
                  <a:solidFill>
                    <a:srgbClr val="12304A"/>
                  </a:solidFill>
                  <a:latin typeface="Arial"/>
                  <a:ea typeface="Microsoft YaHei"/>
                  <a:cs typeface="Arial"/>
                </a:rPr>
                <a:t>Decision requested:</a:t>
              </a:r>
            </a:p>
          </p:txBody>
        </p:sp>
        <p:sp>
          <p:nvSpPr>
            <p:cNvPr id="54" name="TextBox 54"/>
            <p:cNvSpPr txBox="1"/>
            <p:nvPr/>
          </p:nvSpPr>
          <p:spPr>
            <a:xfrm>
              <a:off x="2136458" y="5863114"/>
              <a:ext cx="9277898" cy="259080"/>
            </a:xfrm>
            <a:prstGeom prst="rect">
              <a:avLst/>
            </a:prstGeom>
            <a:noFill/>
            <a:ln>
              <a:noFill/>
            </a:ln>
          </p:spPr>
          <p:txBody>
            <a:bodyPr wrap="none" lIns="0" tIns="0" rIns="0" bIns="0" anchor="t" anchorCtr="0">
              <a:spAutoFit/>
            </a:bodyPr>
            <a:lstStyle/>
            <a:p>
              <a:pPr algn="l"/>
              <a:r>
                <a:rPr lang="zh-CN" sz="1275" dirty="0">
                  <a:solidFill>
                    <a:srgbClr val="17212B"/>
                  </a:solidFill>
                  <a:latin typeface="Calibri"/>
                  <a:ea typeface="Microsoft YaHei"/>
                  <a:cs typeface="Calibri"/>
                </a:rPr>
                <a:t>Fund the clickable prototype and recruit validation participants before committing to platform build.</a:t>
              </a:r>
            </a:p>
          </p:txBody>
        </p:sp>
      </p:grpSp>
      <p:grpSp>
        <p:nvGrpSpPr>
          <p:cNvPr id="58" name="Group 58"/>
          <p:cNvGrpSpPr/>
          <p:nvPr/>
        </p:nvGrpSpPr>
        <p:grpSpPr>
          <a:xfrm>
            <a:off x="522922" y="6483191"/>
            <a:ext cx="11146155" cy="167640"/>
            <a:chOff x="522922" y="6483191"/>
            <a:chExt cx="11146155" cy="167640"/>
          </a:xfrm>
        </p:grpSpPr>
        <p:sp>
          <p:nvSpPr>
            <p:cNvPr id="56" name="TextBox 56"/>
            <p:cNvSpPr txBox="1"/>
            <p:nvPr/>
          </p:nvSpPr>
          <p:spPr>
            <a:xfrm>
              <a:off x="522922" y="6483191"/>
              <a:ext cx="6467237" cy="167640"/>
            </a:xfrm>
            <a:prstGeom prst="rect">
              <a:avLst/>
            </a:prstGeom>
            <a:noFill/>
            <a:ln>
              <a:noFill/>
            </a:ln>
          </p:spPr>
          <p:txBody>
            <a:bodyPr wrap="none" lIns="0" tIns="0" rIns="0" bIns="0" anchor="t" anchorCtr="0">
              <a:spAutoFit/>
            </a:bodyPr>
            <a:lstStyle/>
            <a:p>
              <a:pPr algn="l"/>
              <a:r>
                <a:rPr lang="zh-CN" sz="825" dirty="0">
                  <a:solidFill>
                    <a:srgbClr val="89949C"/>
                  </a:solidFill>
                  <a:latin typeface="Calibri"/>
                  <a:ea typeface="Microsoft YaHei"/>
                  <a:cs typeface="Calibri"/>
                </a:rPr>
                <a:t>Track incremental occupied court-hours, revenue per available court-hour, contribution, and repeat booking</a:t>
              </a:r>
            </a:p>
          </p:txBody>
        </p:sp>
        <p:sp>
          <p:nvSpPr>
            <p:cNvPr id="57" name="TextBox 57"/>
            <p:cNvSpPr txBox="1"/>
            <p:nvPr/>
          </p:nvSpPr>
          <p:spPr>
            <a:xfrm>
              <a:off x="11515582" y="6483191"/>
              <a:ext cx="153495" cy="167640"/>
            </a:xfrm>
            <a:prstGeom prst="rect">
              <a:avLst/>
            </a:prstGeom>
            <a:noFill/>
            <a:ln>
              <a:noFill/>
            </a:ln>
          </p:spPr>
          <p:txBody>
            <a:bodyPr wrap="none" lIns="0" tIns="0" rIns="0" bIns="0" anchor="t" anchorCtr="0">
              <a:spAutoFit/>
            </a:bodyPr>
            <a:lstStyle/>
            <a:p>
              <a:pPr algn="r"/>
              <a:r>
                <a:rPr lang="zh-CN" sz="825" dirty="0">
                  <a:solidFill>
                    <a:srgbClr val="89949C"/>
                  </a:solidFill>
                  <a:latin typeface="Arial"/>
                  <a:ea typeface="Microsoft YaHei"/>
                  <a:cs typeface="Arial"/>
                </a:rPr>
                <a:t>08</a:t>
              </a:r>
            </a:p>
          </p:txBody>
        </p:sp>
      </p:grpSp>
    </p:spTree>
  </p:cSld>
  <p:clrMapOvr>
    <a:masterClrMapping/>
  </p:clrMapOvr>
  <p:transition 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