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8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FD5FE03-BA92-4D09-BBA6-0D9AE533098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1ABFE0-B782-4AB6-B924-1504D647DC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FC6A44-44E0-4BB0-9F4A-1D0A1073CE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407E6D-BAB2-4AF6-8D2E-81A6B86236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8C5FA8-D39C-4A54-BCD1-253E9EC136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9C004-BB12-4DC1-8A72-A142F2F0D03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654B14-7FF2-4FDE-A03D-1AB9DC8407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45577-8D97-49A2-9669-D6D843D96A0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9F4EDC-6B38-4271-BED9-FC830F17D4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485560" y="0"/>
            <a:ext cx="3702960" cy="685764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823960" y="640080"/>
            <a:ext cx="360" cy="557784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1567160" y="640080"/>
            <a:ext cx="360" cy="557784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823960" y="640080"/>
            <a:ext cx="2743200" cy="36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823960" y="6217920"/>
            <a:ext cx="2743200" cy="36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0195560" y="640080"/>
            <a:ext cx="360" cy="557784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823960" y="3429000"/>
            <a:ext cx="2743200" cy="36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8823960" y="2011680"/>
            <a:ext cx="2743200" cy="36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8823960" y="4846320"/>
            <a:ext cx="2743200" cy="360"/>
          </a:xfrm>
          <a:prstGeom prst="line">
            <a:avLst/>
          </a:prstGeom>
          <a:ln w="1524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67000" y="502920"/>
            <a:ext cx="144432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40080" y="53964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PROTOTYPE PITCH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67000" y="1170360"/>
            <a:ext cx="6949080" cy="17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Fill Every</a:t>
            </a:r>
            <a:endParaRPr b="0" lang="en-US" sz="4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Viable Court-Hour</a:t>
            </a:r>
            <a:endParaRPr b="0" lang="en-US" sz="4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67000" y="3182040"/>
            <a:ext cx="6171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ce7e1"/>
                </a:solidFill>
                <a:effectLst/>
                <a:uFillTx/>
                <a:latin typeface="Aptos"/>
                <a:ea typeface="Aptos"/>
              </a:rPr>
              <a:t>Maximize profitable occupancy by matching flexible players with off-peak and last-minute inventory.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67000" y="468180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51.79%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67000" y="515736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8c9c0"/>
                </a:solidFill>
                <a:effectLst/>
                <a:uFillTx/>
                <a:latin typeface="Aptos"/>
                <a:ea typeface="Aptos"/>
              </a:rPr>
              <a:t>baseline occupancy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2532960" y="468180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c7f05a"/>
                </a:solidFill>
                <a:effectLst/>
                <a:uFillTx/>
                <a:latin typeface="Georgia"/>
                <a:ea typeface="Georgia"/>
              </a:rPr>
              <a:t>1,920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2532960" y="515736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8c9c0"/>
                </a:solidFill>
                <a:effectLst/>
                <a:uFillTx/>
                <a:latin typeface="Aptos"/>
                <a:ea typeface="Aptos"/>
              </a:rPr>
              <a:t>unused off-peak hours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4498920" y="468180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 weeks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4498920" y="515736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8c9c0"/>
                </a:solidFill>
                <a:effectLst/>
                <a:uFillTx/>
                <a:latin typeface="Aptos"/>
                <a:ea typeface="Aptos"/>
              </a:rPr>
              <a:t>synthetic model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898848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932688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966528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1000368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1034172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1068012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11018520" y="107892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898848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932688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966528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1000368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1034172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1068012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11018520" y="158184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898848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932688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966528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1000368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1034172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1068012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1018520" y="208476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898848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932688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966528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1000368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>
            <a:off x="1034172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1068012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11018520" y="258768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898848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8"/>
          <p:cNvSpPr/>
          <p:nvPr/>
        </p:nvSpPr>
        <p:spPr>
          <a:xfrm>
            <a:off x="932688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966528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315e4c"/>
          </a:solidFill>
          <a:ln w="12700">
            <a:solidFill>
              <a:srgbClr val="315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0"/>
          <p:cNvSpPr/>
          <p:nvPr/>
        </p:nvSpPr>
        <p:spPr>
          <a:xfrm>
            <a:off x="1000368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6c9a74"/>
          </a:solidFill>
          <a:ln w="12700">
            <a:solidFill>
              <a:srgbClr val="6c9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1034172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2"/>
          <p:cNvSpPr/>
          <p:nvPr/>
        </p:nvSpPr>
        <p:spPr>
          <a:xfrm>
            <a:off x="1068012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3"/>
          <p:cNvSpPr/>
          <p:nvPr/>
        </p:nvSpPr>
        <p:spPr>
          <a:xfrm>
            <a:off x="11018520" y="3090600"/>
            <a:ext cx="282960" cy="438480"/>
          </a:xfrm>
          <a:prstGeom prst="roundRect">
            <a:avLst>
              <a:gd name="adj" fmla="val 12903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4"/>
          <p:cNvSpPr/>
          <p:nvPr/>
        </p:nvSpPr>
        <p:spPr>
          <a:xfrm>
            <a:off x="8979480" y="404172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Court demand, made visible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5"/>
          <p:cNvSpPr/>
          <p:nvPr/>
        </p:nvSpPr>
        <p:spPr>
          <a:xfrm>
            <a:off x="8979480" y="44805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8d1"/>
                </a:solidFill>
                <a:effectLst/>
                <a:uFillTx/>
                <a:latin typeface="Aptos"/>
                <a:ea typeface="Aptos"/>
              </a:rPr>
              <a:t>Protect peak pricing. Activate underused inventory.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6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c6d3cc"/>
                </a:solidFill>
                <a:effectLst/>
                <a:uFillTx/>
                <a:latin typeface="Aptos"/>
                <a:ea typeface="Aptos"/>
              </a:rPr>
              <a:t>Source: 01_design_thinking.md; synthetic occupancy model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7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Players Are Searching While Courts Sit Empty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Today’s booking experience fragments demand across chats, calls, screenshots and manual schedules.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67000" y="1965960"/>
            <a:ext cx="3657240" cy="404136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822960" y="2221920"/>
            <a:ext cx="1142640" cy="328680"/>
          </a:xfrm>
          <a:prstGeom prst="roundRect">
            <a:avLst>
              <a:gd name="adj" fmla="val 22222"/>
            </a:avLst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896040" y="2258640"/>
            <a:ext cx="996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PLAYER SIDE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822960" y="2761560"/>
            <a:ext cx="2285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High intent,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high friction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859680" y="3703320"/>
            <a:ext cx="297144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Message venues one by one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Compare screenshots and prices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Negotiate time with the group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Collect money and replace players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822960" y="548640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Demand exists, but it is hard to convert.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7973640" y="1965960"/>
            <a:ext cx="3657240" cy="4041360"/>
          </a:xfrm>
          <a:prstGeom prst="roundRect">
            <a:avLst>
              <a:gd name="adj" fmla="val 3000"/>
            </a:avLst>
          </a:prstGeom>
          <a:solidFill>
            <a:srgbClr val="103b2d"/>
          </a:solidFill>
          <a:ln w="10160">
            <a:solidFill>
              <a:srgbClr val="103b2d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8229600" y="2221920"/>
            <a:ext cx="114264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8302680" y="2258640"/>
            <a:ext cx="996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VENUE SIDE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8229600" y="2761560"/>
            <a:ext cx="23770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Perishable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inventory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8266320" y="3703320"/>
            <a:ext cx="288900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0e9e4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e0e9e4"/>
                </a:solidFill>
                <a:effectLst/>
                <a:uFillTx/>
                <a:latin typeface="Aptos"/>
                <a:ea typeface="Aptos"/>
              </a:rPr>
              <a:t>Schedules live in calls, chats and sheets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0e9e4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e0e9e4"/>
                </a:solidFill>
                <a:effectLst/>
                <a:uFillTx/>
                <a:latin typeface="Aptos"/>
                <a:ea typeface="Aptos"/>
              </a:rPr>
              <a:t>Peak hours sell; off-peak hours expire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0e9e4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e0e9e4"/>
                </a:solidFill>
                <a:effectLst/>
                <a:uFillTx/>
                <a:latin typeface="Aptos"/>
                <a:ea typeface="Aptos"/>
              </a:rPr>
              <a:t>Cancelled slots are hard to refill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0e9e4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e0e9e4"/>
                </a:solidFill>
                <a:effectLst/>
                <a:uFillTx/>
                <a:latin typeface="Aptos"/>
                <a:ea typeface="Aptos"/>
              </a:rPr>
              <a:t>Informal discounts are not measurable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8229600" y="54864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Supply exists, but it is hard to activate.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5"/>
          <p:cNvSpPr/>
          <p:nvPr/>
        </p:nvSpPr>
        <p:spPr>
          <a:xfrm>
            <a:off x="4526280" y="3611880"/>
            <a:ext cx="3072240" cy="360"/>
          </a:xfrm>
          <a:prstGeom prst="line">
            <a:avLst/>
          </a:prstGeom>
          <a:ln w="1778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6"/>
          <p:cNvSpPr/>
          <p:nvPr/>
        </p:nvSpPr>
        <p:spPr>
          <a:xfrm flipH="1">
            <a:off x="4526280" y="4407120"/>
            <a:ext cx="3072240" cy="360"/>
          </a:xfrm>
          <a:prstGeom prst="line">
            <a:avLst/>
          </a:prstGeom>
          <a:ln w="1778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4910400" y="3218760"/>
            <a:ext cx="2340360" cy="1572480"/>
          </a:xfrm>
          <a:prstGeom prst="ellipse">
            <a:avLst/>
          </a:prstGeom>
          <a:solidFill>
            <a:srgbClr val="f36d4a"/>
          </a:solidFill>
          <a:ln w="12700">
            <a:solidFill>
              <a:srgbClr val="f36d4a"/>
            </a:solidFill>
            <a:round/>
          </a:ln>
          <a:effectLst>
            <a:outerShdw algn="bl" blurRad="25560" dir="81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5203080" y="3602880"/>
            <a:ext cx="1755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MISSED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MATCH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7b857f"/>
                </a:solidFill>
                <a:effectLst/>
                <a:uFillTx/>
                <a:latin typeface="Aptos"/>
                <a:ea typeface="Aptos"/>
              </a:rPr>
              <a:t>Source: 01_design_thinking.md — Empathize &amp; current workarounds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Supply and Demand Fail to Meet at the Right Time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The missing layer coordinates schedule, location, price, quality and group readiness.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67000" y="1993320"/>
            <a:ext cx="3062880" cy="3547440"/>
          </a:xfrm>
          <a:prstGeom prst="roundRect">
            <a:avLst>
              <a:gd name="adj" fmla="val 3582"/>
            </a:avLst>
          </a:prstGeom>
          <a:solidFill>
            <a:srgbClr val="f5f1e7"/>
          </a:solidFill>
          <a:ln w="10160">
            <a:solidFill>
              <a:srgbClr val="d8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850320" y="2267640"/>
            <a:ext cx="1188360" cy="328680"/>
          </a:xfrm>
          <a:prstGeom prst="roundRect">
            <a:avLst>
              <a:gd name="adj" fmla="val 22222"/>
            </a:avLst>
          </a:prstGeom>
          <a:solidFill>
            <a:srgbClr val="f9d1c6"/>
          </a:solidFill>
          <a:ln w="12700">
            <a:solidFill>
              <a:srgbClr val="f9d1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23400" y="23043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PLAYER PAIN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859680" y="2853000"/>
            <a:ext cx="242280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Real-time availability is slow to find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Preferred peak slots are often full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Alternatives are hard to compare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Hidden fees weaken trust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The group may still fall apart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8558640" y="1993320"/>
            <a:ext cx="3062880" cy="3547440"/>
          </a:xfrm>
          <a:prstGeom prst="roundRect">
            <a:avLst>
              <a:gd name="adj" fmla="val 3582"/>
            </a:avLst>
          </a:prstGeom>
          <a:solidFill>
            <a:srgbClr val="e4eee8"/>
          </a:solidFill>
          <a:ln w="10160">
            <a:solidFill>
              <a:srgbClr val="d8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8842320" y="2267640"/>
            <a:ext cx="1188360" cy="328680"/>
          </a:xfrm>
          <a:prstGeom prst="roundRect">
            <a:avLst>
              <a:gd name="adj" fmla="val 22222"/>
            </a:avLst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8915400" y="23043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OWNER PAIN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8851320" y="2853000"/>
            <a:ext cx="241380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Off-peak inventory expires unsold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Inventory is fragmented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Demand data is unreliable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Blanket discounts cannibalize revenue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Incremental lift is hard to prove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3639240" y="3767040"/>
            <a:ext cx="1225080" cy="360"/>
          </a:xfrm>
          <a:prstGeom prst="line">
            <a:avLst/>
          </a:prstGeom>
          <a:ln w="2540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 flipH="1">
            <a:off x="7324200" y="3767040"/>
            <a:ext cx="1225440" cy="360"/>
          </a:xfrm>
          <a:prstGeom prst="line">
            <a:avLst/>
          </a:prstGeom>
          <a:ln w="2540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4700160" y="2487240"/>
            <a:ext cx="2788560" cy="2605680"/>
          </a:xfrm>
          <a:prstGeom prst="ellipse">
            <a:avLst/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4864680" y="3200400"/>
            <a:ext cx="2450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DEMAND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ORCHESTRATION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5010840" y="4206240"/>
            <a:ext cx="65808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5083920" y="424296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TIME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7"/>
          <p:cNvSpPr/>
          <p:nvPr/>
        </p:nvSpPr>
        <p:spPr>
          <a:xfrm>
            <a:off x="5751720" y="4206240"/>
            <a:ext cx="65808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5824800" y="424296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PLACE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6492240" y="4206240"/>
            <a:ext cx="65808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6565320" y="424296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VALUE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3319200" y="579744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trike="noStrike" u="none">
                <a:solidFill>
                  <a:srgbClr val="f36d4a"/>
                </a:solidFill>
                <a:effectLst/>
                <a:uFillTx/>
                <a:latin typeface="Georgia"/>
                <a:ea typeface="Georgia"/>
              </a:rPr>
              <a:t>Not a coupon app. A coordination layer for expiring inventory.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7b857f"/>
                </a:solidFill>
                <a:effectLst/>
                <a:uFillTx/>
                <a:latin typeface="Aptos"/>
                <a:ea typeface="Aptos"/>
              </a:rPr>
              <a:t>Source: 01_design_thinking.md — Define &amp; winning concept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3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Every Empty Court-Hour Is Revenue That Disappears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7e1dc"/>
                </a:solidFill>
                <a:effectLst/>
                <a:uFillTx/>
                <a:latin typeface="Aptos"/>
                <a:ea typeface="Aptos"/>
              </a:rPr>
              <a:t>Occupancy matters only when the bookings are incremental and contribution-positive.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94360" y="2103120"/>
            <a:ext cx="2121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4,480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94360" y="268848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8d5ce"/>
                </a:solidFill>
                <a:effectLst/>
                <a:uFillTx/>
                <a:latin typeface="Aptos"/>
                <a:ea typeface="Aptos"/>
              </a:rPr>
              <a:t>available court-hours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2990160" y="2103120"/>
            <a:ext cx="2121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c7f05a"/>
                </a:solidFill>
                <a:effectLst/>
                <a:uFillTx/>
                <a:latin typeface="Georgia"/>
                <a:ea typeface="Georgia"/>
              </a:rPr>
              <a:t>2,320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2990160" y="268848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8d5ce"/>
                </a:solidFill>
                <a:effectLst/>
                <a:uFillTx/>
                <a:latin typeface="Aptos"/>
                <a:ea typeface="Aptos"/>
              </a:rPr>
              <a:t>booked court-hours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385960" y="2103120"/>
            <a:ext cx="2121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36d4a"/>
                </a:solidFill>
                <a:effectLst/>
                <a:uFillTx/>
                <a:latin typeface="Georgia"/>
                <a:ea typeface="Georgia"/>
              </a:rPr>
              <a:t>1,920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385960" y="268848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8d5ce"/>
                </a:solidFill>
                <a:effectLst/>
                <a:uFillTx/>
                <a:latin typeface="Aptos"/>
                <a:ea typeface="Aptos"/>
              </a:rPr>
              <a:t>unused off-peak hours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1005840" y="5120640"/>
            <a:ext cx="5669280" cy="360"/>
          </a:xfrm>
          <a:prstGeom prst="line">
            <a:avLst/>
          </a:prstGeom>
          <a:ln w="12700">
            <a:solidFill>
              <a:srgbClr val="9fb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667440" y="504756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a9bbb1"/>
                </a:solidFill>
                <a:effectLst/>
                <a:uFillTx/>
                <a:latin typeface="Aptos"/>
                <a:ea typeface="Aptos"/>
              </a:rPr>
              <a:t>0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1005840" y="4784040"/>
            <a:ext cx="5669280" cy="360"/>
          </a:xfrm>
          <a:prstGeom prst="line">
            <a:avLst/>
          </a:prstGeom>
          <a:ln w="6985">
            <a:solidFill>
              <a:srgbClr val="3865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667440" y="471096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a9bbb1"/>
                </a:solidFill>
                <a:effectLst/>
                <a:uFillTx/>
                <a:latin typeface="Aptos"/>
                <a:ea typeface="Aptos"/>
              </a:rPr>
              <a:t>20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1005840" y="4447440"/>
            <a:ext cx="5669280" cy="360"/>
          </a:xfrm>
          <a:prstGeom prst="line">
            <a:avLst/>
          </a:prstGeom>
          <a:ln w="6985">
            <a:solidFill>
              <a:srgbClr val="3865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667440" y="437436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a9bbb1"/>
                </a:solidFill>
                <a:effectLst/>
                <a:uFillTx/>
                <a:latin typeface="Aptos"/>
                <a:ea typeface="Aptos"/>
              </a:rPr>
              <a:t>40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1005840" y="4110840"/>
            <a:ext cx="5669280" cy="360"/>
          </a:xfrm>
          <a:prstGeom prst="line">
            <a:avLst/>
          </a:prstGeom>
          <a:ln w="6985">
            <a:solidFill>
              <a:srgbClr val="3865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667440" y="403812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a9bbb1"/>
                </a:solidFill>
                <a:effectLst/>
                <a:uFillTx/>
                <a:latin typeface="Aptos"/>
                <a:ea typeface="Aptos"/>
              </a:rPr>
              <a:t>60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1005840" y="3774600"/>
            <a:ext cx="5669280" cy="360"/>
          </a:xfrm>
          <a:prstGeom prst="line">
            <a:avLst/>
          </a:prstGeom>
          <a:ln w="6985">
            <a:solidFill>
              <a:srgbClr val="3865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667440" y="370152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a9bbb1"/>
                </a:solidFill>
                <a:effectLst/>
                <a:uFillTx/>
                <a:latin typeface="Aptos"/>
                <a:ea typeface="Aptos"/>
              </a:rPr>
              <a:t>80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1005840" y="3438000"/>
            <a:ext cx="5669280" cy="360"/>
          </a:xfrm>
          <a:prstGeom prst="line">
            <a:avLst/>
          </a:prstGeom>
          <a:ln w="6985">
            <a:solidFill>
              <a:srgbClr val="3865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667440" y="336492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a9bbb1"/>
                </a:solidFill>
                <a:effectLst/>
                <a:uFillTx/>
                <a:latin typeface="Aptos"/>
                <a:ea typeface="Aptos"/>
              </a:rPr>
              <a:t>100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1627560" y="3774600"/>
            <a:ext cx="804240" cy="1345680"/>
          </a:xfrm>
          <a:prstGeom prst="rect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2"/>
          <p:cNvSpPr/>
          <p:nvPr/>
        </p:nvSpPr>
        <p:spPr>
          <a:xfrm>
            <a:off x="2432160" y="4784040"/>
            <a:ext cx="804240" cy="336240"/>
          </a:xfrm>
          <a:prstGeom prst="rect">
            <a:avLst/>
          </a:prstGeom>
          <a:solidFill>
            <a:srgbClr val="648777"/>
          </a:solidFill>
          <a:ln w="12700">
            <a:solidFill>
              <a:srgbClr val="648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1581840" y="5266800"/>
            <a:ext cx="1700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ce5e0"/>
                </a:solidFill>
                <a:effectLst/>
                <a:uFillTx/>
                <a:latin typeface="Aptos"/>
                <a:ea typeface="Aptos"/>
              </a:rPr>
              <a:t>Peak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4"/>
          <p:cNvSpPr/>
          <p:nvPr/>
        </p:nvSpPr>
        <p:spPr>
          <a:xfrm>
            <a:off x="4434840" y="4447800"/>
            <a:ext cx="804240" cy="672480"/>
          </a:xfrm>
          <a:prstGeom prst="rect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5239440" y="4111200"/>
            <a:ext cx="804240" cy="1009080"/>
          </a:xfrm>
          <a:prstGeom prst="rect">
            <a:avLst/>
          </a:prstGeom>
          <a:solidFill>
            <a:srgbClr val="648777"/>
          </a:solidFill>
          <a:ln w="12700">
            <a:solidFill>
              <a:srgbClr val="648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6"/>
          <p:cNvSpPr/>
          <p:nvPr/>
        </p:nvSpPr>
        <p:spPr>
          <a:xfrm>
            <a:off x="4389120" y="5266800"/>
            <a:ext cx="1700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ce5e0"/>
                </a:solidFill>
                <a:effectLst/>
                <a:uFillTx/>
                <a:latin typeface="Aptos"/>
                <a:ea typeface="Aptos"/>
              </a:rPr>
              <a:t>Off-peak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7"/>
          <p:cNvSpPr/>
          <p:nvPr/>
        </p:nvSpPr>
        <p:spPr>
          <a:xfrm>
            <a:off x="2834640" y="5596200"/>
            <a:ext cx="109440" cy="109440"/>
          </a:xfrm>
          <a:prstGeom prst="rect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2999160" y="556884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dce5e0"/>
                </a:solidFill>
                <a:effectLst/>
                <a:uFillTx/>
                <a:latin typeface="Aptos"/>
                <a:ea typeface="Aptos"/>
              </a:rPr>
              <a:t>Booked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9"/>
          <p:cNvSpPr/>
          <p:nvPr/>
        </p:nvSpPr>
        <p:spPr>
          <a:xfrm>
            <a:off x="3611880" y="5596200"/>
            <a:ext cx="109440" cy="109440"/>
          </a:xfrm>
          <a:prstGeom prst="rect">
            <a:avLst/>
          </a:prstGeom>
          <a:solidFill>
            <a:srgbClr val="648777"/>
          </a:solidFill>
          <a:ln w="12700">
            <a:solidFill>
              <a:srgbClr val="648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0"/>
          <p:cNvSpPr/>
          <p:nvPr/>
        </p:nvSpPr>
        <p:spPr>
          <a:xfrm>
            <a:off x="3776400" y="556884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dce5e0"/>
                </a:solidFill>
                <a:effectLst/>
                <a:uFillTx/>
                <a:latin typeface="Aptos"/>
                <a:ea typeface="Aptos"/>
              </a:rPr>
              <a:t>Unused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1"/>
          <p:cNvSpPr/>
          <p:nvPr/>
        </p:nvSpPr>
        <p:spPr>
          <a:xfrm>
            <a:off x="7516440" y="2057400"/>
            <a:ext cx="4050360" cy="3702960"/>
          </a:xfrm>
          <a:prstGeom prst="roundRect">
            <a:avLst>
              <a:gd name="adj" fmla="val 2963"/>
            </a:avLst>
          </a:prstGeom>
          <a:solidFill>
            <a:srgbClr val="174a38"/>
          </a:solidFill>
          <a:ln w="10160">
            <a:solidFill>
              <a:srgbClr val="315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2"/>
          <p:cNvSpPr/>
          <p:nvPr/>
        </p:nvSpPr>
        <p:spPr>
          <a:xfrm>
            <a:off x="7845480" y="2359080"/>
            <a:ext cx="126144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3"/>
          <p:cNvSpPr/>
          <p:nvPr/>
        </p:nvSpPr>
        <p:spPr>
          <a:xfrm>
            <a:off x="7918560" y="239580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BUSINESS RULE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7845480" y="2926080"/>
            <a:ext cx="3090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Maximize profitable occupancy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5"/>
          <p:cNvSpPr/>
          <p:nvPr/>
        </p:nvSpPr>
        <p:spPr>
          <a:xfrm>
            <a:off x="7882200" y="3840480"/>
            <a:ext cx="2971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dde8e2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de8e2"/>
                </a:solidFill>
                <a:effectLst/>
                <a:uFillTx/>
                <a:latin typeface="Aptos"/>
                <a:ea typeface="Aptos"/>
              </a:rPr>
              <a:t>Protect naturally full peak periods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dde8e2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de8e2"/>
                </a:solidFill>
                <a:effectLst/>
                <a:uFillTx/>
                <a:latin typeface="Aptos"/>
                <a:ea typeface="Aptos"/>
              </a:rPr>
              <a:t>Create new off-peak demand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dde8e2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de8e2"/>
                </a:solidFill>
                <a:effectLst/>
                <a:uFillTx/>
                <a:latin typeface="Aptos"/>
                <a:ea typeface="Aptos"/>
              </a:rPr>
              <a:t>Refill cancellations before expiry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dde8e2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de8e2"/>
                </a:solidFill>
                <a:effectLst/>
                <a:uFillTx/>
                <a:latin typeface="Aptos"/>
                <a:ea typeface="Aptos"/>
              </a:rPr>
              <a:t>Measure contribution after incentives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6"/>
          <p:cNvSpPr/>
          <p:nvPr/>
        </p:nvSpPr>
        <p:spPr>
          <a:xfrm>
            <a:off x="7845480" y="5340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Weekend demand after 16:00 is already modeled at 100%.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7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c6d3cc"/>
                </a:solidFill>
                <a:effectLst/>
                <a:uFillTx/>
                <a:latin typeface="Aptos"/>
                <a:ea typeface="Aptos"/>
              </a:rPr>
              <a:t>Source: 08_pitch_deck_outline.md; data/monthly_summary.csv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8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Flexibility Exists When the Trade-Off Is Clear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Players will shift demand when relevance, savings and trust outweigh the inconvenience.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567000" y="1984320"/>
            <a:ext cx="3090240" cy="4041360"/>
          </a:xfrm>
          <a:prstGeom prst="roundRect">
            <a:avLst>
              <a:gd name="adj" fmla="val 3550"/>
            </a:avLst>
          </a:prstGeom>
          <a:solidFill>
            <a:srgbClr val="103b2d"/>
          </a:solidFill>
          <a:ln w="10160">
            <a:solidFill>
              <a:srgbClr val="103b2d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877680" y="2304360"/>
            <a:ext cx="658080" cy="658080"/>
          </a:xfrm>
          <a:prstGeom prst="ellipse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1042560" y="2459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03b2d"/>
                </a:solidFill>
                <a:effectLst/>
                <a:uFillTx/>
                <a:latin typeface="Georgia"/>
                <a:ea typeface="Georgia"/>
              </a:rPr>
              <a:t>M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1755720" y="23407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Minh, 31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1755720" y="267012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9d8d0"/>
                </a:solidFill>
                <a:effectLst/>
                <a:uFillTx/>
                <a:latin typeface="Aptos"/>
                <a:ea typeface="Aptos"/>
              </a:rPr>
              <a:t>Convenience-first organizer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877680" y="3273480"/>
            <a:ext cx="2468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trike="noStrike" u="none">
                <a:solidFill>
                  <a:srgbClr val="c7f05a"/>
                </a:solidFill>
                <a:effectLst/>
                <a:uFillTx/>
                <a:latin typeface="Georgia"/>
                <a:ea typeface="Georgia"/>
              </a:rPr>
              <a:t>“Help me confirm a reliable court before the group loses interest.”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877680" y="4316040"/>
            <a:ext cx="1645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afc4b8"/>
                </a:solidFill>
                <a:effectLst/>
                <a:uFillTx/>
                <a:latin typeface="Aptos"/>
                <a:ea typeface="Aptos"/>
              </a:rPr>
              <a:t>WHAT MATTERS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896040" y="4626720"/>
            <a:ext cx="20570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Certainty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Proximity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Clear final price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Fast group decision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4187880" y="21488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Preferred choice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4133160" y="2514600"/>
            <a:ext cx="3090240" cy="1874160"/>
          </a:xfrm>
          <a:prstGeom prst="roundRect">
            <a:avLst>
              <a:gd name="adj" fmla="val 5854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4407480" y="2797920"/>
            <a:ext cx="987120" cy="328680"/>
          </a:xfrm>
          <a:prstGeom prst="roundRect">
            <a:avLst>
              <a:gd name="adj" fmla="val 22222"/>
            </a:avLst>
          </a:prstGeom>
          <a:solidFill>
            <a:srgbClr val="eef1ee"/>
          </a:solidFill>
          <a:ln w="12700">
            <a:solidFill>
              <a:srgbClr val="eef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4480560" y="283464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BEST MATCH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4407480" y="32734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18:00 · Usual venue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4407480" y="3694320"/>
            <a:ext cx="214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8 min away  |  120,000 VND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7699320" y="21488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Recommended alternative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7644240" y="2514600"/>
            <a:ext cx="3977280" cy="1874160"/>
          </a:xfrm>
          <a:prstGeom prst="roundRect">
            <a:avLst>
              <a:gd name="adj" fmla="val 5854"/>
            </a:avLst>
          </a:prstGeom>
          <a:solidFill>
            <a:srgbClr val="e7f7b5"/>
          </a:solidFill>
          <a:ln w="10160">
            <a:solidFill>
              <a:srgbClr val="c7f05a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7918560" y="2797920"/>
            <a:ext cx="987120" cy="328680"/>
          </a:xfrm>
          <a:prstGeom prst="roundRect">
            <a:avLst>
              <a:gd name="adj" fmla="val 22222"/>
            </a:avLst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7992000" y="283464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BEST VALUE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7918560" y="32734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17:00 · Same area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7918560" y="369432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8 min away  |  Save 40,000 VND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7241760" y="3456360"/>
            <a:ext cx="384120" cy="360"/>
          </a:xfrm>
          <a:prstGeom prst="line">
            <a:avLst/>
          </a:prstGeom>
          <a:ln w="27940">
            <a:solidFill>
              <a:srgbClr val="f36d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6666120" y="385884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9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CLEAR TRADE-OFF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5"/>
          <p:cNvSpPr/>
          <p:nvPr/>
        </p:nvSpPr>
        <p:spPr>
          <a:xfrm>
            <a:off x="4133160" y="4773240"/>
            <a:ext cx="7488720" cy="1243080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6"/>
          <p:cNvSpPr/>
          <p:nvPr/>
        </p:nvSpPr>
        <p:spPr>
          <a:xfrm>
            <a:off x="4425840" y="504756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BEHAVIOR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4425840" y="5367600"/>
            <a:ext cx="199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Use stated flexibility, not demographic stereotypes.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6766560" y="504756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TRUST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9"/>
          <p:cNvSpPr/>
          <p:nvPr/>
        </p:nvSpPr>
        <p:spPr>
          <a:xfrm>
            <a:off x="6766560" y="5367600"/>
            <a:ext cx="199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Explain why every recommendation appears.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0"/>
          <p:cNvSpPr/>
          <p:nvPr/>
        </p:nvSpPr>
        <p:spPr>
          <a:xfrm>
            <a:off x="9107280" y="504756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CONTROL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9107280" y="5367600"/>
            <a:ext cx="199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Give owners floors, caps and eligible periods.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2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7b857f"/>
                </a:solidFill>
                <a:effectLst/>
                <a:uFillTx/>
                <a:latin typeface="Aptos"/>
                <a:ea typeface="Aptos"/>
              </a:rPr>
              <a:t>Source: 02_personas.md; 01_design_thinking.md — user insights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3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Test Whether Transparent Alternatives Can Shift Demand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A focused mobile prototype isolates the riskiest assumption before the full platform is built.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567000" y="1984320"/>
            <a:ext cx="2806920" cy="4087080"/>
          </a:xfrm>
          <a:prstGeom prst="roundRect">
            <a:avLst>
              <a:gd name="adj" fmla="val 3909"/>
            </a:avLst>
          </a:prstGeom>
          <a:solidFill>
            <a:srgbClr val="103b2d"/>
          </a:solidFill>
          <a:ln w="10160">
            <a:solidFill>
              <a:srgbClr val="103b2d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850320" y="2286000"/>
            <a:ext cx="129816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923400" y="2322720"/>
            <a:ext cx="115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CORE HYPOTHESIS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850320" y="2907720"/>
            <a:ext cx="21758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Will players accept a different court-hour when the trade-off is relevant and transparent?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850320" y="46360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Schedule · travel · quality · savings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850320" y="523944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fddd6"/>
                </a:solidFill>
                <a:effectLst/>
                <a:uFillTx/>
                <a:latin typeface="Aptos"/>
                <a:ea typeface="Aptos"/>
              </a:rPr>
              <a:t>Mid-fidelity, clickable, player-side only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3867840" y="2249280"/>
            <a:ext cx="2148480" cy="3584160"/>
          </a:xfrm>
          <a:prstGeom prst="roundRect">
            <a:avLst>
              <a:gd name="adj" fmla="val 9362"/>
            </a:avLst>
          </a:prstGeom>
          <a:solidFill>
            <a:srgbClr val="17231d"/>
          </a:solidFill>
          <a:ln w="15240">
            <a:solidFill>
              <a:srgbClr val="0b1711"/>
            </a:solidFill>
            <a:round/>
          </a:ln>
          <a:effectLst>
            <a:outerShdw algn="bl" blurRad="38160" dir="8100000" dist="18837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3950280" y="2350080"/>
            <a:ext cx="1983960" cy="3382920"/>
          </a:xfrm>
          <a:prstGeom prst="roundRect">
            <a:avLst>
              <a:gd name="adj" fmla="val 7834"/>
            </a:avLst>
          </a:prstGeom>
          <a:solidFill>
            <a:srgbClr val="f5f1e7"/>
          </a:solidFill>
          <a:ln w="12700">
            <a:solidFill>
              <a:srgbClr val="f5f1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4684320" y="2322720"/>
            <a:ext cx="515520" cy="72720"/>
          </a:xfrm>
          <a:prstGeom prst="roundRect">
            <a:avLst>
              <a:gd name="adj" fmla="val 37500"/>
            </a:avLst>
          </a:prstGeom>
          <a:solidFill>
            <a:srgbClr val="17231d"/>
          </a:solidFill>
          <a:ln w="12700">
            <a:solidFill>
              <a:srgbClr val="17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4105800" y="2532960"/>
            <a:ext cx="1672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FIND A COURT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4105800" y="2853000"/>
            <a:ext cx="167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Badminton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4105800" y="3310200"/>
            <a:ext cx="1672920" cy="39276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4197240" y="3383280"/>
            <a:ext cx="5025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a7b0aa"/>
                </a:solidFill>
                <a:effectLst/>
                <a:uFillTx/>
                <a:latin typeface="Aptos"/>
                <a:ea typeface="Aptos"/>
              </a:rPr>
              <a:t>DATE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4727520" y="33832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Tomorrow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4105800" y="3840480"/>
            <a:ext cx="1672920" cy="39276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4197240" y="3913560"/>
            <a:ext cx="5025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a7b0aa"/>
                </a:solidFill>
                <a:effectLst/>
                <a:uFillTx/>
                <a:latin typeface="Aptos"/>
                <a:ea typeface="Aptos"/>
              </a:rPr>
              <a:t>TIME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4727520" y="391356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18:00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4105800" y="4370760"/>
            <a:ext cx="1672920" cy="39276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4197240" y="4443840"/>
            <a:ext cx="5025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a7b0aa"/>
                </a:solidFill>
                <a:effectLst/>
                <a:uFillTx/>
                <a:latin typeface="Aptos"/>
                <a:ea typeface="Aptos"/>
              </a:rPr>
              <a:t>AREA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4727520" y="444384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Near work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4105800" y="5157360"/>
            <a:ext cx="1672920" cy="365400"/>
          </a:xfrm>
          <a:prstGeom prst="roundRect">
            <a:avLst>
              <a:gd name="adj" fmla="val 20000"/>
            </a:avLst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4178880" y="519372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SEARCH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6446520" y="2249280"/>
            <a:ext cx="2148480" cy="3584160"/>
          </a:xfrm>
          <a:prstGeom prst="roundRect">
            <a:avLst>
              <a:gd name="adj" fmla="val 9362"/>
            </a:avLst>
          </a:prstGeom>
          <a:solidFill>
            <a:srgbClr val="17231d"/>
          </a:solidFill>
          <a:ln w="15240">
            <a:solidFill>
              <a:srgbClr val="0b1711"/>
            </a:solidFill>
            <a:round/>
          </a:ln>
          <a:effectLst>
            <a:outerShdw algn="bl" blurRad="38160" dir="8100000" dist="18837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6"/>
          <p:cNvSpPr/>
          <p:nvPr/>
        </p:nvSpPr>
        <p:spPr>
          <a:xfrm>
            <a:off x="6528960" y="2350080"/>
            <a:ext cx="1983960" cy="3382920"/>
          </a:xfrm>
          <a:prstGeom prst="roundRect">
            <a:avLst>
              <a:gd name="adj" fmla="val 7834"/>
            </a:avLst>
          </a:prstGeom>
          <a:solidFill>
            <a:srgbClr val="f5f1e7"/>
          </a:solidFill>
          <a:ln w="12700">
            <a:solidFill>
              <a:srgbClr val="f5f1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7"/>
          <p:cNvSpPr/>
          <p:nvPr/>
        </p:nvSpPr>
        <p:spPr>
          <a:xfrm>
            <a:off x="7263000" y="2322720"/>
            <a:ext cx="515520" cy="72720"/>
          </a:xfrm>
          <a:prstGeom prst="roundRect">
            <a:avLst>
              <a:gd name="adj" fmla="val 37500"/>
            </a:avLst>
          </a:prstGeom>
          <a:solidFill>
            <a:srgbClr val="17231d"/>
          </a:solidFill>
          <a:ln w="12700">
            <a:solidFill>
              <a:srgbClr val="17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6684120" y="2532960"/>
            <a:ext cx="1672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RANKED OPTIONS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9"/>
          <p:cNvSpPr/>
          <p:nvPr/>
        </p:nvSpPr>
        <p:spPr>
          <a:xfrm>
            <a:off x="6684120" y="2834640"/>
            <a:ext cx="167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Best for you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0"/>
          <p:cNvSpPr/>
          <p:nvPr/>
        </p:nvSpPr>
        <p:spPr>
          <a:xfrm>
            <a:off x="6684120" y="3328560"/>
            <a:ext cx="167292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ef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1"/>
          <p:cNvSpPr/>
          <p:nvPr/>
        </p:nvSpPr>
        <p:spPr>
          <a:xfrm>
            <a:off x="6793920" y="343800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BEST MATCH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2"/>
          <p:cNvSpPr/>
          <p:nvPr/>
        </p:nvSpPr>
        <p:spPr>
          <a:xfrm>
            <a:off x="6793920" y="366660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18:00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3"/>
          <p:cNvSpPr/>
          <p:nvPr/>
        </p:nvSpPr>
        <p:spPr>
          <a:xfrm>
            <a:off x="7571160" y="368496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120k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4"/>
          <p:cNvSpPr/>
          <p:nvPr/>
        </p:nvSpPr>
        <p:spPr>
          <a:xfrm>
            <a:off x="6684120" y="4352400"/>
            <a:ext cx="1672920" cy="822600"/>
          </a:xfrm>
          <a:prstGeom prst="roundRect">
            <a:avLst>
              <a:gd name="adj" fmla="val 8889"/>
            </a:avLst>
          </a:prstGeom>
          <a:solidFill>
            <a:srgbClr val="e7f7b5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5"/>
          <p:cNvSpPr/>
          <p:nvPr/>
        </p:nvSpPr>
        <p:spPr>
          <a:xfrm>
            <a:off x="6793920" y="446220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BEST VALUE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6"/>
          <p:cNvSpPr/>
          <p:nvPr/>
        </p:nvSpPr>
        <p:spPr>
          <a:xfrm>
            <a:off x="6793920" y="469080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17:00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7"/>
          <p:cNvSpPr/>
          <p:nvPr/>
        </p:nvSpPr>
        <p:spPr>
          <a:xfrm>
            <a:off x="7571160" y="470916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Save 40k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8"/>
          <p:cNvSpPr/>
          <p:nvPr/>
        </p:nvSpPr>
        <p:spPr>
          <a:xfrm>
            <a:off x="6684120" y="5157360"/>
            <a:ext cx="1672920" cy="365400"/>
          </a:xfrm>
          <a:prstGeom prst="roundRect">
            <a:avLst>
              <a:gd name="adj" fmla="val 20000"/>
            </a:avLst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9"/>
          <p:cNvSpPr/>
          <p:nvPr/>
        </p:nvSpPr>
        <p:spPr>
          <a:xfrm>
            <a:off x="6757560" y="519372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WHY RECOMMENDED?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0"/>
          <p:cNvSpPr/>
          <p:nvPr/>
        </p:nvSpPr>
        <p:spPr>
          <a:xfrm>
            <a:off x="9025200" y="2249280"/>
            <a:ext cx="2148480" cy="3584160"/>
          </a:xfrm>
          <a:prstGeom prst="roundRect">
            <a:avLst>
              <a:gd name="adj" fmla="val 9362"/>
            </a:avLst>
          </a:prstGeom>
          <a:solidFill>
            <a:srgbClr val="17231d"/>
          </a:solidFill>
          <a:ln w="15240">
            <a:solidFill>
              <a:srgbClr val="0b1711"/>
            </a:solidFill>
            <a:round/>
          </a:ln>
          <a:effectLst>
            <a:outerShdw algn="bl" blurRad="38160" dir="8100000" dist="18837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1"/>
          <p:cNvSpPr/>
          <p:nvPr/>
        </p:nvSpPr>
        <p:spPr>
          <a:xfrm>
            <a:off x="9107280" y="2350080"/>
            <a:ext cx="1983960" cy="3382920"/>
          </a:xfrm>
          <a:prstGeom prst="roundRect">
            <a:avLst>
              <a:gd name="adj" fmla="val 7834"/>
            </a:avLst>
          </a:prstGeom>
          <a:solidFill>
            <a:srgbClr val="f5f1e7"/>
          </a:solidFill>
          <a:ln w="12700">
            <a:solidFill>
              <a:srgbClr val="f5f1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2"/>
          <p:cNvSpPr/>
          <p:nvPr/>
        </p:nvSpPr>
        <p:spPr>
          <a:xfrm>
            <a:off x="9841680" y="2322720"/>
            <a:ext cx="515520" cy="72720"/>
          </a:xfrm>
          <a:prstGeom prst="roundRect">
            <a:avLst>
              <a:gd name="adj" fmla="val 37500"/>
            </a:avLst>
          </a:prstGeom>
          <a:solidFill>
            <a:srgbClr val="17231d"/>
          </a:solidFill>
          <a:ln w="12700">
            <a:solidFill>
              <a:srgbClr val="17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3"/>
          <p:cNvSpPr/>
          <p:nvPr/>
        </p:nvSpPr>
        <p:spPr>
          <a:xfrm>
            <a:off x="9262800" y="2532960"/>
            <a:ext cx="1672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TRANSPARENT REASON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4"/>
          <p:cNvSpPr/>
          <p:nvPr/>
        </p:nvSpPr>
        <p:spPr>
          <a:xfrm>
            <a:off x="9262800" y="2834640"/>
            <a:ext cx="167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Why this option?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5"/>
          <p:cNvSpPr/>
          <p:nvPr/>
        </p:nvSpPr>
        <p:spPr>
          <a:xfrm>
            <a:off x="9756720" y="3346560"/>
            <a:ext cx="658080" cy="658080"/>
          </a:xfrm>
          <a:prstGeom prst="ellipse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6"/>
          <p:cNvSpPr/>
          <p:nvPr/>
        </p:nvSpPr>
        <p:spPr>
          <a:xfrm>
            <a:off x="9848160" y="3547800"/>
            <a:ext cx="4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−40k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7"/>
          <p:cNvSpPr/>
          <p:nvPr/>
        </p:nvSpPr>
        <p:spPr>
          <a:xfrm>
            <a:off x="9317880" y="4260960"/>
            <a:ext cx="15631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27080" indent="-12708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Within your flexible start time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Eight minutes from work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buClr>
                <a:srgbClr val="17231d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17231d"/>
                </a:solidFill>
                <a:effectLst/>
                <a:uFillTx/>
                <a:latin typeface="Aptos"/>
                <a:ea typeface="Aptos"/>
              </a:rPr>
              <a:t>Same published offer for eligible users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8"/>
          <p:cNvSpPr/>
          <p:nvPr/>
        </p:nvSpPr>
        <p:spPr>
          <a:xfrm>
            <a:off x="9262800" y="5157360"/>
            <a:ext cx="1672920" cy="365400"/>
          </a:xfrm>
          <a:prstGeom prst="roundRect">
            <a:avLst>
              <a:gd name="adj" fmla="val 20000"/>
            </a:avLst>
          </a:prstGeom>
          <a:solidFill>
            <a:srgbClr val="103b2d"/>
          </a:solidFill>
          <a:ln w="1270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9"/>
          <p:cNvSpPr/>
          <p:nvPr/>
        </p:nvSpPr>
        <p:spPr>
          <a:xfrm>
            <a:off x="9335880" y="519372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SELECT 17:00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0"/>
          <p:cNvSpPr/>
          <p:nvPr/>
        </p:nvSpPr>
        <p:spPr>
          <a:xfrm>
            <a:off x="3867840" y="6062400"/>
            <a:ext cx="214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30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SEARCH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1"/>
          <p:cNvSpPr/>
          <p:nvPr/>
        </p:nvSpPr>
        <p:spPr>
          <a:xfrm>
            <a:off x="6446520" y="6062400"/>
            <a:ext cx="214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30" strike="noStrike" u="none">
                <a:solidFill>
                  <a:srgbClr val="f36d4a"/>
                </a:solidFill>
                <a:effectLst/>
                <a:uFillTx/>
                <a:latin typeface="Aptos"/>
                <a:ea typeface="Aptos"/>
              </a:rPr>
              <a:t>COMPARE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2"/>
          <p:cNvSpPr/>
          <p:nvPr/>
        </p:nvSpPr>
        <p:spPr>
          <a:xfrm>
            <a:off x="9025200" y="6062400"/>
            <a:ext cx="214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30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UNDERSTAND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3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7b857f"/>
                </a:solidFill>
                <a:effectLst/>
                <a:uFillTx/>
                <a:latin typeface="Aptos"/>
                <a:ea typeface="Aptos"/>
              </a:rPr>
              <a:t>Source: 07_prototype_plan.md; prototype scope is intentionally bounded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4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2c7558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From Preferred Slot to Occupancy-Creating Alternative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Demo scenario: four players want badminton near work tomorrow at 18:00.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64008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80460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e4eee8"/>
          </a:solidFill>
          <a:ln w="12700">
            <a:solidFill>
              <a:srgbClr val="e4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87768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80460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Browse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80460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Sport, area,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date, time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2194560" y="3182040"/>
            <a:ext cx="109440" cy="360"/>
          </a:xfrm>
          <a:prstGeom prst="line">
            <a:avLst/>
          </a:prstGeom>
          <a:ln w="1524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230436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246888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e4eee8"/>
          </a:solidFill>
          <a:ln w="12700">
            <a:solidFill>
              <a:srgbClr val="e4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254196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246888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Flex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246888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Earlier or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later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4"/>
          <p:cNvSpPr/>
          <p:nvPr/>
        </p:nvSpPr>
        <p:spPr>
          <a:xfrm>
            <a:off x="3858480" y="3182040"/>
            <a:ext cx="109800" cy="360"/>
          </a:xfrm>
          <a:prstGeom prst="line">
            <a:avLst/>
          </a:prstGeom>
          <a:ln w="1524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396864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413316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e4eee8"/>
          </a:solidFill>
          <a:ln w="12700">
            <a:solidFill>
              <a:srgbClr val="e4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420624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8"/>
          <p:cNvSpPr/>
          <p:nvPr/>
        </p:nvSpPr>
        <p:spPr>
          <a:xfrm>
            <a:off x="413316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Review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413316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Match +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best value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0"/>
          <p:cNvSpPr/>
          <p:nvPr/>
        </p:nvSpPr>
        <p:spPr>
          <a:xfrm>
            <a:off x="5522760" y="3182040"/>
            <a:ext cx="109800" cy="360"/>
          </a:xfrm>
          <a:prstGeom prst="line">
            <a:avLst/>
          </a:prstGeom>
          <a:ln w="1524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563256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2"/>
          <p:cNvSpPr/>
          <p:nvPr/>
        </p:nvSpPr>
        <p:spPr>
          <a:xfrm>
            <a:off x="579744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e4eee8"/>
          </a:solidFill>
          <a:ln w="12700">
            <a:solidFill>
              <a:srgbClr val="e4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3"/>
          <p:cNvSpPr/>
          <p:nvPr/>
        </p:nvSpPr>
        <p:spPr>
          <a:xfrm>
            <a:off x="587052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4"/>
          <p:cNvSpPr/>
          <p:nvPr/>
        </p:nvSpPr>
        <p:spPr>
          <a:xfrm>
            <a:off x="579744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Compare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5"/>
          <p:cNvSpPr/>
          <p:nvPr/>
        </p:nvSpPr>
        <p:spPr>
          <a:xfrm>
            <a:off x="579744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Time, travel,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quality, price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6"/>
          <p:cNvSpPr/>
          <p:nvPr/>
        </p:nvSpPr>
        <p:spPr>
          <a:xfrm>
            <a:off x="7187040" y="3182040"/>
            <a:ext cx="109800" cy="360"/>
          </a:xfrm>
          <a:prstGeom prst="line">
            <a:avLst/>
          </a:prstGeom>
          <a:ln w="1524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7"/>
          <p:cNvSpPr/>
          <p:nvPr/>
        </p:nvSpPr>
        <p:spPr>
          <a:xfrm>
            <a:off x="729684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103b2d"/>
          </a:solidFill>
          <a:ln w="10160">
            <a:solidFill>
              <a:srgbClr val="103b2d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8"/>
          <p:cNvSpPr/>
          <p:nvPr/>
        </p:nvSpPr>
        <p:spPr>
          <a:xfrm>
            <a:off x="746136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9"/>
          <p:cNvSpPr/>
          <p:nvPr/>
        </p:nvSpPr>
        <p:spPr>
          <a:xfrm>
            <a:off x="753480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0"/>
          <p:cNvSpPr/>
          <p:nvPr/>
        </p:nvSpPr>
        <p:spPr>
          <a:xfrm>
            <a:off x="746136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Explain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1"/>
          <p:cNvSpPr/>
          <p:nvPr/>
        </p:nvSpPr>
        <p:spPr>
          <a:xfrm>
            <a:off x="746136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d7e4dd"/>
                </a:solidFill>
                <a:effectLst/>
                <a:uFillTx/>
                <a:latin typeface="Aptos"/>
                <a:ea typeface="Aptos"/>
              </a:rPr>
              <a:t>Why this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d7e4dd"/>
                </a:solidFill>
                <a:effectLst/>
                <a:uFillTx/>
                <a:latin typeface="Aptos"/>
                <a:ea typeface="Aptos"/>
              </a:rPr>
              <a:t>option?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2"/>
          <p:cNvSpPr/>
          <p:nvPr/>
        </p:nvSpPr>
        <p:spPr>
          <a:xfrm>
            <a:off x="8851320" y="3182040"/>
            <a:ext cx="109800" cy="360"/>
          </a:xfrm>
          <a:prstGeom prst="line">
            <a:avLst/>
          </a:prstGeom>
          <a:ln w="1524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3"/>
          <p:cNvSpPr/>
          <p:nvPr/>
        </p:nvSpPr>
        <p:spPr>
          <a:xfrm>
            <a:off x="896112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103b2d"/>
          </a:solidFill>
          <a:ln w="10160">
            <a:solidFill>
              <a:srgbClr val="103b2d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4"/>
          <p:cNvSpPr/>
          <p:nvPr/>
        </p:nvSpPr>
        <p:spPr>
          <a:xfrm>
            <a:off x="912564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5"/>
          <p:cNvSpPr/>
          <p:nvPr/>
        </p:nvSpPr>
        <p:spPr>
          <a:xfrm>
            <a:off x="919872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6"/>
          <p:cNvSpPr/>
          <p:nvPr/>
        </p:nvSpPr>
        <p:spPr>
          <a:xfrm>
            <a:off x="912564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Choose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7"/>
          <p:cNvSpPr/>
          <p:nvPr/>
        </p:nvSpPr>
        <p:spPr>
          <a:xfrm>
            <a:off x="912564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d7e4dd"/>
                </a:solidFill>
                <a:effectLst/>
                <a:uFillTx/>
                <a:latin typeface="Aptos"/>
                <a:ea typeface="Aptos"/>
              </a:rPr>
              <a:t>Original or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d7e4dd"/>
                </a:solidFill>
                <a:effectLst/>
                <a:uFillTx/>
                <a:latin typeface="Aptos"/>
                <a:ea typeface="Aptos"/>
              </a:rPr>
              <a:t>alternative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8"/>
          <p:cNvSpPr/>
          <p:nvPr/>
        </p:nvSpPr>
        <p:spPr>
          <a:xfrm>
            <a:off x="10515600" y="3182040"/>
            <a:ext cx="109440" cy="360"/>
          </a:xfrm>
          <a:prstGeom prst="line">
            <a:avLst/>
          </a:prstGeom>
          <a:ln w="15240">
            <a:solidFill>
              <a:srgbClr val="a7b0a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9"/>
          <p:cNvSpPr/>
          <p:nvPr/>
        </p:nvSpPr>
        <p:spPr>
          <a:xfrm>
            <a:off x="10625400" y="2212920"/>
            <a:ext cx="1554120" cy="1965600"/>
          </a:xfrm>
          <a:prstGeom prst="roundRect">
            <a:avLst>
              <a:gd name="adj" fmla="val 7059"/>
            </a:avLst>
          </a:prstGeom>
          <a:solidFill>
            <a:srgbClr val="fffdf8"/>
          </a:solidFill>
          <a:ln w="10160">
            <a:solidFill>
              <a:srgbClr val="d8ddd7"/>
            </a:solidFill>
            <a:round/>
          </a:ln>
          <a:effectLst>
            <a:outerShdw algn="bl" blurRad="1908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0"/>
          <p:cNvSpPr/>
          <p:nvPr/>
        </p:nvSpPr>
        <p:spPr>
          <a:xfrm>
            <a:off x="10789920" y="2432160"/>
            <a:ext cx="475200" cy="328680"/>
          </a:xfrm>
          <a:prstGeom prst="roundRect">
            <a:avLst>
              <a:gd name="adj" fmla="val 22222"/>
            </a:avLst>
          </a:prstGeom>
          <a:solidFill>
            <a:srgbClr val="e4eee8"/>
          </a:solidFill>
          <a:ln w="12700">
            <a:solidFill>
              <a:srgbClr val="e4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1"/>
          <p:cNvSpPr/>
          <p:nvPr/>
        </p:nvSpPr>
        <p:spPr>
          <a:xfrm>
            <a:off x="10863000" y="246888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2"/>
          <p:cNvSpPr/>
          <p:nvPr/>
        </p:nvSpPr>
        <p:spPr>
          <a:xfrm>
            <a:off x="10789920" y="29444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31d"/>
                </a:solidFill>
                <a:effectLst/>
                <a:uFillTx/>
                <a:latin typeface="Georgia"/>
                <a:ea typeface="Georgia"/>
              </a:rPr>
              <a:t>Learn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3"/>
          <p:cNvSpPr/>
          <p:nvPr/>
        </p:nvSpPr>
        <p:spPr>
          <a:xfrm>
            <a:off x="10789920" y="3401640"/>
            <a:ext cx="117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Reason +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37069"/>
                </a:solidFill>
                <a:effectLst/>
                <a:uFillTx/>
                <a:latin typeface="Aptos"/>
                <a:ea typeface="Aptos"/>
              </a:rPr>
              <a:t>trust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4"/>
          <p:cNvSpPr/>
          <p:nvPr/>
        </p:nvSpPr>
        <p:spPr>
          <a:xfrm>
            <a:off x="978480" y="4690800"/>
            <a:ext cx="10222560" cy="1133640"/>
          </a:xfrm>
          <a:prstGeom prst="roundRect">
            <a:avLst>
              <a:gd name="adj" fmla="val 9677"/>
            </a:avLst>
          </a:prstGeom>
          <a:solidFill>
            <a:srgbClr val="103b2d"/>
          </a:solidFill>
          <a:ln w="10160">
            <a:solidFill>
              <a:srgbClr val="10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45"/>
          <p:cNvSpPr/>
          <p:nvPr/>
        </p:nvSpPr>
        <p:spPr>
          <a:xfrm>
            <a:off x="1243440" y="4983480"/>
            <a:ext cx="126144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6"/>
          <p:cNvSpPr/>
          <p:nvPr/>
        </p:nvSpPr>
        <p:spPr>
          <a:xfrm>
            <a:off x="1316880" y="502020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RECOMMENDATION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7"/>
          <p:cNvSpPr/>
          <p:nvPr/>
        </p:nvSpPr>
        <p:spPr>
          <a:xfrm>
            <a:off x="2743200" y="4910400"/>
            <a:ext cx="4708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Save 40,000 VND by starting at 17:00 instead of 18:00.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8"/>
          <p:cNvSpPr/>
          <p:nvPr/>
        </p:nvSpPr>
        <p:spPr>
          <a:xfrm>
            <a:off x="2743200" y="534924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8d8d0"/>
                </a:solidFill>
                <a:effectLst/>
                <a:uFillTx/>
                <a:latin typeface="Aptos"/>
                <a:ea typeface="Aptos"/>
              </a:rPr>
              <a:t>Eight minutes away · matches selected flexibility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9"/>
          <p:cNvSpPr/>
          <p:nvPr/>
        </p:nvSpPr>
        <p:spPr>
          <a:xfrm>
            <a:off x="7909560" y="5266800"/>
            <a:ext cx="658080" cy="360"/>
          </a:xfrm>
          <a:prstGeom prst="line">
            <a:avLst/>
          </a:prstGeom>
          <a:ln w="27940">
            <a:solidFill>
              <a:srgbClr val="c7f0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50"/>
          <p:cNvSpPr/>
          <p:nvPr/>
        </p:nvSpPr>
        <p:spPr>
          <a:xfrm>
            <a:off x="8750880" y="5020200"/>
            <a:ext cx="2057040" cy="475200"/>
          </a:xfrm>
          <a:prstGeom prst="roundRect">
            <a:avLst>
              <a:gd name="adj" fmla="val 15385"/>
            </a:avLst>
          </a:prstGeom>
          <a:solidFill>
            <a:srgbClr val="f36d4a"/>
          </a:solidFill>
          <a:ln w="12700">
            <a:solidFill>
              <a:srgbClr val="f36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1"/>
          <p:cNvSpPr/>
          <p:nvPr/>
        </p:nvSpPr>
        <p:spPr>
          <a:xfrm>
            <a:off x="8823960" y="5056560"/>
            <a:ext cx="1910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OFF-PEAK SLOT FILLED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2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7b857f"/>
                </a:solidFill>
                <a:effectLst/>
                <a:uFillTx/>
                <a:latin typeface="Aptos"/>
                <a:ea typeface="Aptos"/>
              </a:rPr>
              <a:t>Source: 07_prototype_plan.md — player test path and prototype copy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3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07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567000" y="384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OCCUPANCY PROTOTYPE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567000" y="6948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Validate Demand Shifting Before Building the Platform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567000" y="141732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7e1dc"/>
                </a:solidFill>
                <a:effectLst/>
                <a:uFillTx/>
                <a:latin typeface="Aptos"/>
                <a:ea typeface="Aptos"/>
              </a:rPr>
              <a:t>A controlled prototype and venue pilot turn the occupancy thesis into measurable evidence.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585360" y="1965960"/>
            <a:ext cx="3657240" cy="1938240"/>
          </a:xfrm>
          <a:prstGeom prst="roundRect">
            <a:avLst>
              <a:gd name="adj" fmla="val 5660"/>
            </a:avLst>
          </a:prstGeom>
          <a:solidFill>
            <a:srgbClr val="174a38"/>
          </a:solidFill>
          <a:ln w="10160">
            <a:solidFill>
              <a:srgbClr val="315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868680" y="2240280"/>
            <a:ext cx="107856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941760" y="2277000"/>
            <a:ext cx="932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PLAYER VALUE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877680" y="277056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Find a suitable court in under 60 seconds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See the final price and trade-off clearly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Spend less time calling and coordinating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4443840" y="1965960"/>
            <a:ext cx="3657240" cy="1938240"/>
          </a:xfrm>
          <a:prstGeom prst="roundRect">
            <a:avLst>
              <a:gd name="adj" fmla="val 5660"/>
            </a:avLst>
          </a:prstGeom>
          <a:solidFill>
            <a:srgbClr val="174a38"/>
          </a:solidFill>
          <a:ln w="10160">
            <a:solidFill>
              <a:srgbClr val="315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8"/>
          <p:cNvSpPr/>
          <p:nvPr/>
        </p:nvSpPr>
        <p:spPr>
          <a:xfrm>
            <a:off x="4727520" y="2240280"/>
            <a:ext cx="1078560" cy="328680"/>
          </a:xfrm>
          <a:prstGeom prst="roundRect">
            <a:avLst>
              <a:gd name="adj" fmla="val 22222"/>
            </a:avLst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4800600" y="2277000"/>
            <a:ext cx="932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VENUE VALUE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4736520" y="277056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Lift incremental off-peak occupancy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Refill cancelled inventory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Protect peak price and contribution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8302680" y="1965960"/>
            <a:ext cx="3291480" cy="1938240"/>
          </a:xfrm>
          <a:prstGeom prst="roundRect">
            <a:avLst>
              <a:gd name="adj" fmla="val 5660"/>
            </a:avLst>
          </a:prstGeom>
          <a:solidFill>
            <a:srgbClr val="c7f05a"/>
          </a:solidFill>
          <a:ln w="1016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8613720" y="2249280"/>
            <a:ext cx="1645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SUCCESS SIGNALS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8613720" y="2688480"/>
            <a:ext cx="749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3b2d"/>
                </a:solidFill>
                <a:effectLst/>
                <a:uFillTx/>
                <a:latin typeface="Georgia"/>
                <a:ea typeface="Georgia"/>
              </a:rPr>
              <a:t>80%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8613720" y="3127320"/>
            <a:ext cx="78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b5a43"/>
                </a:solidFill>
                <a:effectLst/>
                <a:uFillTx/>
                <a:latin typeface="Aptos"/>
                <a:ea typeface="Aptos"/>
              </a:rPr>
              <a:t>complete unaided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9528120" y="2688480"/>
            <a:ext cx="749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3b2d"/>
                </a:solidFill>
                <a:effectLst/>
                <a:uFillTx/>
                <a:latin typeface="Georgia"/>
                <a:ea typeface="Georgia"/>
              </a:rPr>
              <a:t>&lt;60s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6"/>
          <p:cNvSpPr/>
          <p:nvPr/>
        </p:nvSpPr>
        <p:spPr>
          <a:xfrm>
            <a:off x="9528120" y="3127320"/>
            <a:ext cx="78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b5a43"/>
                </a:solidFill>
                <a:effectLst/>
                <a:uFillTx/>
                <a:latin typeface="Aptos"/>
                <a:ea typeface="Aptos"/>
              </a:rPr>
              <a:t>to selected slot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10442520" y="2688480"/>
            <a:ext cx="749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3b2d"/>
                </a:solidFill>
                <a:effectLst/>
                <a:uFillTx/>
                <a:latin typeface="Georgia"/>
                <a:ea typeface="Georgia"/>
              </a:rPr>
              <a:t>40%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10442520" y="3127320"/>
            <a:ext cx="78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b5a43"/>
                </a:solidFill>
                <a:effectLst/>
                <a:uFillTx/>
                <a:latin typeface="Aptos"/>
                <a:ea typeface="Aptos"/>
              </a:rPr>
              <a:t>consider alternative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9"/>
          <p:cNvSpPr/>
          <p:nvPr/>
        </p:nvSpPr>
        <p:spPr>
          <a:xfrm>
            <a:off x="621720" y="4434840"/>
            <a:ext cx="1919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1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VALIDATION ROADMAP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0"/>
          <p:cNvSpPr/>
          <p:nvPr/>
        </p:nvSpPr>
        <p:spPr>
          <a:xfrm>
            <a:off x="621720" y="4892040"/>
            <a:ext cx="511560" cy="511560"/>
          </a:xfrm>
          <a:prstGeom prst="ellipse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768240" y="503820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2"/>
          <p:cNvSpPr/>
          <p:nvPr/>
        </p:nvSpPr>
        <p:spPr>
          <a:xfrm>
            <a:off x="1316880" y="485532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Prototype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1316880" y="5212080"/>
            <a:ext cx="1572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2 scenarios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13 players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4"/>
          <p:cNvSpPr/>
          <p:nvPr/>
        </p:nvSpPr>
        <p:spPr>
          <a:xfrm>
            <a:off x="2852640" y="5148000"/>
            <a:ext cx="457200" cy="360"/>
          </a:xfrm>
          <a:prstGeom prst="line">
            <a:avLst/>
          </a:prstGeom>
          <a:ln w="17780">
            <a:solidFill>
              <a:srgbClr val="6d8e7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5"/>
          <p:cNvSpPr/>
          <p:nvPr/>
        </p:nvSpPr>
        <p:spPr>
          <a:xfrm>
            <a:off x="3383280" y="4892040"/>
            <a:ext cx="511560" cy="511560"/>
          </a:xfrm>
          <a:prstGeom prst="ellipse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6"/>
          <p:cNvSpPr/>
          <p:nvPr/>
        </p:nvSpPr>
        <p:spPr>
          <a:xfrm>
            <a:off x="3529440" y="503820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7"/>
          <p:cNvSpPr/>
          <p:nvPr/>
        </p:nvSpPr>
        <p:spPr>
          <a:xfrm>
            <a:off x="4078080" y="485532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Owner study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8"/>
          <p:cNvSpPr/>
          <p:nvPr/>
        </p:nvSpPr>
        <p:spPr>
          <a:xfrm>
            <a:off x="4078080" y="5212080"/>
            <a:ext cx="1572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5 venue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managers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9"/>
          <p:cNvSpPr/>
          <p:nvPr/>
        </p:nvSpPr>
        <p:spPr>
          <a:xfrm>
            <a:off x="5614200" y="5148000"/>
            <a:ext cx="457200" cy="360"/>
          </a:xfrm>
          <a:prstGeom prst="line">
            <a:avLst/>
          </a:prstGeom>
          <a:ln w="17780">
            <a:solidFill>
              <a:srgbClr val="6d8e7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30"/>
          <p:cNvSpPr/>
          <p:nvPr/>
        </p:nvSpPr>
        <p:spPr>
          <a:xfrm>
            <a:off x="6144840" y="4892040"/>
            <a:ext cx="511560" cy="511560"/>
          </a:xfrm>
          <a:prstGeom prst="ellipse">
            <a:avLst/>
          </a:prstGeom>
          <a:solidFill>
            <a:srgbClr val="c7f05a"/>
          </a:solidFill>
          <a:ln w="12700">
            <a:solidFill>
              <a:srgbClr val="c7f0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1"/>
          <p:cNvSpPr/>
          <p:nvPr/>
        </p:nvSpPr>
        <p:spPr>
          <a:xfrm>
            <a:off x="6291000" y="503820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03b2d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2"/>
          <p:cNvSpPr/>
          <p:nvPr/>
        </p:nvSpPr>
        <p:spPr>
          <a:xfrm>
            <a:off x="6839640" y="485532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Pilot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3"/>
          <p:cNvSpPr/>
          <p:nvPr/>
        </p:nvSpPr>
        <p:spPr>
          <a:xfrm>
            <a:off x="6839640" y="5212080"/>
            <a:ext cx="1572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5–10 venues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1 dense zone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4"/>
          <p:cNvSpPr/>
          <p:nvPr/>
        </p:nvSpPr>
        <p:spPr>
          <a:xfrm>
            <a:off x="8375760" y="5148000"/>
            <a:ext cx="457200" cy="360"/>
          </a:xfrm>
          <a:prstGeom prst="line">
            <a:avLst/>
          </a:prstGeom>
          <a:ln w="17780">
            <a:solidFill>
              <a:srgbClr val="6d8e7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5"/>
          <p:cNvSpPr/>
          <p:nvPr/>
        </p:nvSpPr>
        <p:spPr>
          <a:xfrm>
            <a:off x="8906400" y="4892040"/>
            <a:ext cx="511560" cy="511560"/>
          </a:xfrm>
          <a:prstGeom prst="ellipse">
            <a:avLst/>
          </a:prstGeom>
          <a:solidFill>
            <a:srgbClr val="f36d4a"/>
          </a:solidFill>
          <a:ln w="12700">
            <a:solidFill>
              <a:srgbClr val="f36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6"/>
          <p:cNvSpPr/>
          <p:nvPr/>
        </p:nvSpPr>
        <p:spPr>
          <a:xfrm>
            <a:off x="9052560" y="503820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7"/>
          <p:cNvSpPr/>
          <p:nvPr/>
        </p:nvSpPr>
        <p:spPr>
          <a:xfrm>
            <a:off x="9601200" y="485532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Scale decision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9601200" y="5212080"/>
            <a:ext cx="1572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Occupancy +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bed0c7"/>
                </a:solidFill>
                <a:effectLst/>
                <a:uFillTx/>
                <a:latin typeface="Aptos"/>
                <a:ea typeface="Aptos"/>
              </a:rPr>
              <a:t>contribution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9"/>
          <p:cNvSpPr/>
          <p:nvPr/>
        </p:nvSpPr>
        <p:spPr>
          <a:xfrm>
            <a:off x="7132320" y="605340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trike="noStrike" u="none">
                <a:solidFill>
                  <a:srgbClr val="c7f05a"/>
                </a:solidFill>
                <a:effectLst/>
                <a:uFillTx/>
                <a:latin typeface="Georgia"/>
                <a:ea typeface="Georgia"/>
              </a:rPr>
              <a:t>Convert player flexibility into profitable occupancy.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0"/>
          <p:cNvSpPr/>
          <p:nvPr/>
        </p:nvSpPr>
        <p:spPr>
          <a:xfrm>
            <a:off x="567000" y="6565320"/>
            <a:ext cx="8046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c6d3cc"/>
                </a:solidFill>
                <a:effectLst/>
                <a:uFillTx/>
                <a:latin typeface="Aptos"/>
                <a:ea typeface="Aptos"/>
              </a:rPr>
              <a:t>Source: 07_prototype_plan.md; 08_pitch_deck_outline.md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1"/>
          <p:cNvSpPr/>
          <p:nvPr/>
        </p:nvSpPr>
        <p:spPr>
          <a:xfrm>
            <a:off x="11155680" y="6510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7f05a"/>
                </a:solidFill>
                <a:effectLst/>
                <a:uFillTx/>
                <a:latin typeface="Aptos"/>
                <a:ea typeface="Aptos"/>
              </a:rPr>
              <a:t>08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LibreOffice/25.8.2.2$MacOSX_AARCH64 LibreOffice_project/d401f2107ccab8f924a8e2df40f573aab7605b6f</Application>
  <AppVersion>15.0000</AppVersion>
  <Words>0</Words>
  <Paragraphs>0</Paragraphs>
  <Company>AI Product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2026-06-13T05:00:41Z</dcterms:created>
  <dc:creator>AI Product Workshop</dc:creator>
  <dc:description/>
  <dc:language>en-US</dc:language>
  <cp:lastModifiedBy>AI Product Workshop</cp:lastModifiedBy>
  <dcterms:modified xsi:type="dcterms:W3CDTF">2026-06-13T05:00:41Z</dcterms:modified>
  <cp:revision>1</cp:revision>
  <dc:subject>Prototype pitch for maximizing profitable sports court occupancy</dc:subject>
  <dc:title>Fill Every Viable Court-Hour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